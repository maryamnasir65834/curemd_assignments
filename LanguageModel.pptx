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28"/>
  </p:notesMasterIdLst>
  <p:handoutMasterIdLst>
    <p:handoutMasterId r:id="rId29"/>
  </p:handoutMasterIdLst>
  <p:sldIdLst>
    <p:sldId id="384" r:id="rId2"/>
    <p:sldId id="385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5" r:id="rId12"/>
    <p:sldId id="396" r:id="rId13"/>
    <p:sldId id="480" r:id="rId14"/>
    <p:sldId id="447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21" r:id="rId23"/>
    <p:sldId id="422" r:id="rId24"/>
    <p:sldId id="423" r:id="rId25"/>
    <p:sldId id="424" r:id="rId26"/>
    <p:sldId id="425" r:id="rId27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2"/>
    <p:restoredTop sz="86916" autoAdjust="0"/>
  </p:normalViewPr>
  <p:slideViewPr>
    <p:cSldViewPr>
      <p:cViewPr varScale="1">
        <p:scale>
          <a:sx n="98" d="100"/>
          <a:sy n="98" d="100"/>
        </p:scale>
        <p:origin x="1013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DD14ED-9F17-3C4B-92FE-F8C6D73CA7E0}" type="slidenum">
              <a:rPr lang="en-US"/>
              <a:pPr/>
              <a:t>1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57E1AA-3B5C-7144-BCE2-DB2BE2D704A0}" type="slidenum">
              <a:rPr lang="en-US"/>
              <a:pPr/>
              <a:t>3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223D22-0F96-2447-8062-54A2324D8AD1}" type="slidenum">
              <a:rPr lang="en-US"/>
              <a:pPr/>
              <a:t>4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AAF750-AC54-8649-86DE-2549480B55BA}" type="slidenum">
              <a:rPr lang="en-US"/>
              <a:pPr/>
              <a:t>5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4D5933-64A4-6347-B6F5-7474C2DA1EC7}" type="slidenum">
              <a:rPr lang="en-US"/>
              <a:pPr/>
              <a:t>6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B5D5E7-7ECC-C547-B760-70A49FF3CCB1}" type="slidenum">
              <a:rPr lang="en-US"/>
              <a:pPr/>
              <a:t>7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90346-8C42-B949-9ED1-59E585D457E3}" type="slidenum">
              <a:rPr lang="en-US"/>
              <a:pPr/>
              <a:t>8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90346-8C42-B949-9ED1-59E585D457E3}" type="slidenum">
              <a:rPr lang="en-US"/>
              <a:pPr/>
              <a:t>9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1DC5F2-6B6E-FD48-8039-2DB790B32523}" type="slidenum">
              <a:rPr lang="en-US"/>
              <a:pPr/>
              <a:t>10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1DC5F2-6B6E-FD48-8039-2DB790B32523}" type="slidenum">
              <a:rPr lang="en-US"/>
              <a:pPr/>
              <a:t>11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1DC5F2-6B6E-FD48-8039-2DB790B32523}" type="slidenum">
              <a:rPr lang="en-US"/>
              <a:pPr/>
              <a:t>12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DD14ED-9F17-3C4B-92FE-F8C6D73CA7E0}" type="slidenum">
              <a:rPr lang="en-US"/>
              <a:pPr/>
              <a:t>13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DD14ED-9F17-3C4B-92FE-F8C6D73CA7E0}" type="slidenum">
              <a:rPr lang="en-US"/>
              <a:pPr/>
              <a:t>14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1A37D4-2F67-9A41-B61D-68722A521FD4}" type="slidenum">
              <a:rPr lang="en-US"/>
              <a:pPr/>
              <a:t>15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51B35A-A25C-A94E-9FD5-654338FF1842}" type="slidenum">
              <a:rPr lang="en-US"/>
              <a:pPr/>
              <a:t>16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CDB1FB-B553-8842-96AB-B949BC658A96}" type="slidenum">
              <a:rPr lang="en-US"/>
              <a:pPr/>
              <a:t>17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B2B866-E83E-5A43-8CC5-7901D97D29F5}" type="slidenum">
              <a:rPr lang="en-US"/>
              <a:pPr/>
              <a:t>18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8F4263-5B2E-CA40-9150-52BFC1C4104E}" type="slidenum">
              <a:rPr lang="en-US"/>
              <a:pPr/>
              <a:t>19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ABB749-D528-AD4D-9574-3C4930FCBF69}" type="slidenum">
              <a:rPr lang="en-US"/>
              <a:pPr/>
              <a:t>20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85F8AA-3268-C048-AE98-290B11BD1BCF}" type="slidenum">
              <a:rPr lang="en-US"/>
              <a:pPr/>
              <a:t>21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DA7D60-81B6-1445-80B8-DE5A6AFB51DE}" type="slidenum">
              <a:rPr lang="en-US"/>
              <a:pPr/>
              <a:t>22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4F729A-4249-1742-AADD-33BB3B70F773}" type="slidenum">
              <a:rPr lang="en-US"/>
              <a:pPr/>
              <a:t>23</a:t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859A4C-9875-4B42-BF3D-1C5A14F9F2BD}" type="slidenum">
              <a:rPr lang="en-US"/>
              <a:pPr/>
              <a:t>24</a:t>
            </a:fld>
            <a:endParaRPr lang="en-US"/>
          </a:p>
        </p:txBody>
      </p:sp>
      <p:sp>
        <p:nvSpPr>
          <p:cNvPr id="1280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E7A258-057A-1F47-A835-7E9E58AEF94B}" type="slidenum">
              <a:rPr lang="en-US"/>
              <a:pPr/>
              <a:t>25</a:t>
            </a:fld>
            <a:endParaRPr lang="en-US"/>
          </a:p>
        </p:txBody>
      </p:sp>
      <p:sp>
        <p:nvSpPr>
          <p:cNvPr id="1300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781451" y="165818"/>
            <a:ext cx="2647549" cy="4768132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05979"/>
            <a:ext cx="73914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631156"/>
            <a:ext cx="4040188" cy="30741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631156"/>
            <a:ext cx="4041775" cy="30741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543800" cy="742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056" y="285750"/>
            <a:ext cx="868944" cy="87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4190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>
                <a:solidFill>
                  <a:srgbClr val="A4001D"/>
                </a:solidFill>
                <a:latin typeface="+mn-lt"/>
              </a:rPr>
              <a:t>Dan Jurafsky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ech.sri.com/projects/sril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heafield.com/code/kenlm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googleresearch.blogspot.com/2006/08/all-our-n-gram-are-belong-to-you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ngrams.googlelab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Introduction to N-grams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1200150"/>
            <a:ext cx="3810000" cy="1143000"/>
          </a:xfrm>
        </p:spPr>
        <p:txBody>
          <a:bodyPr/>
          <a:lstStyle/>
          <a:p>
            <a:pPr eaLnBrk="1" hangingPunct="1"/>
            <a:br>
              <a:rPr sz="4400"/>
            </a:br>
            <a:r>
              <a:rPr lang="en-US" sz="4400"/>
              <a:t>Language Modeling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177616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349" y="1352550"/>
            <a:ext cx="8534400" cy="3790950"/>
          </a:xfrm>
        </p:spPr>
        <p:txBody>
          <a:bodyPr/>
          <a:lstStyle/>
          <a:p>
            <a:r>
              <a:rPr lang="en-US" sz="2800" dirty="0"/>
              <a:t>Today’s goal: assign a probability to a sentence</a:t>
            </a:r>
          </a:p>
          <a:p>
            <a:pPr lvl="3"/>
            <a:r>
              <a:rPr lang="en-US" sz="2400" dirty="0"/>
              <a:t>Machine Translation:</a:t>
            </a:r>
          </a:p>
          <a:p>
            <a:pPr lvl="4"/>
            <a:r>
              <a:rPr lang="en-US" sz="2000" dirty="0"/>
              <a:t>P(</a:t>
            </a:r>
            <a:r>
              <a:rPr lang="en-US" sz="2000" b="1" dirty="0"/>
              <a:t>high </a:t>
            </a:r>
            <a:r>
              <a:rPr lang="en-US" sz="2000" dirty="0"/>
              <a:t>winds </a:t>
            </a:r>
            <a:r>
              <a:rPr lang="en-US" sz="2000" dirty="0" err="1"/>
              <a:t>tonite</a:t>
            </a:r>
            <a:r>
              <a:rPr lang="en-US" sz="2000" dirty="0"/>
              <a:t>) &gt; P(</a:t>
            </a:r>
            <a:r>
              <a:rPr lang="en-US" sz="2000" b="1" dirty="0"/>
              <a:t>large</a:t>
            </a:r>
            <a:r>
              <a:rPr lang="en-US" sz="2000" dirty="0"/>
              <a:t> winds </a:t>
            </a:r>
            <a:r>
              <a:rPr lang="en-US" sz="2000" dirty="0" err="1"/>
              <a:t>tonite</a:t>
            </a:r>
            <a:r>
              <a:rPr lang="en-US" sz="2000" dirty="0"/>
              <a:t>)</a:t>
            </a:r>
          </a:p>
          <a:p>
            <a:pPr lvl="3"/>
            <a:r>
              <a:rPr lang="en-US" sz="2400" dirty="0"/>
              <a:t>Spell Correction</a:t>
            </a:r>
          </a:p>
          <a:p>
            <a:pPr lvl="4"/>
            <a:r>
              <a:rPr lang="en-US" sz="2000" dirty="0"/>
              <a:t>The office is about fifteen </a:t>
            </a:r>
            <a:r>
              <a:rPr lang="en-US" sz="2000" b="1" dirty="0"/>
              <a:t>minuets</a:t>
            </a:r>
            <a:r>
              <a:rPr lang="en-US" sz="2000" dirty="0"/>
              <a:t> from my house</a:t>
            </a:r>
          </a:p>
          <a:p>
            <a:pPr lvl="5"/>
            <a:r>
              <a:rPr lang="en-US" sz="1800" dirty="0"/>
              <a:t>P(about fifteen </a:t>
            </a:r>
            <a:r>
              <a:rPr lang="en-US" sz="1800" b="1" dirty="0"/>
              <a:t>minutes</a:t>
            </a:r>
            <a:r>
              <a:rPr lang="en-US" sz="1800" dirty="0"/>
              <a:t> from) &gt; P(about fifteen </a:t>
            </a:r>
            <a:r>
              <a:rPr lang="en-US" sz="1800" b="1" dirty="0"/>
              <a:t>minuets</a:t>
            </a:r>
            <a:r>
              <a:rPr lang="en-US" sz="1800" dirty="0"/>
              <a:t> from)</a:t>
            </a:r>
            <a:endParaRPr lang="en-US" sz="2000" dirty="0"/>
          </a:p>
          <a:p>
            <a:pPr lvl="3"/>
            <a:r>
              <a:rPr lang="en-US" sz="2400" dirty="0"/>
              <a:t>Speech Recognition</a:t>
            </a:r>
          </a:p>
          <a:p>
            <a:pPr lvl="4"/>
            <a:r>
              <a:rPr lang="en-US" sz="2000" dirty="0"/>
              <a:t>P(I saw a van) &gt;&gt; P(eyes awe of an)</a:t>
            </a:r>
          </a:p>
          <a:p>
            <a:pPr lvl="3"/>
            <a:r>
              <a:rPr lang="en-US" sz="2400" dirty="0"/>
              <a:t>+ Summarization, question-answering, etc., etc.!!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2800350"/>
            <a:ext cx="1021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76518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Probabilistic Language Modeling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76350"/>
            <a:ext cx="8534400" cy="333375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Goal: compute the probability of a sentence or sequence of words:</a:t>
            </a:r>
          </a:p>
          <a:p>
            <a:pPr lvl="1" eaLnBrk="1" hangingPunct="1">
              <a:buNone/>
            </a:pPr>
            <a:r>
              <a:rPr lang="en-US" sz="2800" dirty="0">
                <a:latin typeface="Calibri" charset="0"/>
              </a:rPr>
              <a:t>     </a:t>
            </a:r>
            <a:r>
              <a:rPr lang="en-US" dirty="0">
                <a:latin typeface="Calibri" charset="0"/>
              </a:rPr>
              <a:t>P(W) = P(w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3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4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5</a:t>
            </a:r>
            <a:r>
              <a:rPr lang="en-US" dirty="0">
                <a:latin typeface="Calibri" charset="0"/>
              </a:rPr>
              <a:t>…</a:t>
            </a:r>
            <a:r>
              <a:rPr lang="en-US" dirty="0" err="1">
                <a:latin typeface="Calibri" charset="0"/>
              </a:rPr>
              <a:t>w</a:t>
            </a:r>
            <a:r>
              <a:rPr lang="en-US" baseline="-25000" dirty="0" err="1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)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Related task: probability of an upcoming word:</a:t>
            </a:r>
          </a:p>
          <a:p>
            <a:pPr lvl="1" eaLnBrk="1" hangingPunct="1">
              <a:buNone/>
            </a:pPr>
            <a:r>
              <a:rPr lang="en-US" dirty="0">
                <a:latin typeface="Calibri" charset="0"/>
              </a:rPr>
              <a:t>      P(w</a:t>
            </a:r>
            <a:r>
              <a:rPr lang="en-US" baseline="-25000" dirty="0">
                <a:latin typeface="Calibri" charset="0"/>
              </a:rPr>
              <a:t>5</a:t>
            </a:r>
            <a:r>
              <a:rPr lang="en-US" dirty="0">
                <a:latin typeface="Calibri" charset="0"/>
              </a:rPr>
              <a:t>|w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3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4</a:t>
            </a:r>
            <a:r>
              <a:rPr lang="en-US" dirty="0">
                <a:latin typeface="Calibri" charset="0"/>
              </a:rPr>
              <a:t>)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A model that computes either of these:</a:t>
            </a:r>
          </a:p>
          <a:p>
            <a:pPr lvl="1" eaLnBrk="1" hangingPunct="1">
              <a:buNone/>
            </a:pPr>
            <a:r>
              <a:rPr lang="en-US" dirty="0">
                <a:latin typeface="Calibri" charset="0"/>
              </a:rPr>
              <a:t>          P(W)     or     P(w</a:t>
            </a:r>
            <a:r>
              <a:rPr lang="en-US" baseline="-25000" dirty="0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|w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dirty="0">
                <a:latin typeface="Calibri" charset="0"/>
              </a:rPr>
              <a:t>…w</a:t>
            </a:r>
            <a:r>
              <a:rPr lang="en-US" baseline="-25000" dirty="0">
                <a:latin typeface="Calibri" charset="0"/>
              </a:rPr>
              <a:t>n-1</a:t>
            </a:r>
            <a:r>
              <a:rPr lang="en-US" dirty="0">
                <a:latin typeface="Calibri" charset="0"/>
              </a:rPr>
              <a:t>)         </a:t>
            </a:r>
            <a:r>
              <a:rPr lang="en-US" sz="2400" dirty="0">
                <a:latin typeface="Calibri" charset="0"/>
              </a:rPr>
              <a:t> is called a </a:t>
            </a:r>
            <a:r>
              <a:rPr lang="en-US" sz="2400" b="1" dirty="0">
                <a:solidFill>
                  <a:srgbClr val="A50021"/>
                </a:solidFill>
                <a:latin typeface="Calibri" charset="0"/>
              </a:rPr>
              <a:t>language model</a:t>
            </a:r>
            <a:r>
              <a:rPr lang="en-US" sz="2400" dirty="0">
                <a:latin typeface="Calibri" charset="0"/>
              </a:rPr>
              <a:t>.</a:t>
            </a:r>
          </a:p>
          <a:p>
            <a:pPr eaLnBrk="1" hangingPunct="1"/>
            <a:r>
              <a:rPr lang="en-US" sz="2400" dirty="0">
                <a:latin typeface="Calibri" charset="0"/>
              </a:rPr>
              <a:t>Better: </a:t>
            </a:r>
            <a:r>
              <a:rPr lang="en-US" sz="2400" b="1" dirty="0">
                <a:solidFill>
                  <a:srgbClr val="CC0033"/>
                </a:solidFill>
                <a:latin typeface="Calibri" charset="0"/>
              </a:rPr>
              <a:t>the grammar       </a:t>
            </a:r>
            <a:r>
              <a:rPr lang="en-US" sz="2400" dirty="0">
                <a:latin typeface="Calibri" charset="0"/>
              </a:rPr>
              <a:t>But </a:t>
            </a:r>
            <a:r>
              <a:rPr lang="en-US" sz="2400" b="1" dirty="0">
                <a:solidFill>
                  <a:srgbClr val="CC0033"/>
                </a:solidFill>
                <a:latin typeface="Calibri" charset="0"/>
              </a:rPr>
              <a:t>language model </a:t>
            </a:r>
            <a:r>
              <a:rPr lang="en-US" sz="2400" dirty="0">
                <a:latin typeface="Calibri" charset="0"/>
              </a:rPr>
              <a:t>or </a:t>
            </a:r>
            <a:r>
              <a:rPr lang="en-US" sz="2400" b="1" dirty="0">
                <a:solidFill>
                  <a:srgbClr val="CC0033"/>
                </a:solidFill>
                <a:latin typeface="Calibri" charset="0"/>
              </a:rPr>
              <a:t>LM </a:t>
            </a:r>
            <a:r>
              <a:rPr lang="en-US" sz="2400" dirty="0">
                <a:latin typeface="Calibri" charset="0"/>
              </a:rPr>
              <a:t>is standard</a:t>
            </a:r>
          </a:p>
        </p:txBody>
      </p:sp>
    </p:spTree>
    <p:extLst>
      <p:ext uri="{BB962C8B-B14F-4D97-AF65-F5344CB8AC3E}">
        <p14:creationId xmlns:p14="http://schemas.microsoft.com/office/powerpoint/2010/main" val="258637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compute P(W)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How to compute this joint probability:</a:t>
            </a:r>
          </a:p>
          <a:p>
            <a:pPr eaLnBrk="1" hangingPunct="1"/>
            <a:endParaRPr lang="en-US">
              <a:latin typeface="Calibri" charset="0"/>
            </a:endParaRPr>
          </a:p>
          <a:p>
            <a:pPr lvl="1" eaLnBrk="1" hangingPunct="1"/>
            <a:r>
              <a:rPr lang="en-US" sz="2800">
                <a:latin typeface="Calibri" charset="0"/>
              </a:rPr>
              <a:t>P(its, water, is, so, transparent, that)</a:t>
            </a:r>
          </a:p>
          <a:p>
            <a:pPr lvl="1" eaLnBrk="1" hangingPunct="1"/>
            <a:endParaRPr lang="en-US">
              <a:latin typeface="Calibri" charset="0"/>
            </a:endParaRPr>
          </a:p>
          <a:p>
            <a:pPr eaLnBrk="1" hangingPunct="1"/>
            <a:r>
              <a:rPr lang="en-US">
                <a:latin typeface="Calibri" charset="0"/>
              </a:rPr>
              <a:t>Intuition: let’s rely on the Chain Rule of Probability</a:t>
            </a:r>
          </a:p>
        </p:txBody>
      </p:sp>
    </p:spTree>
    <p:extLst>
      <p:ext uri="{BB962C8B-B14F-4D97-AF65-F5344CB8AC3E}">
        <p14:creationId xmlns:p14="http://schemas.microsoft.com/office/powerpoint/2010/main" val="390625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Reminder: The Chain Rule</a:t>
            </a:r>
          </a:p>
        </p:txBody>
      </p:sp>
      <p:sp>
        <p:nvSpPr>
          <p:cNvPr id="6758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Recall the definition of conditional probabilities</a:t>
            </a:r>
            <a:endParaRPr lang="en-US" sz="3600" dirty="0">
              <a:latin typeface="Calibri" charset="0"/>
            </a:endParaRPr>
          </a:p>
          <a:p>
            <a:pPr marL="457200" lvl="1" indent="0">
              <a:buNone/>
            </a:pPr>
            <a:r>
              <a:rPr lang="en-US" sz="2400" b="1" dirty="0">
                <a:latin typeface="Calibri" charset="0"/>
              </a:rPr>
              <a:t>p(B|A) = P(A,B)/P(A)</a:t>
            </a:r>
            <a:r>
              <a:rPr lang="en-US" sz="3600" dirty="0">
                <a:latin typeface="Calibri" charset="0"/>
              </a:rPr>
              <a:t>	</a:t>
            </a:r>
            <a:r>
              <a:rPr lang="en-US" dirty="0">
                <a:latin typeface="Calibri" charset="0"/>
              </a:rPr>
              <a:t>Rewriting:   </a:t>
            </a:r>
            <a:r>
              <a:rPr lang="en-US" sz="2400" b="1" dirty="0">
                <a:latin typeface="Calibri" charset="0"/>
              </a:rPr>
              <a:t>P(A,B) = P(A)P(B|A)</a:t>
            </a:r>
          </a:p>
          <a:p>
            <a:pPr marL="457200" lvl="1" indent="0">
              <a:buNone/>
            </a:pPr>
            <a:endParaRPr lang="en-US" dirty="0">
              <a:latin typeface="Calibri" charset="0"/>
            </a:endParaRPr>
          </a:p>
          <a:p>
            <a:r>
              <a:rPr lang="en-US" sz="2800" dirty="0">
                <a:latin typeface="Calibri" charset="0"/>
              </a:rPr>
              <a:t>More variables:</a:t>
            </a:r>
          </a:p>
          <a:p>
            <a:pPr marL="457200" lvl="1" indent="0">
              <a:buNone/>
            </a:pPr>
            <a:r>
              <a:rPr lang="en-US" sz="2400" dirty="0">
                <a:latin typeface="Calibri" charset="0"/>
              </a:rPr>
              <a:t> P(A,B,C,D) = P(A)P(B|A)P(C|A,B)P(D|A,B,C)</a:t>
            </a:r>
            <a:endParaRPr lang="en-US" sz="3200" dirty="0">
              <a:latin typeface="Calibri" charset="0"/>
            </a:endParaRPr>
          </a:p>
          <a:p>
            <a:pPr eaLnBrk="1" hangingPunct="1"/>
            <a:r>
              <a:rPr lang="en-US" sz="2800" dirty="0">
                <a:latin typeface="Calibri" charset="0"/>
              </a:rPr>
              <a:t>The Chain Rule in General</a:t>
            </a:r>
          </a:p>
          <a:p>
            <a:pPr eaLnBrk="1" hangingPunct="1">
              <a:buNone/>
            </a:pPr>
            <a:r>
              <a:rPr lang="en-US" sz="2800" dirty="0">
                <a:latin typeface="Calibri" charset="0"/>
              </a:rPr>
              <a:t>  P(x</a:t>
            </a:r>
            <a:r>
              <a:rPr lang="en-US" sz="2800" baseline="-25000" dirty="0">
                <a:latin typeface="Calibri" charset="0"/>
              </a:rPr>
              <a:t>1</a:t>
            </a:r>
            <a:r>
              <a:rPr lang="en-US" sz="2800" dirty="0">
                <a:latin typeface="Calibri" charset="0"/>
              </a:rPr>
              <a:t>,x</a:t>
            </a:r>
            <a:r>
              <a:rPr lang="en-US" sz="2800" baseline="-25000" dirty="0">
                <a:latin typeface="Calibri" charset="0"/>
              </a:rPr>
              <a:t>2</a:t>
            </a:r>
            <a:r>
              <a:rPr lang="en-US" sz="2800" dirty="0">
                <a:latin typeface="Calibri" charset="0"/>
              </a:rPr>
              <a:t>,x</a:t>
            </a:r>
            <a:r>
              <a:rPr lang="en-US" sz="2800" baseline="-25000" dirty="0">
                <a:latin typeface="Calibri" charset="0"/>
              </a:rPr>
              <a:t>3</a:t>
            </a:r>
            <a:r>
              <a:rPr lang="en-US" sz="2800" dirty="0">
                <a:latin typeface="Calibri" charset="0"/>
              </a:rPr>
              <a:t>,…,</a:t>
            </a:r>
            <a:r>
              <a:rPr lang="en-US" sz="2800" dirty="0" err="1">
                <a:latin typeface="Calibri" charset="0"/>
              </a:rPr>
              <a:t>x</a:t>
            </a:r>
            <a:r>
              <a:rPr lang="en-US" sz="2800" baseline="-25000" dirty="0" err="1">
                <a:latin typeface="Calibri" charset="0"/>
              </a:rPr>
              <a:t>n</a:t>
            </a:r>
            <a:r>
              <a:rPr lang="en-US" sz="2800" dirty="0">
                <a:latin typeface="Calibri" charset="0"/>
              </a:rPr>
              <a:t>) = P(x</a:t>
            </a:r>
            <a:r>
              <a:rPr lang="en-US" sz="2800" baseline="-25000" dirty="0">
                <a:latin typeface="Calibri" charset="0"/>
              </a:rPr>
              <a:t>1</a:t>
            </a:r>
            <a:r>
              <a:rPr lang="en-US" sz="2800" dirty="0">
                <a:latin typeface="Calibri" charset="0"/>
              </a:rPr>
              <a:t>)P(x</a:t>
            </a:r>
            <a:r>
              <a:rPr lang="en-US" sz="2800" baseline="-25000" dirty="0">
                <a:latin typeface="Calibri" charset="0"/>
              </a:rPr>
              <a:t>2</a:t>
            </a:r>
            <a:r>
              <a:rPr lang="en-US" sz="2800" dirty="0">
                <a:latin typeface="Calibri" charset="0"/>
              </a:rPr>
              <a:t>|x</a:t>
            </a:r>
            <a:r>
              <a:rPr lang="en-US" sz="2800" baseline="-25000" dirty="0">
                <a:latin typeface="Calibri" charset="0"/>
              </a:rPr>
              <a:t>1</a:t>
            </a:r>
            <a:r>
              <a:rPr lang="en-US" sz="2800" dirty="0">
                <a:latin typeface="Calibri" charset="0"/>
              </a:rPr>
              <a:t>)P(x</a:t>
            </a:r>
            <a:r>
              <a:rPr lang="en-US" sz="2800" baseline="-25000" dirty="0">
                <a:latin typeface="Calibri" charset="0"/>
              </a:rPr>
              <a:t>3</a:t>
            </a:r>
            <a:r>
              <a:rPr lang="en-US" sz="2800" dirty="0">
                <a:latin typeface="Calibri" charset="0"/>
              </a:rPr>
              <a:t>|x</a:t>
            </a:r>
            <a:r>
              <a:rPr lang="en-US" sz="2800" baseline="-25000" dirty="0">
                <a:latin typeface="Calibri" charset="0"/>
              </a:rPr>
              <a:t>1</a:t>
            </a:r>
            <a:r>
              <a:rPr lang="en-US" sz="2800" dirty="0">
                <a:latin typeface="Calibri" charset="0"/>
              </a:rPr>
              <a:t>,x</a:t>
            </a:r>
            <a:r>
              <a:rPr lang="en-US" sz="2800" baseline="-25000" dirty="0">
                <a:latin typeface="Calibri" charset="0"/>
              </a:rPr>
              <a:t>2</a:t>
            </a:r>
            <a:r>
              <a:rPr lang="en-US" sz="2800" dirty="0">
                <a:latin typeface="Calibri" charset="0"/>
              </a:rPr>
              <a:t>)…P(x</a:t>
            </a:r>
            <a:r>
              <a:rPr lang="en-US" sz="2800" baseline="-25000" dirty="0">
                <a:latin typeface="Calibri" charset="0"/>
              </a:rPr>
              <a:t>n</a:t>
            </a:r>
            <a:r>
              <a:rPr lang="en-US" sz="2800" dirty="0">
                <a:latin typeface="Calibri" charset="0"/>
              </a:rPr>
              <a:t>|x</a:t>
            </a:r>
            <a:r>
              <a:rPr lang="en-US" sz="2800" baseline="-25000" dirty="0">
                <a:latin typeface="Calibri" charset="0"/>
              </a:rPr>
              <a:t>1</a:t>
            </a:r>
            <a:r>
              <a:rPr lang="en-US" sz="2800" dirty="0">
                <a:latin typeface="Calibri" charset="0"/>
              </a:rPr>
              <a:t>,…,x</a:t>
            </a:r>
            <a:r>
              <a:rPr lang="en-US" sz="2800" baseline="-25000" dirty="0">
                <a:latin typeface="Calibri" charset="0"/>
              </a:rPr>
              <a:t>n-1</a:t>
            </a:r>
            <a:r>
              <a:rPr lang="en-US" sz="2800" dirty="0">
                <a:latin typeface="Calibri" charset="0"/>
              </a:rPr>
              <a:t>)</a:t>
            </a:r>
          </a:p>
          <a:p>
            <a:pPr eaLnBrk="1" hangingPunct="1">
              <a:buFont typeface="Wingdings" charset="2"/>
              <a:buNone/>
            </a:pPr>
            <a:endParaRPr lang="en-US" dirty="0">
              <a:latin typeface="Calibri" charset="0"/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2114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The Chain Rule applied to compute joint probability of words in sentence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>
              <a:buNone/>
            </a:pPr>
            <a:endParaRPr lang="en-US" dirty="0">
              <a:latin typeface="Calibri" charset="0"/>
            </a:endParaRPr>
          </a:p>
          <a:p>
            <a:pPr eaLnBrk="1" hangingPunct="1">
              <a:buNone/>
            </a:pPr>
            <a:endParaRPr lang="en-US" sz="2800" dirty="0">
              <a:latin typeface="Calibri" charset="0"/>
            </a:endParaRPr>
          </a:p>
          <a:p>
            <a:pPr eaLnBrk="1" hangingPunct="1">
              <a:buNone/>
            </a:pPr>
            <a:endParaRPr lang="en-US" sz="2800" dirty="0">
              <a:latin typeface="Calibri" charset="0"/>
            </a:endParaRPr>
          </a:p>
          <a:p>
            <a:pPr eaLnBrk="1" hangingPunct="1">
              <a:buNone/>
            </a:pPr>
            <a:r>
              <a:rPr lang="en-US" sz="2800" dirty="0">
                <a:latin typeface="Calibri" charset="0"/>
              </a:rPr>
              <a:t>P(“its water is so transparent”) =</a:t>
            </a:r>
          </a:p>
          <a:p>
            <a:pPr eaLnBrk="1" hangingPunct="1">
              <a:buFont typeface="Times" charset="0"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2800" dirty="0">
                <a:solidFill>
                  <a:srgbClr val="404040"/>
                </a:solidFill>
                <a:latin typeface="Calibri" charset="0"/>
              </a:rPr>
              <a:t>P(its) × P(</a:t>
            </a:r>
            <a:r>
              <a:rPr lang="en-US" sz="2800" dirty="0" err="1">
                <a:solidFill>
                  <a:srgbClr val="404040"/>
                </a:solidFill>
                <a:latin typeface="Calibri" charset="0"/>
              </a:rPr>
              <a:t>water|its</a:t>
            </a:r>
            <a:r>
              <a:rPr lang="en-US" sz="2800" dirty="0">
                <a:solidFill>
                  <a:srgbClr val="404040"/>
                </a:solidFill>
                <a:latin typeface="Calibri" charset="0"/>
              </a:rPr>
              <a:t>) ×  P(</a:t>
            </a:r>
            <a:r>
              <a:rPr lang="en-US" sz="2800" dirty="0" err="1">
                <a:solidFill>
                  <a:srgbClr val="404040"/>
                </a:solidFill>
                <a:latin typeface="Calibri" charset="0"/>
              </a:rPr>
              <a:t>is|its</a:t>
            </a:r>
            <a:r>
              <a:rPr lang="en-US" sz="2800" dirty="0">
                <a:solidFill>
                  <a:srgbClr val="404040"/>
                </a:solidFill>
                <a:latin typeface="Calibri" charset="0"/>
              </a:rPr>
              <a:t> water) </a:t>
            </a:r>
          </a:p>
          <a:p>
            <a:pPr eaLnBrk="1" hangingPunct="1">
              <a:buFont typeface="Times" charset="0"/>
              <a:buNone/>
            </a:pPr>
            <a:r>
              <a:rPr lang="en-US" sz="2800" dirty="0">
                <a:solidFill>
                  <a:srgbClr val="404040"/>
                </a:solidFill>
                <a:latin typeface="Calibri" charset="0"/>
              </a:rPr>
              <a:t>         ×  P(</a:t>
            </a:r>
            <a:r>
              <a:rPr lang="en-US" sz="2800" dirty="0" err="1">
                <a:solidFill>
                  <a:srgbClr val="404040"/>
                </a:solidFill>
                <a:latin typeface="Calibri" charset="0"/>
              </a:rPr>
              <a:t>so|its</a:t>
            </a:r>
            <a:r>
              <a:rPr lang="en-US" sz="2800" dirty="0">
                <a:solidFill>
                  <a:srgbClr val="404040"/>
                </a:solidFill>
                <a:latin typeface="Calibri" charset="0"/>
              </a:rPr>
              <a:t> water is) ×  P(</a:t>
            </a:r>
            <a:r>
              <a:rPr lang="en-US" sz="2800" dirty="0" err="1">
                <a:solidFill>
                  <a:srgbClr val="404040"/>
                </a:solidFill>
                <a:latin typeface="Calibri" charset="0"/>
              </a:rPr>
              <a:t>transparent|its</a:t>
            </a:r>
            <a:r>
              <a:rPr lang="en-US" sz="2800" dirty="0">
                <a:solidFill>
                  <a:srgbClr val="404040"/>
                </a:solidFill>
                <a:latin typeface="Calibri" charset="0"/>
              </a:rPr>
              <a:t> water is so)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003116"/>
              </p:ext>
            </p:extLst>
          </p:nvPr>
        </p:nvGraphicFramePr>
        <p:xfrm>
          <a:off x="1330325" y="1827213"/>
          <a:ext cx="64833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960" imgH="342720" progId="Equation.3">
                  <p:embed/>
                </p:oleObj>
              </mc:Choice>
              <mc:Fallback>
                <p:oleObj name="Equation" r:id="rId3" imgW="236196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1827213"/>
                        <a:ext cx="6483350" cy="9445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962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estimate these probabilities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Could we just count and divide?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r>
              <a:rPr lang="en-US" sz="2400" dirty="0">
                <a:latin typeface="Calibri" charset="0"/>
              </a:rPr>
              <a:t>No!  Too many possible sentences!</a:t>
            </a:r>
          </a:p>
          <a:p>
            <a:pPr eaLnBrk="1" hangingPunct="1"/>
            <a:r>
              <a:rPr lang="en-US" sz="2400" dirty="0">
                <a:latin typeface="Calibri" charset="0"/>
              </a:rPr>
              <a:t>We’ll never see enough data for estimating these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lvl="1" eaLnBrk="1" hangingPunct="1"/>
            <a:endParaRPr lang="en-US" dirty="0">
              <a:latin typeface="Calibri" charset="0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50049"/>
              </p:ext>
            </p:extLst>
          </p:nvPr>
        </p:nvGraphicFramePr>
        <p:xfrm>
          <a:off x="762001" y="2209800"/>
          <a:ext cx="6019800" cy="1994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78100" imgH="850900" progId="Equation.3">
                  <p:embed/>
                </p:oleObj>
              </mc:Choice>
              <mc:Fallback>
                <p:oleObj name="Equation" r:id="rId3" imgW="25781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1" y="2209800"/>
                        <a:ext cx="6019800" cy="1994447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114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pPr eaLnBrk="1" hangingPunct="1"/>
            <a:r>
              <a:rPr lang="en-US"/>
              <a:t>Markov Assumption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Calibri" charset="0"/>
              </a:rPr>
              <a:t>Simplifying assumption:</a:t>
            </a:r>
          </a:p>
          <a:p>
            <a:pPr marL="457200" lvl="1" indent="0" eaLnBrk="1" hangingPunct="1">
              <a:buNone/>
            </a:pPr>
            <a:endParaRPr lang="en-US" sz="3600" dirty="0">
              <a:latin typeface="Calibri" charset="0"/>
            </a:endParaRPr>
          </a:p>
          <a:p>
            <a:pPr marL="457200" lvl="1" indent="0" eaLnBrk="1" hangingPunct="1">
              <a:buNone/>
            </a:pPr>
            <a:endParaRPr lang="en-US" sz="3200" dirty="0">
              <a:solidFill>
                <a:srgbClr val="A50021"/>
              </a:solidFill>
              <a:latin typeface="Calibri" charset="0"/>
            </a:endParaRPr>
          </a:p>
          <a:p>
            <a:pPr eaLnBrk="1" hangingPunct="1"/>
            <a:r>
              <a:rPr lang="en-US" sz="3600" dirty="0">
                <a:latin typeface="Calibri" charset="0"/>
              </a:rPr>
              <a:t>Or maybe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>
              <a:buFont typeface="Wingdings" charset="2"/>
              <a:buNone/>
            </a:pPr>
            <a:endParaRPr lang="en-US" dirty="0">
              <a:latin typeface="Calibri" charset="0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157444"/>
              </p:ext>
            </p:extLst>
          </p:nvPr>
        </p:nvGraphicFramePr>
        <p:xfrm>
          <a:off x="457200" y="2471251"/>
          <a:ext cx="7696200" cy="101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87700" imgH="419100" progId="Equation.3">
                  <p:embed/>
                </p:oleObj>
              </mc:Choice>
              <mc:Fallback>
                <p:oleObj name="Equation" r:id="rId3" imgW="3187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71251"/>
                        <a:ext cx="7696200" cy="1014899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64689"/>
              </p:ext>
            </p:extLst>
          </p:nvPr>
        </p:nvGraphicFramePr>
        <p:xfrm>
          <a:off x="228600" y="4182281"/>
          <a:ext cx="8915400" cy="961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98900" imgH="419100" progId="Equation.3">
                  <p:embed/>
                </p:oleObj>
              </mc:Choice>
              <mc:Fallback>
                <p:oleObj name="Equation" r:id="rId5" imgW="3898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182281"/>
                        <a:ext cx="8915400" cy="961219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225px-AAMarkov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33350"/>
            <a:ext cx="1475075" cy="1920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69180" y="1928396"/>
            <a:ext cx="1441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/>
                <a:cs typeface="Calibri"/>
              </a:rPr>
              <a:t>Andrei Markov</a:t>
            </a:r>
          </a:p>
        </p:txBody>
      </p:sp>
    </p:spTree>
    <p:extLst>
      <p:ext uri="{BB962C8B-B14F-4D97-AF65-F5344CB8AC3E}">
        <p14:creationId xmlns:p14="http://schemas.microsoft.com/office/powerpoint/2010/main" val="104366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pPr eaLnBrk="1" hangingPunct="1"/>
            <a:r>
              <a:rPr lang="en-US" dirty="0"/>
              <a:t>N grams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sz="3600" dirty="0"/>
          </a:p>
          <a:p>
            <a:endParaRPr lang="en-US" sz="3200" dirty="0"/>
          </a:p>
          <a:p>
            <a:r>
              <a:rPr lang="en-US" sz="3200" dirty="0"/>
              <a:t>In other words, we approximate each component in the product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sz="3600" dirty="0">
              <a:latin typeface="Calibri" charset="0"/>
            </a:endParaRPr>
          </a:p>
          <a:p>
            <a:pPr lvl="1" eaLnBrk="1" hangingPunct="1"/>
            <a:endParaRPr lang="en-US" sz="3600" dirty="0">
              <a:solidFill>
                <a:srgbClr val="A50021"/>
              </a:solidFill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>
              <a:buFont typeface="Wingdings" charset="2"/>
              <a:buNone/>
            </a:pPr>
            <a:endParaRPr lang="en-US" dirty="0">
              <a:latin typeface="Calibri" charset="0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740616"/>
              </p:ext>
            </p:extLst>
          </p:nvPr>
        </p:nvGraphicFramePr>
        <p:xfrm>
          <a:off x="876300" y="1447800"/>
          <a:ext cx="702786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200" imgH="342720" progId="Equation.3">
                  <p:embed/>
                </p:oleObj>
              </mc:Choice>
              <mc:Fallback>
                <p:oleObj name="Equation" r:id="rId3" imgW="23112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447800"/>
                        <a:ext cx="7027863" cy="10477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41730"/>
              </p:ext>
            </p:extLst>
          </p:nvPr>
        </p:nvGraphicFramePr>
        <p:xfrm>
          <a:off x="606425" y="3700463"/>
          <a:ext cx="846931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00120" imgH="228600" progId="Equation.3">
                  <p:embed/>
                </p:oleObj>
              </mc:Choice>
              <mc:Fallback>
                <p:oleObj name="Equation" r:id="rId5" imgW="2400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" y="3700463"/>
                        <a:ext cx="8469313" cy="8112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168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2"/>
          <p:cNvSpPr>
            <a:spLocks noChangeArrowheads="1"/>
          </p:cNvSpPr>
          <p:nvPr/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charset="2"/>
              <a:buBlip>
                <a:blip r:embed="rId3"/>
              </a:buBlip>
            </a:pPr>
            <a:endParaRPr lang="en-US" sz="2400">
              <a:solidFill>
                <a:srgbClr val="5400A8"/>
              </a:solidFill>
              <a:latin typeface="Tahoma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charset="2"/>
              <a:buBlip>
                <a:blip r:embed="rId3"/>
              </a:buBlip>
            </a:pPr>
            <a:endParaRPr lang="en-US" sz="2400">
              <a:solidFill>
                <a:srgbClr val="5400A8"/>
              </a:solidFill>
              <a:latin typeface="Tahoma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charset="2"/>
              <a:buBlip>
                <a:blip r:embed="rId3"/>
              </a:buBlip>
            </a:pPr>
            <a:endParaRPr lang="en-US" sz="2400">
              <a:solidFill>
                <a:srgbClr val="5400A8"/>
              </a:solidFill>
              <a:latin typeface="Tahoma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charset="2"/>
              <a:buBlip>
                <a:blip r:embed="rId3"/>
              </a:buBlip>
            </a:pPr>
            <a:endParaRPr lang="en-US" sz="2400">
              <a:solidFill>
                <a:srgbClr val="5400A8"/>
              </a:solidFill>
              <a:latin typeface="Tahoma" charset="0"/>
            </a:endParaRPr>
          </a:p>
        </p:txBody>
      </p:sp>
      <p:sp>
        <p:nvSpPr>
          <p:cNvPr id="77829" name="Rectangle 4"/>
          <p:cNvSpPr>
            <a:spLocks noGrp="1" noChangeArrowheads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pPr eaLnBrk="1" hangingPunct="1"/>
            <a:r>
              <a:rPr lang="en-US" dirty="0"/>
              <a:t>Simplest case: Unigram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92670"/>
            <a:ext cx="80772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"/>
                <a:cs typeface="Courier"/>
              </a:rPr>
              <a:t>fifth, an, of, futures, the, an, incorporated, a, a, the, inflation, most, dollars, quarter, in, is, mass</a:t>
            </a:r>
          </a:p>
          <a:p>
            <a:endParaRPr lang="en-US" sz="2000" dirty="0">
              <a:latin typeface="Courier"/>
              <a:cs typeface="Courier"/>
            </a:endParaRPr>
          </a:p>
          <a:p>
            <a:r>
              <a:rPr lang="en-US" sz="2000" dirty="0">
                <a:latin typeface="Courier"/>
                <a:cs typeface="Courier"/>
              </a:rPr>
              <a:t>thrift, did, eighty, said, hard, 'm, </a:t>
            </a:r>
            <a:r>
              <a:rPr lang="en-US" sz="2000" dirty="0" err="1">
                <a:latin typeface="Courier"/>
                <a:cs typeface="Courier"/>
              </a:rPr>
              <a:t>july</a:t>
            </a:r>
            <a:r>
              <a:rPr lang="en-US" sz="2000" dirty="0">
                <a:latin typeface="Courier"/>
                <a:cs typeface="Courier"/>
              </a:rPr>
              <a:t>, bullish</a:t>
            </a:r>
          </a:p>
          <a:p>
            <a:endParaRPr lang="en-US" sz="2400" dirty="0">
              <a:latin typeface="Courier"/>
              <a:cs typeface="Courier"/>
            </a:endParaRPr>
          </a:p>
          <a:p>
            <a:r>
              <a:rPr lang="en-US" sz="2000" dirty="0">
                <a:latin typeface="Courier"/>
                <a:cs typeface="Courier"/>
              </a:rPr>
              <a:t>that, or, limited,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247840"/>
            <a:ext cx="6835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  <a:cs typeface="Calibri"/>
              </a:rPr>
              <a:t>Some automatically generated sentences from a unigram model</a:t>
            </a: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979979"/>
              </p:ext>
            </p:extLst>
          </p:nvPr>
        </p:nvGraphicFramePr>
        <p:xfrm>
          <a:off x="1752600" y="1143000"/>
          <a:ext cx="46482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240" imgH="342720" progId="Equation.3">
                  <p:embed/>
                </p:oleObj>
              </mc:Choice>
              <mc:Fallback>
                <p:oleObj name="Equation" r:id="rId4" imgW="158724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143000"/>
                        <a:ext cx="4648200" cy="1009650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00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2"/>
          <p:cNvSpPr>
            <a:spLocks noChangeArrowheads="1"/>
          </p:cNvSpPr>
          <p:nvPr/>
        </p:nvSpPr>
        <p:spPr bwMode="auto">
          <a:xfrm>
            <a:off x="762000" y="1257300"/>
            <a:ext cx="77724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charset="2"/>
              <a:buBlip>
                <a:blip r:embed="rId3"/>
              </a:buBlip>
            </a:pPr>
            <a:r>
              <a:rPr lang="en-US" sz="2400" dirty="0">
                <a:latin typeface="Calibri"/>
                <a:cs typeface="Calibri"/>
              </a:rPr>
              <a:t>Condition on the previous word: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</a:pPr>
            <a:endParaRPr lang="en-US" sz="2400" dirty="0">
              <a:latin typeface="Tahoma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</a:pPr>
            <a:endParaRPr lang="en-US" sz="2400" dirty="0">
              <a:latin typeface="Tahoma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Font typeface="Wingdings" charset="2"/>
              <a:buBlip>
                <a:blip r:embed="rId3"/>
              </a:buBlip>
            </a:pPr>
            <a:endParaRPr lang="en-US" sz="2400" dirty="0">
              <a:solidFill>
                <a:srgbClr val="5400A8"/>
              </a:solidFill>
              <a:latin typeface="Tahoma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charset="2"/>
              <a:buBlip>
                <a:blip r:embed="rId3"/>
              </a:buBlip>
            </a:pPr>
            <a:endParaRPr lang="en-US" sz="2400" dirty="0">
              <a:solidFill>
                <a:srgbClr val="5400A8"/>
              </a:solidFill>
              <a:latin typeface="Tahoma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charset="2"/>
              <a:buBlip>
                <a:blip r:embed="rId3"/>
              </a:buBlip>
            </a:pPr>
            <a:endParaRPr lang="en-US" sz="2400" dirty="0">
              <a:solidFill>
                <a:srgbClr val="5400A8"/>
              </a:solidFill>
              <a:latin typeface="Tahoma" charset="0"/>
            </a:endParaRPr>
          </a:p>
        </p:txBody>
      </p:sp>
      <p:sp>
        <p:nvSpPr>
          <p:cNvPr id="778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Bigram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778026"/>
            <a:ext cx="861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latin typeface="Courier"/>
                <a:cs typeface="Courier"/>
              </a:rPr>
              <a:t>texaco</a:t>
            </a:r>
            <a:r>
              <a:rPr lang="en-US" sz="1800" dirty="0">
                <a:latin typeface="Courier"/>
                <a:cs typeface="Courier"/>
              </a:rPr>
              <a:t>, rose, one, in, this, issue, is, pursuing, growth, in, a, boiler, house, said, </a:t>
            </a:r>
            <a:r>
              <a:rPr lang="en-US" sz="1800" dirty="0" err="1">
                <a:latin typeface="Courier"/>
                <a:cs typeface="Courier"/>
              </a:rPr>
              <a:t>mr.</a:t>
            </a:r>
            <a:r>
              <a:rPr lang="en-US" sz="1800" dirty="0">
                <a:latin typeface="Courier"/>
                <a:cs typeface="Courier"/>
              </a:rPr>
              <a:t>, </a:t>
            </a:r>
            <a:r>
              <a:rPr lang="en-US" sz="1800" dirty="0" err="1">
                <a:latin typeface="Courier"/>
                <a:cs typeface="Courier"/>
              </a:rPr>
              <a:t>gurria</a:t>
            </a:r>
            <a:r>
              <a:rPr lang="en-US" sz="1800" dirty="0">
                <a:latin typeface="Courier"/>
                <a:cs typeface="Courier"/>
              </a:rPr>
              <a:t>, </a:t>
            </a:r>
            <a:r>
              <a:rPr lang="en-US" sz="1800" dirty="0" err="1">
                <a:latin typeface="Courier"/>
                <a:cs typeface="Courier"/>
              </a:rPr>
              <a:t>mexico</a:t>
            </a:r>
            <a:r>
              <a:rPr lang="en-US" sz="1800" dirty="0">
                <a:latin typeface="Courier"/>
                <a:cs typeface="Courier"/>
              </a:rPr>
              <a:t>, 's, motion, control, proposal, without, permission, from, five, hundred, fifty, five, yen</a:t>
            </a:r>
          </a:p>
          <a:p>
            <a:endParaRPr lang="en-US" sz="1800" dirty="0">
              <a:latin typeface="Courier"/>
              <a:cs typeface="Courier"/>
            </a:endParaRPr>
          </a:p>
          <a:p>
            <a:r>
              <a:rPr lang="en-US" sz="1800" dirty="0">
                <a:latin typeface="Courier"/>
                <a:cs typeface="Courier"/>
              </a:rPr>
              <a:t>outside, new, car, parking, lot, of, the, agreement, reached</a:t>
            </a:r>
          </a:p>
          <a:p>
            <a:endParaRPr lang="en-US" sz="1800" dirty="0">
              <a:latin typeface="Courier"/>
              <a:cs typeface="Courier"/>
            </a:endParaRPr>
          </a:p>
          <a:p>
            <a:r>
              <a:rPr lang="en-US" sz="1800" dirty="0">
                <a:latin typeface="Courier"/>
                <a:cs typeface="Courier"/>
              </a:rPr>
              <a:t>this, would, be, a, record, </a:t>
            </a:r>
            <a:r>
              <a:rPr lang="en-US" sz="1800" dirty="0" err="1">
                <a:latin typeface="Courier"/>
                <a:cs typeface="Courier"/>
              </a:rPr>
              <a:t>november</a:t>
            </a:r>
            <a:endParaRPr lang="en-US" sz="1800" dirty="0">
              <a:latin typeface="Courier"/>
              <a:cs typeface="Courier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595010"/>
              </p:ext>
            </p:extLst>
          </p:nvPr>
        </p:nvGraphicFramePr>
        <p:xfrm>
          <a:off x="825500" y="1800225"/>
          <a:ext cx="661828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080" imgH="228600" progId="Equation.3">
                  <p:embed/>
                </p:oleObj>
              </mc:Choice>
              <mc:Fallback>
                <p:oleObj name="Equation" r:id="rId4" imgW="19810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800225"/>
                        <a:ext cx="6618288" cy="7683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92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N-gram models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sz="2800" dirty="0"/>
              <a:t>We can extend to trigrams, 4-grams, 5-grams</a:t>
            </a:r>
          </a:p>
          <a:p>
            <a:r>
              <a:rPr lang="en-US" sz="2800" dirty="0"/>
              <a:t>In general this is an insufficient model of language</a:t>
            </a:r>
          </a:p>
          <a:p>
            <a:pPr lvl="1"/>
            <a:r>
              <a:rPr lang="en-US" sz="2400" dirty="0"/>
              <a:t>because language has </a:t>
            </a:r>
            <a:r>
              <a:rPr lang="en-US" sz="2400" b="1" dirty="0">
                <a:solidFill>
                  <a:srgbClr val="008000"/>
                </a:solidFill>
              </a:rPr>
              <a:t>long-distance dependencies</a:t>
            </a:r>
            <a:r>
              <a:rPr lang="en-US" sz="2400" dirty="0"/>
              <a:t>:</a:t>
            </a:r>
          </a:p>
          <a:p>
            <a:pPr marL="457200" lvl="1" indent="0">
              <a:buNone/>
            </a:pPr>
            <a:endParaRPr lang="en-US" sz="800" dirty="0"/>
          </a:p>
          <a:p>
            <a:pPr marL="457200" lvl="1" indent="0">
              <a:buNone/>
            </a:pPr>
            <a:r>
              <a:rPr lang="en-US" sz="2400" dirty="0"/>
              <a:t>“</a:t>
            </a:r>
            <a:r>
              <a:rPr lang="en-US" sz="2400"/>
              <a:t>The computer(s) </a:t>
            </a:r>
            <a:r>
              <a:rPr lang="en-US" sz="2400" dirty="0"/>
              <a:t>which I had just put into the machine room on the fifth </a:t>
            </a:r>
            <a:r>
              <a:rPr lang="en-US" sz="2400"/>
              <a:t>floor is (are) crashing.”</a:t>
            </a:r>
            <a:endParaRPr lang="en-US" sz="2400" dirty="0"/>
          </a:p>
          <a:p>
            <a:pPr lvl="1"/>
            <a:endParaRPr lang="en-US" sz="800" dirty="0"/>
          </a:p>
          <a:p>
            <a:r>
              <a:rPr lang="en-US" sz="2800" dirty="0"/>
              <a:t>But we can often get away with N-gram models</a:t>
            </a:r>
          </a:p>
        </p:txBody>
      </p:sp>
    </p:spTree>
    <p:extLst>
      <p:ext uri="{BB962C8B-B14F-4D97-AF65-F5344CB8AC3E}">
        <p14:creationId xmlns:p14="http://schemas.microsoft.com/office/powerpoint/2010/main" val="327434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>
                <a:solidFill>
                  <a:srgbClr val="A50021"/>
                </a:solidFill>
                <a:latin typeface="Calibri" charset="0"/>
              </a:rPr>
              <a:t>Introduction to N-grams</a:t>
            </a:r>
            <a:endParaRPr lang="en-US" sz="3200">
              <a:latin typeface="Calibri" charset="0"/>
            </a:endParaRPr>
          </a:p>
          <a:p>
            <a:pPr eaLnBrk="1" hangingPunct="1"/>
            <a:endParaRPr lang="en-US">
              <a:latin typeface="Calibri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1200150"/>
            <a:ext cx="3810000" cy="1143000"/>
          </a:xfrm>
        </p:spPr>
        <p:txBody>
          <a:bodyPr/>
          <a:lstStyle/>
          <a:p>
            <a:pPr eaLnBrk="1" hangingPunct="1"/>
            <a:br>
              <a:rPr sz="4400"/>
            </a:br>
            <a:r>
              <a:rPr lang="en-US" sz="4400"/>
              <a:t>Language Modeling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3817864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Estimating N-gram Probabilities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1200150"/>
            <a:ext cx="3810000" cy="1143000"/>
          </a:xfrm>
        </p:spPr>
        <p:txBody>
          <a:bodyPr/>
          <a:lstStyle/>
          <a:p>
            <a:pPr eaLnBrk="1" hangingPunct="1"/>
            <a:br>
              <a:rPr sz="4400"/>
            </a:br>
            <a:r>
              <a:rPr lang="en-US" sz="4400"/>
              <a:t>Language Modeling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3917424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Estimating bigram probabilities</a:t>
            </a:r>
          </a:p>
        </p:txBody>
      </p:sp>
      <p:sp>
        <p:nvSpPr>
          <p:cNvPr id="79878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The Maximum Likelihood Estimate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473553"/>
              </p:ext>
            </p:extLst>
          </p:nvPr>
        </p:nvGraphicFramePr>
        <p:xfrm>
          <a:off x="1752600" y="1986333"/>
          <a:ext cx="5410200" cy="1253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600" imgH="406400" progId="Equation.3">
                  <p:embed/>
                </p:oleObj>
              </mc:Choice>
              <mc:Fallback>
                <p:oleObj name="Equation" r:id="rId3" imgW="1752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986333"/>
                        <a:ext cx="5410200" cy="1253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54691"/>
              </p:ext>
            </p:extLst>
          </p:nvPr>
        </p:nvGraphicFramePr>
        <p:xfrm>
          <a:off x="2109964" y="3815133"/>
          <a:ext cx="4587816" cy="1253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85900" imgH="406400" progId="Equation.3">
                  <p:embed/>
                </p:oleObj>
              </mc:Choice>
              <mc:Fallback>
                <p:oleObj name="Equation" r:id="rId5" imgW="1485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964" y="3815133"/>
                        <a:ext cx="4587816" cy="1253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2695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05978"/>
            <a:ext cx="7391400" cy="689372"/>
          </a:xfrm>
        </p:spPr>
        <p:txBody>
          <a:bodyPr/>
          <a:lstStyle/>
          <a:p>
            <a:pPr eaLnBrk="1" hangingPunct="1"/>
            <a:r>
              <a:rPr lang="en-US" dirty="0"/>
              <a:t>An example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86200" y="1352550"/>
            <a:ext cx="5410200" cy="1524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 charset="0"/>
              </a:rPr>
              <a:t>&lt;s&gt; I am Sam &lt;/s&gt;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 charset="0"/>
              </a:rPr>
              <a:t>&lt;s&gt; Sam I am &lt;/s&gt;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 charset="0"/>
              </a:rPr>
              <a:t>&lt;s&gt; I do not like green eggs and ham &lt;/s&gt;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Calibri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Calibri" charset="0"/>
            </a:endParaRPr>
          </a:p>
        </p:txBody>
      </p:sp>
      <p:pic>
        <p:nvPicPr>
          <p:cNvPr id="6" name="Picture 7" descr="sam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3295782"/>
            <a:ext cx="8763000" cy="95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752137"/>
              </p:ext>
            </p:extLst>
          </p:nvPr>
        </p:nvGraphicFramePr>
        <p:xfrm>
          <a:off x="152400" y="1553694"/>
          <a:ext cx="3429000" cy="937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900" imgH="406400" progId="Equation.3">
                  <p:embed/>
                </p:oleObj>
              </mc:Choice>
              <mc:Fallback>
                <p:oleObj name="Equation" r:id="rId4" imgW="1485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53694"/>
                        <a:ext cx="3429000" cy="937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855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/>
          <a:lstStyle/>
          <a:p>
            <a:pPr eaLnBrk="1" hangingPunct="1"/>
            <a:r>
              <a:rPr lang="en-US" dirty="0"/>
              <a:t>More examples: </a:t>
            </a:r>
            <a:br>
              <a:rPr lang="en-US" dirty="0"/>
            </a:br>
            <a:r>
              <a:rPr lang="en-US" dirty="0"/>
              <a:t>Berkeley Restaurant Project sentences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686800" cy="3333750"/>
          </a:xfrm>
        </p:spPr>
        <p:txBody>
          <a:bodyPr/>
          <a:lstStyle/>
          <a:p>
            <a:pPr eaLnBrk="1" hangingPunct="1"/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can you tell me about any good </a:t>
            </a:r>
            <a:r>
              <a:rPr lang="en-US" sz="2500" dirty="0" err="1">
                <a:solidFill>
                  <a:srgbClr val="330099"/>
                </a:solidFill>
                <a:latin typeface="Calibri" charset="0"/>
              </a:rPr>
              <a:t>cantonese</a:t>
            </a:r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 restaurants close by</a:t>
            </a:r>
          </a:p>
          <a:p>
            <a:pPr eaLnBrk="1" hangingPunct="1"/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mid priced </a:t>
            </a:r>
            <a:r>
              <a:rPr lang="en-US" sz="2500" dirty="0" err="1">
                <a:solidFill>
                  <a:srgbClr val="330099"/>
                </a:solidFill>
                <a:latin typeface="Calibri" charset="0"/>
              </a:rPr>
              <a:t>thai</a:t>
            </a:r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 food is what </a:t>
            </a:r>
            <a:r>
              <a:rPr lang="en-US" sz="2500" dirty="0" err="1">
                <a:solidFill>
                  <a:srgbClr val="330099"/>
                </a:solidFill>
                <a:latin typeface="Calibri" charset="0"/>
              </a:rPr>
              <a:t>i’m</a:t>
            </a:r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 looking for</a:t>
            </a:r>
          </a:p>
          <a:p>
            <a:pPr eaLnBrk="1" hangingPunct="1"/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tell me about chez </a:t>
            </a:r>
            <a:r>
              <a:rPr lang="en-US" sz="2500" dirty="0" err="1">
                <a:solidFill>
                  <a:srgbClr val="330099"/>
                </a:solidFill>
                <a:latin typeface="Calibri" charset="0"/>
              </a:rPr>
              <a:t>panisse</a:t>
            </a:r>
            <a:endParaRPr lang="en-US" sz="2500" dirty="0">
              <a:solidFill>
                <a:srgbClr val="330099"/>
              </a:solidFill>
              <a:latin typeface="Calibri" charset="0"/>
            </a:endParaRPr>
          </a:p>
          <a:p>
            <a:pPr eaLnBrk="1" hangingPunct="1"/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can you give me a listing of the kinds of food that are available</a:t>
            </a:r>
          </a:p>
          <a:p>
            <a:pPr eaLnBrk="1" hangingPunct="1"/>
            <a:r>
              <a:rPr lang="en-US" sz="2500" dirty="0" err="1">
                <a:solidFill>
                  <a:srgbClr val="330099"/>
                </a:solidFill>
                <a:latin typeface="Calibri" charset="0"/>
              </a:rPr>
              <a:t>i’m</a:t>
            </a:r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 looking for a good place to eat breakfast</a:t>
            </a:r>
          </a:p>
          <a:p>
            <a:pPr eaLnBrk="1" hangingPunct="1"/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when is </a:t>
            </a:r>
            <a:r>
              <a:rPr lang="en-US" sz="2500" dirty="0" err="1">
                <a:solidFill>
                  <a:srgbClr val="330099"/>
                </a:solidFill>
                <a:latin typeface="Calibri" charset="0"/>
              </a:rPr>
              <a:t>caffe</a:t>
            </a:r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 </a:t>
            </a:r>
            <a:r>
              <a:rPr lang="en-US" sz="2500" dirty="0" err="1">
                <a:solidFill>
                  <a:srgbClr val="330099"/>
                </a:solidFill>
                <a:latin typeface="Calibri" charset="0"/>
              </a:rPr>
              <a:t>venezia</a:t>
            </a:r>
            <a:r>
              <a:rPr lang="en-US" sz="2500" dirty="0">
                <a:solidFill>
                  <a:srgbClr val="330099"/>
                </a:solidFill>
                <a:latin typeface="Calibri" charset="0"/>
              </a:rPr>
              <a:t> open during the day</a:t>
            </a:r>
            <a:endParaRPr lang="en-US" sz="2500" dirty="0">
              <a:solidFill>
                <a:srgbClr val="330099"/>
              </a:solidFill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5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7467600" cy="742950"/>
          </a:xfrm>
        </p:spPr>
        <p:txBody>
          <a:bodyPr/>
          <a:lstStyle/>
          <a:p>
            <a:pPr eaLnBrk="1" hangingPunct="1"/>
            <a:r>
              <a:rPr lang="en-US" dirty="0"/>
              <a:t>Raw bigram counts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76350"/>
            <a:ext cx="8534400" cy="333375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Out of 9222 sentences</a:t>
            </a:r>
          </a:p>
        </p:txBody>
      </p:sp>
      <p:pic>
        <p:nvPicPr>
          <p:cNvPr id="5" name="Picture 4" descr="berp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1755775"/>
            <a:ext cx="9067800" cy="325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7811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Raw bigram probabilities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2000" dirty="0">
                <a:latin typeface="Calibri" charset="0"/>
              </a:rPr>
              <a:t>Normalize by unigrams:</a:t>
            </a:r>
          </a:p>
          <a:p>
            <a:pPr eaLnBrk="1" hangingPunct="1"/>
            <a:endParaRPr lang="en-US" sz="2000" dirty="0">
              <a:latin typeface="Calibri" charset="0"/>
            </a:endParaRPr>
          </a:p>
          <a:p>
            <a:pPr eaLnBrk="1" hangingPunct="1">
              <a:lnSpc>
                <a:spcPct val="180000"/>
              </a:lnSpc>
            </a:pPr>
            <a:r>
              <a:rPr lang="en-US" sz="2000" dirty="0">
                <a:latin typeface="Calibri" charset="0"/>
              </a:rPr>
              <a:t>Result:</a:t>
            </a:r>
          </a:p>
        </p:txBody>
      </p:sp>
      <p:pic>
        <p:nvPicPr>
          <p:cNvPr id="6" name="Picture 4" descr="berp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2635366"/>
            <a:ext cx="7010400" cy="248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 descr="berp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05000" y="1733550"/>
            <a:ext cx="6718300" cy="617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3997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Bigram estimates of sentence probabilities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52550"/>
            <a:ext cx="8534400" cy="3333750"/>
          </a:xfrm>
        </p:spPr>
        <p:txBody>
          <a:bodyPr/>
          <a:lstStyle/>
          <a:p>
            <a:pPr eaLnBrk="1" hangingPunct="1">
              <a:buNone/>
            </a:pPr>
            <a:r>
              <a:rPr lang="en-US" sz="2800" dirty="0">
                <a:latin typeface="Calibri" charset="0"/>
              </a:rPr>
              <a:t>P(&lt;s&gt; I want </a:t>
            </a:r>
            <a:r>
              <a:rPr lang="en-US" sz="2800" dirty="0" err="1">
                <a:latin typeface="Calibri" charset="0"/>
              </a:rPr>
              <a:t>english</a:t>
            </a:r>
            <a:r>
              <a:rPr lang="en-US" sz="2800" dirty="0">
                <a:latin typeface="Calibri" charset="0"/>
              </a:rPr>
              <a:t> food &lt;/s&gt;) =</a:t>
            </a:r>
          </a:p>
          <a:p>
            <a:pPr eaLnBrk="1" hangingPunct="1">
              <a:buFont typeface="Wingdings" charset="2"/>
              <a:buNone/>
            </a:pPr>
            <a:r>
              <a:rPr lang="en-US" sz="2800" dirty="0">
                <a:latin typeface="Calibri" charset="0"/>
              </a:rPr>
              <a:t>	P(I|&lt;s&gt;)   </a:t>
            </a:r>
          </a:p>
          <a:p>
            <a:pPr eaLnBrk="1" hangingPunct="1">
              <a:buFont typeface="Wingdings" charset="2"/>
              <a:buNone/>
            </a:pPr>
            <a:r>
              <a:rPr lang="en-US" sz="2800" dirty="0">
                <a:latin typeface="Calibri" charset="0"/>
              </a:rPr>
              <a:t> 	×  P(</a:t>
            </a:r>
            <a:r>
              <a:rPr lang="en-US" sz="2800" dirty="0" err="1">
                <a:latin typeface="Calibri" charset="0"/>
              </a:rPr>
              <a:t>want|I</a:t>
            </a:r>
            <a:r>
              <a:rPr lang="en-US" sz="2800" dirty="0">
                <a:latin typeface="Calibri" charset="0"/>
              </a:rPr>
              <a:t>)  </a:t>
            </a:r>
          </a:p>
          <a:p>
            <a:pPr>
              <a:buNone/>
            </a:pPr>
            <a:r>
              <a:rPr lang="en-US" sz="2800" dirty="0">
                <a:latin typeface="Calibri" charset="0"/>
              </a:rPr>
              <a:t>	×  P(</a:t>
            </a:r>
            <a:r>
              <a:rPr lang="en-US" sz="2800" dirty="0" err="1">
                <a:latin typeface="Calibri" charset="0"/>
              </a:rPr>
              <a:t>english|want</a:t>
            </a:r>
            <a:r>
              <a:rPr lang="en-US" sz="2800" dirty="0">
                <a:latin typeface="Calibri" charset="0"/>
              </a:rPr>
              <a:t>)   </a:t>
            </a:r>
          </a:p>
          <a:p>
            <a:pPr>
              <a:buNone/>
            </a:pPr>
            <a:r>
              <a:rPr lang="en-US" sz="2800" dirty="0">
                <a:latin typeface="Calibri" charset="0"/>
              </a:rPr>
              <a:t>	×  P(</a:t>
            </a:r>
            <a:r>
              <a:rPr lang="en-US" sz="2800" dirty="0" err="1">
                <a:latin typeface="Calibri" charset="0"/>
              </a:rPr>
              <a:t>food|english</a:t>
            </a:r>
            <a:r>
              <a:rPr lang="en-US" sz="2800" dirty="0">
                <a:latin typeface="Calibri" charset="0"/>
              </a:rPr>
              <a:t>)   </a:t>
            </a:r>
          </a:p>
          <a:p>
            <a:pPr>
              <a:buNone/>
            </a:pPr>
            <a:r>
              <a:rPr lang="en-US" sz="2800" dirty="0">
                <a:latin typeface="Calibri" charset="0"/>
              </a:rPr>
              <a:t>	×  P(&lt;/s&gt;|food)</a:t>
            </a:r>
          </a:p>
          <a:p>
            <a:pPr eaLnBrk="1" hangingPunct="1">
              <a:buFont typeface="Wingdings" charset="2"/>
              <a:buNone/>
            </a:pPr>
            <a:r>
              <a:rPr lang="en-US" sz="2800" dirty="0">
                <a:latin typeface="Calibri" charset="0"/>
              </a:rPr>
              <a:t>       =  .000031</a:t>
            </a:r>
          </a:p>
        </p:txBody>
      </p:sp>
    </p:spTree>
    <p:extLst>
      <p:ext uri="{BB962C8B-B14F-4D97-AF65-F5344CB8AC3E}">
        <p14:creationId xmlns:p14="http://schemas.microsoft.com/office/powerpoint/2010/main" val="2444774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kinds of knowledge?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P(</a:t>
            </a:r>
            <a:r>
              <a:rPr lang="en-US" sz="2800" dirty="0" err="1">
                <a:latin typeface="Calibri" charset="0"/>
              </a:rPr>
              <a:t>english|want</a:t>
            </a:r>
            <a:r>
              <a:rPr lang="en-US" sz="2800" dirty="0">
                <a:latin typeface="Calibri" charset="0"/>
              </a:rPr>
              <a:t>)  = .0011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P(</a:t>
            </a:r>
            <a:r>
              <a:rPr lang="en-US" sz="2800" dirty="0" err="1">
                <a:latin typeface="Calibri" charset="0"/>
              </a:rPr>
              <a:t>chinese|want</a:t>
            </a:r>
            <a:r>
              <a:rPr lang="en-US" sz="2800" dirty="0">
                <a:latin typeface="Calibri" charset="0"/>
              </a:rPr>
              <a:t>) =  .0065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P(</a:t>
            </a:r>
            <a:r>
              <a:rPr lang="en-US" sz="2800" dirty="0" err="1">
                <a:latin typeface="Calibri" charset="0"/>
              </a:rPr>
              <a:t>to|want</a:t>
            </a:r>
            <a:r>
              <a:rPr lang="en-US" sz="2800" dirty="0">
                <a:latin typeface="Calibri" charset="0"/>
              </a:rPr>
              <a:t>) = .66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P(eat | to) = .28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P(food | to) = 0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P(want | spend) = 0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P (</a:t>
            </a:r>
            <a:r>
              <a:rPr lang="en-US" sz="2800" dirty="0" err="1">
                <a:latin typeface="Calibri" charset="0"/>
              </a:rPr>
              <a:t>i</a:t>
            </a:r>
            <a:r>
              <a:rPr lang="en-US" sz="2800" dirty="0">
                <a:latin typeface="Calibri" charset="0"/>
              </a:rPr>
              <a:t> | &lt;s&gt;) = .25</a:t>
            </a:r>
          </a:p>
        </p:txBody>
      </p:sp>
    </p:spTree>
    <p:extLst>
      <p:ext uri="{BB962C8B-B14F-4D97-AF65-F5344CB8AC3E}">
        <p14:creationId xmlns:p14="http://schemas.microsoft.com/office/powerpoint/2010/main" val="4201428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Practical Issues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latin typeface="Calibri" charset="0"/>
              </a:rPr>
              <a:t>We do everything in log space</a:t>
            </a:r>
          </a:p>
          <a:p>
            <a:pPr lvl="1" eaLnBrk="1" hangingPunct="1"/>
            <a:r>
              <a:rPr lang="en-US" sz="3200" dirty="0">
                <a:latin typeface="Calibri" charset="0"/>
              </a:rPr>
              <a:t>Avoid underflow</a:t>
            </a:r>
          </a:p>
          <a:p>
            <a:pPr lvl="1" eaLnBrk="1" hangingPunct="1"/>
            <a:r>
              <a:rPr lang="en-US" sz="3200" dirty="0">
                <a:latin typeface="Calibri" charset="0"/>
              </a:rPr>
              <a:t>(also adding is faster than multiplying)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829793"/>
              </p:ext>
            </p:extLst>
          </p:nvPr>
        </p:nvGraphicFramePr>
        <p:xfrm>
          <a:off x="304801" y="3792217"/>
          <a:ext cx="8610600" cy="567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76600" imgH="215900" progId="Equation.3">
                  <p:embed/>
                </p:oleObj>
              </mc:Choice>
              <mc:Fallback>
                <p:oleObj name="Equation" r:id="rId3" imgW="32766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1" y="3792217"/>
                        <a:ext cx="8610600" cy="567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2270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Language Modeling Toolkits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latin typeface="Calibri" charset="0"/>
              </a:rPr>
              <a:t>SRILM</a:t>
            </a:r>
          </a:p>
          <a:p>
            <a:pPr lvl="1" eaLnBrk="1" hangingPunct="1"/>
            <a:r>
              <a:rPr lang="en-US" sz="3200" dirty="0">
                <a:latin typeface="Calibri" charset="0"/>
                <a:hlinkClick r:id="rId3"/>
              </a:rPr>
              <a:t>http://www.speech.sri.com/projects/srilm/</a:t>
            </a:r>
            <a:endParaRPr lang="en-US" sz="3200" dirty="0">
              <a:latin typeface="Calibri" charset="0"/>
            </a:endParaRPr>
          </a:p>
          <a:p>
            <a:r>
              <a:rPr lang="en-US" sz="3600" dirty="0" err="1">
                <a:latin typeface="Calibri" charset="0"/>
              </a:rPr>
              <a:t>KenLM</a:t>
            </a:r>
            <a:endParaRPr lang="en-US" sz="3600" dirty="0">
              <a:latin typeface="Calibri" charset="0"/>
            </a:endParaRPr>
          </a:p>
          <a:p>
            <a:pPr lvl="1" eaLnBrk="1" hangingPunct="1"/>
            <a:r>
              <a:rPr lang="en-US" sz="3200" dirty="0">
                <a:latin typeface="Calibri" charset="0"/>
                <a:hlinkClick r:id="rId4"/>
              </a:rPr>
              <a:t>https://kheafield.com/code/kenlm/</a:t>
            </a:r>
            <a:endParaRPr lang="en-US" sz="32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209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pPr eaLnBrk="1" hangingPunct="1"/>
            <a:r>
              <a:rPr lang="en-US" dirty="0"/>
              <a:t>Google N-Gram Release, August 2006</a:t>
            </a:r>
          </a:p>
        </p:txBody>
      </p:sp>
      <p:pic>
        <p:nvPicPr>
          <p:cNvPr id="2" name="Picture 1" descr="ngram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2550"/>
            <a:ext cx="9144000" cy="1391879"/>
          </a:xfrm>
          <a:prstGeom prst="rect">
            <a:avLst/>
          </a:prstGeom>
        </p:spPr>
      </p:pic>
      <p:pic>
        <p:nvPicPr>
          <p:cNvPr id="3" name="Picture 2" descr="ngram2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0430"/>
            <a:ext cx="9144000" cy="82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460" y="298496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8319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Google N-Gram Release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incoming 92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incubator 99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independent 794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index 223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indication 72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indicator 120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indicators 45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indispensable 111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indispensible 40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solidFill>
                  <a:srgbClr val="333333"/>
                </a:solidFill>
                <a:latin typeface="Courier" charset="0"/>
              </a:rPr>
              <a:t>serve as the individual 234</a:t>
            </a:r>
          </a:p>
        </p:txBody>
      </p:sp>
      <p:sp>
        <p:nvSpPr>
          <p:cNvPr id="129028" name="TextBox 4"/>
          <p:cNvSpPr txBox="1">
            <a:spLocks noChangeArrowheads="1"/>
          </p:cNvSpPr>
          <p:nvPr/>
        </p:nvSpPr>
        <p:spPr bwMode="auto">
          <a:xfrm>
            <a:off x="152400" y="4629150"/>
            <a:ext cx="866425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hlinkClick r:id="rId3"/>
              </a:rPr>
              <a:t>http://googleresearch.blogspot.com/2006/08/all-our-n-gram-are-belong-to-you.html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13941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Google Book N-grams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http://ngrams.googlelabs.com/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78253"/>
      </p:ext>
    </p:extLst>
  </p:cSld>
  <p:clrMapOvr>
    <a:masterClrMapping/>
  </p:clrMapOvr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78AC3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10198</TotalTime>
  <Words>1106</Words>
  <Application>Microsoft Office PowerPoint</Application>
  <PresentationFormat>On-screen Show (16:9)</PresentationFormat>
  <Paragraphs>187</Paragraphs>
  <Slides>26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Courier</vt:lpstr>
      <vt:lpstr>Lucida Sans</vt:lpstr>
      <vt:lpstr>Tahoma</vt:lpstr>
      <vt:lpstr>Times</vt:lpstr>
      <vt:lpstr>Verdana</vt:lpstr>
      <vt:lpstr>Wingdings</vt:lpstr>
      <vt:lpstr>NLP-jurafsky</vt:lpstr>
      <vt:lpstr>Equation</vt:lpstr>
      <vt:lpstr> Language Modeling</vt:lpstr>
      <vt:lpstr>Probabilistic Language Models</vt:lpstr>
      <vt:lpstr>Probabilistic Language Modeling</vt:lpstr>
      <vt:lpstr>How to compute P(W)</vt:lpstr>
      <vt:lpstr>Reminder: The Chain Rule</vt:lpstr>
      <vt:lpstr>The Chain Rule applied to compute joint probability of words in sentence</vt:lpstr>
      <vt:lpstr>How to estimate these probabilities</vt:lpstr>
      <vt:lpstr>Markov Assumption</vt:lpstr>
      <vt:lpstr>N grams</vt:lpstr>
      <vt:lpstr>Simplest case: Unigram model</vt:lpstr>
      <vt:lpstr>Bigram model</vt:lpstr>
      <vt:lpstr>N-gram models</vt:lpstr>
      <vt:lpstr> Language Modeling</vt:lpstr>
      <vt:lpstr> Language Modeling</vt:lpstr>
      <vt:lpstr>Estimating bigram probabilities</vt:lpstr>
      <vt:lpstr>An example</vt:lpstr>
      <vt:lpstr>More examples:  Berkeley Restaurant Project sentences</vt:lpstr>
      <vt:lpstr>Raw bigram counts</vt:lpstr>
      <vt:lpstr>Raw bigram probabilities</vt:lpstr>
      <vt:lpstr>Bigram estimates of sentence probabilities</vt:lpstr>
      <vt:lpstr>What kinds of knowledge?</vt:lpstr>
      <vt:lpstr>Practical Issues</vt:lpstr>
      <vt:lpstr>Language Modeling Toolkits</vt:lpstr>
      <vt:lpstr>Google N-Gram Release, August 2006</vt:lpstr>
      <vt:lpstr>Google N-Gram Release</vt:lpstr>
      <vt:lpstr>Google Book N-grams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Dr. Usman Ghani</cp:lastModifiedBy>
  <cp:revision>190</cp:revision>
  <cp:lastPrinted>2009-04-20T16:46:08Z</cp:lastPrinted>
  <dcterms:created xsi:type="dcterms:W3CDTF">2010-04-19T15:31:24Z</dcterms:created>
  <dcterms:modified xsi:type="dcterms:W3CDTF">2023-09-20T17:07:03Z</dcterms:modified>
</cp:coreProperties>
</file>