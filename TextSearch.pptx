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48"/>
  </p:notesMasterIdLst>
  <p:handoutMasterIdLst>
    <p:handoutMasterId r:id="rId49"/>
  </p:handoutMasterIdLst>
  <p:sldIdLst>
    <p:sldId id="452" r:id="rId2"/>
    <p:sldId id="405" r:id="rId3"/>
    <p:sldId id="406" r:id="rId4"/>
    <p:sldId id="442" r:id="rId5"/>
    <p:sldId id="444" r:id="rId6"/>
    <p:sldId id="408" r:id="rId7"/>
    <p:sldId id="409" r:id="rId8"/>
    <p:sldId id="411" r:id="rId9"/>
    <p:sldId id="412" r:id="rId10"/>
    <p:sldId id="413" r:id="rId11"/>
    <p:sldId id="415" r:id="rId12"/>
    <p:sldId id="451" r:id="rId13"/>
    <p:sldId id="416" r:id="rId14"/>
    <p:sldId id="417" r:id="rId15"/>
    <p:sldId id="419" r:id="rId16"/>
    <p:sldId id="420" r:id="rId17"/>
    <p:sldId id="421" r:id="rId18"/>
    <p:sldId id="458" r:id="rId19"/>
    <p:sldId id="459" r:id="rId20"/>
    <p:sldId id="460" r:id="rId21"/>
    <p:sldId id="461" r:id="rId22"/>
    <p:sldId id="422" r:id="rId23"/>
    <p:sldId id="423" r:id="rId24"/>
    <p:sldId id="424" r:id="rId25"/>
    <p:sldId id="425" r:id="rId26"/>
    <p:sldId id="426" r:id="rId27"/>
    <p:sldId id="427" r:id="rId28"/>
    <p:sldId id="453" r:id="rId29"/>
    <p:sldId id="428" r:id="rId30"/>
    <p:sldId id="429" r:id="rId31"/>
    <p:sldId id="430" r:id="rId32"/>
    <p:sldId id="431" r:id="rId33"/>
    <p:sldId id="432" r:id="rId34"/>
    <p:sldId id="433" r:id="rId35"/>
    <p:sldId id="434" r:id="rId36"/>
    <p:sldId id="450" r:id="rId37"/>
    <p:sldId id="462" r:id="rId38"/>
    <p:sldId id="435" r:id="rId39"/>
    <p:sldId id="454" r:id="rId40"/>
    <p:sldId id="457" r:id="rId41"/>
    <p:sldId id="437" r:id="rId42"/>
    <p:sldId id="438" r:id="rId43"/>
    <p:sldId id="439" r:id="rId44"/>
    <p:sldId id="440" r:id="rId45"/>
    <p:sldId id="456" r:id="rId46"/>
    <p:sldId id="455" r:id="rId47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18" autoAdjust="0"/>
    <p:restoredTop sz="86851" autoAdjust="0"/>
  </p:normalViewPr>
  <p:slideViewPr>
    <p:cSldViewPr>
      <p:cViewPr varScale="1">
        <p:scale>
          <a:sx n="83" d="100"/>
          <a:sy n="83" d="100"/>
        </p:scale>
        <p:origin x="70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024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5" Type="http://schemas.openxmlformats.org/officeDocument/2006/relationships/slide" Target="slides/slide7.xml"/><Relationship Id="rId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39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64B176-3CE7-6A41-BE1E-57EEC52B0665}" type="slidenum">
              <a:rPr lang="en-US"/>
              <a:pPr/>
              <a:t>2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4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123507-3658-094F-A348-B086D6EDE221}" type="slidenum">
              <a:rPr lang="en-US"/>
              <a:pPr/>
              <a:t>3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5" tIns="45718" rIns="91435" bIns="45718"/>
          <a:lstStyle/>
          <a:p>
            <a:pPr eaLnBrk="1" hangingPunct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18468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945E12-28F4-EC45-9FE6-6861EFD09E6C}" type="slidenum">
              <a:rPr lang="en-US"/>
              <a:pPr/>
              <a:t>4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5" tIns="45718" rIns="91435" bIns="45718"/>
          <a:lstStyle/>
          <a:p>
            <a:pPr eaLnBrk="1" hangingPunct="1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692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945E12-28F4-EC45-9FE6-6861EFD09E6C}" type="slidenum">
              <a:rPr lang="en-US"/>
              <a:pPr/>
              <a:t>5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5" tIns="45718" rIns="91435" bIns="45718"/>
          <a:lstStyle/>
          <a:p>
            <a:pPr eaLnBrk="1" hangingPunct="1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700313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DFDE8B-28E4-4047-85D4-57A6728EBAFF}" type="slidenum">
              <a:rPr lang="en-US"/>
              <a:pPr/>
              <a:t>6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5" tIns="45718" rIns="91435" bIns="45718"/>
          <a:lstStyle/>
          <a:p>
            <a:pPr eaLnBrk="1" hangingPunct="1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874545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422F39-6D47-7E4A-B2A9-7EB2D50CD805}" type="slidenum">
              <a:rPr lang="en-US"/>
              <a:pPr/>
              <a:t>7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435" tIns="45718" rIns="91435" bIns="45718"/>
          <a:lstStyle/>
          <a:p>
            <a:pPr eaLnBrk="1" hangingPunct="1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06674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D70C18-464E-3545-9CA1-FC88A632BD18}" type="slidenum">
              <a:rPr lang="en-US"/>
              <a:pPr/>
              <a:t>8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5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82BD90-5842-9D48-A685-621D2A4C3779}" type="slidenum">
              <a:rPr lang="en-US"/>
              <a:pPr/>
              <a:t>9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4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149E1A-5C54-D64B-9E9D-5A113A6AF7E6}" type="slidenum">
              <a:rPr lang="en-US"/>
              <a:pPr/>
              <a:t>10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62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8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016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E9F685-F098-8E4C-B6D8-D94BDE4D6D6B}" type="slidenum">
              <a:rPr lang="en-US"/>
              <a:pPr/>
              <a:t>14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20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652608-6990-6E43-AA5F-49A5045801F2}" type="slidenum">
              <a:rPr lang="en-US"/>
              <a:pPr/>
              <a:t>15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76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E383AF-40C9-E847-ACCB-98F997084513}" type="slidenum">
              <a:rPr lang="en-US"/>
              <a:pPr/>
              <a:t>16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36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E383AF-40C9-E847-ACCB-98F997084513}" type="slidenum">
              <a:rPr lang="en-US"/>
              <a:pPr/>
              <a:t>17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67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186323-23FC-C745-A59E-E7A0F69F23C3}" type="slidenum">
              <a:rPr lang="en-US"/>
              <a:pPr/>
              <a:t>25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71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9BB694-CB85-1C42-BB21-6EC89F24E5E0}" type="slidenum">
              <a:rPr lang="en-US"/>
              <a:pPr/>
              <a:t>26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6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24F83C-53AC-F24F-80E2-C55109AFC467}" type="slidenum">
              <a:rPr lang="en-US"/>
              <a:pPr/>
              <a:t>27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307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28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838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29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64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1B9DA1-D091-A64A-A0FC-8E8CCCAFB71C}" type="slidenum">
              <a:rPr lang="en-US"/>
              <a:pPr/>
              <a:t>33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09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E32076-AB54-DD42-AB81-EE05460AD3D3}" type="slidenum">
              <a:rPr lang="en-US"/>
              <a:pPr/>
              <a:t>38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59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39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63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40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887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4D6FAE-BAB2-4B44-B9CF-68A8BE4C6FBA}" type="slidenum">
              <a:rPr lang="en-US"/>
              <a:pPr/>
              <a:t>41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298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8F872B-19D4-8F46-BECB-09C895BA15F0}" type="slidenum">
              <a:rPr lang="en-US"/>
              <a:pPr/>
              <a:t>42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22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4D052C-C7F7-BA4E-98C4-68051FCD392D}" type="slidenum">
              <a:rPr lang="en-US"/>
              <a:pPr/>
              <a:t>43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617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46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69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0" y="438150"/>
            <a:ext cx="3890964" cy="1371600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Calibri (Headings)"/>
                <a:ea typeface="ＭＳ Ｐゴシック" charset="0"/>
                <a:cs typeface="Calibri (Headings)"/>
              </a:rPr>
              <a:t>Basic Text Processing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382848677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Regular expressions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00150"/>
            <a:ext cx="8534400" cy="3543300"/>
          </a:xfrm>
        </p:spPr>
        <p:txBody>
          <a:bodyPr/>
          <a:lstStyle/>
          <a:p>
            <a:pPr eaLnBrk="1" hangingPunct="1"/>
            <a:r>
              <a:rPr lang="en-US" dirty="0"/>
              <a:t>A formal language for specifying text strings</a:t>
            </a:r>
          </a:p>
          <a:p>
            <a:pPr eaLnBrk="1" hangingPunct="1"/>
            <a:r>
              <a:rPr lang="en-US" dirty="0"/>
              <a:t>How can we search for any of these?</a:t>
            </a:r>
          </a:p>
          <a:p>
            <a:pPr lvl="1" eaLnBrk="1" hangingPunct="1"/>
            <a:r>
              <a:rPr lang="en-US" dirty="0"/>
              <a:t>woodchuck</a:t>
            </a:r>
          </a:p>
          <a:p>
            <a:pPr lvl="1" eaLnBrk="1" hangingPunct="1"/>
            <a:r>
              <a:rPr lang="en-US" dirty="0"/>
              <a:t>woodchucks</a:t>
            </a:r>
          </a:p>
          <a:p>
            <a:pPr lvl="1" eaLnBrk="1" hangingPunct="1"/>
            <a:r>
              <a:rPr lang="en-US" dirty="0"/>
              <a:t>Woodchuck</a:t>
            </a:r>
          </a:p>
          <a:p>
            <a:pPr lvl="1" eaLnBrk="1" hangingPunct="1"/>
            <a:r>
              <a:rPr lang="en-US" dirty="0"/>
              <a:t>Woodchucks</a:t>
            </a:r>
          </a:p>
          <a:p>
            <a:pPr marL="457200" lvl="1" indent="0" eaLnBrk="1" hangingPunct="1">
              <a:buNone/>
            </a:pPr>
            <a:endParaRPr lang="en-US" dirty="0"/>
          </a:p>
          <a:p>
            <a:pPr eaLnBrk="1" hangingPunct="1"/>
            <a:endParaRPr lang="en-US" dirty="0"/>
          </a:p>
        </p:txBody>
      </p:sp>
      <p:pic>
        <p:nvPicPr>
          <p:cNvPr id="2" name="Picture 1" descr="220px-Groundhog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19075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4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Regular Expressions: Disjunctions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73969"/>
            <a:ext cx="7786688" cy="3659981"/>
          </a:xfrm>
        </p:spPr>
        <p:txBody>
          <a:bodyPr/>
          <a:lstStyle/>
          <a:p>
            <a:pPr eaLnBrk="1" hangingPunct="1"/>
            <a:r>
              <a:rPr lang="en-US" dirty="0">
                <a:latin typeface="Calibri"/>
                <a:cs typeface="Calibri"/>
              </a:rPr>
              <a:t>Letters inside square brackets []</a:t>
            </a:r>
          </a:p>
          <a:p>
            <a:pPr eaLnBrk="1" hangingPunct="1"/>
            <a:endParaRPr lang="en-US" dirty="0">
              <a:latin typeface="Calibri"/>
              <a:cs typeface="Calibri"/>
            </a:endParaRPr>
          </a:p>
          <a:p>
            <a:pPr eaLnBrk="1" hangingPunct="1"/>
            <a:endParaRPr lang="en-US" dirty="0">
              <a:latin typeface="Calibri"/>
              <a:cs typeface="Calibri"/>
            </a:endParaRPr>
          </a:p>
          <a:p>
            <a:pPr marL="0" indent="0" eaLnBrk="1" hangingPunct="1">
              <a:buNone/>
            </a:pPr>
            <a:endParaRPr lang="en-US" dirty="0">
              <a:latin typeface="Calibri"/>
              <a:cs typeface="Calibri"/>
            </a:endParaRPr>
          </a:p>
          <a:p>
            <a:r>
              <a:rPr lang="en-US" dirty="0"/>
              <a:t>Ranges</a:t>
            </a:r>
            <a:r>
              <a:rPr lang="en-US" sz="2000" dirty="0"/>
              <a:t> </a:t>
            </a:r>
            <a:r>
              <a:rPr lang="en-US" dirty="0">
                <a:solidFill>
                  <a:srgbClr val="CC0000"/>
                </a:solidFill>
                <a:latin typeface="Courier" charset="0"/>
              </a:rPr>
              <a:t>[A-Z]</a:t>
            </a:r>
          </a:p>
          <a:p>
            <a:pPr eaLnBrk="1" hangingPunct="1"/>
            <a:endParaRPr lang="en-US" dirty="0">
              <a:latin typeface="Calibri"/>
              <a:cs typeface="Calibri"/>
            </a:endParaRPr>
          </a:p>
          <a:p>
            <a:pPr marL="0" indent="0" eaLnBrk="1" hangingPunct="1">
              <a:buNone/>
            </a:pPr>
            <a:r>
              <a:rPr lang="en-US" dirty="0">
                <a:solidFill>
                  <a:srgbClr val="CC0000"/>
                </a:solidFill>
                <a:latin typeface="Courier New" charset="0"/>
              </a:rPr>
              <a:t>		</a:t>
            </a:r>
          </a:p>
          <a:p>
            <a:pPr eaLnBrk="1" hangingPunct="1"/>
            <a:endParaRPr lang="en-US" b="1" dirty="0">
              <a:solidFill>
                <a:srgbClr val="CC0000"/>
              </a:solidFill>
              <a:latin typeface="Courier New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687836"/>
              </p:ext>
            </p:extLst>
          </p:nvPr>
        </p:nvGraphicFramePr>
        <p:xfrm>
          <a:off x="1524000" y="1809750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wW</a:t>
                      </a: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]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oodchuck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Woodchuck,</a:t>
                      </a:r>
                      <a:r>
                        <a:rPr lang="en-US" baseline="0" dirty="0"/>
                        <a:t> woodchuck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[1234567890]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digit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61915"/>
              </p:ext>
            </p:extLst>
          </p:nvPr>
        </p:nvGraphicFramePr>
        <p:xfrm>
          <a:off x="762000" y="3516630"/>
          <a:ext cx="80009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546">
                <a:tc>
                  <a:txBody>
                    <a:bodyPr/>
                    <a:lstStyle/>
                    <a:p>
                      <a:r>
                        <a:rPr lang="en-US" sz="1800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4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[A-Z]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An upper case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D</a:t>
                      </a:r>
                      <a:r>
                        <a:rPr lang="en-US" sz="1800" dirty="0">
                          <a:latin typeface="Courier"/>
                          <a:cs typeface="Courier"/>
                        </a:rPr>
                        <a:t>renched Blossoms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54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[a-z]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lower case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m</a:t>
                      </a:r>
                      <a:r>
                        <a:rPr lang="en-US" sz="1800" dirty="0">
                          <a:latin typeface="Courier"/>
                          <a:cs typeface="Courier"/>
                        </a:rPr>
                        <a:t>y beans were impatient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54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[0-9]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single</a:t>
                      </a:r>
                      <a:r>
                        <a:rPr lang="en-US" sz="1800" baseline="0" dirty="0"/>
                        <a:t> digit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"/>
                          <a:cs typeface="Courier"/>
                        </a:rPr>
                        <a:t>Chapter </a:t>
                      </a:r>
                      <a:r>
                        <a:rPr lang="en-US" sz="1800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1</a:t>
                      </a:r>
                      <a:r>
                        <a:rPr lang="en-US" sz="1800" dirty="0">
                          <a:latin typeface="Courier"/>
                          <a:cs typeface="Courier"/>
                        </a:rPr>
                        <a:t>: Down the Rabbit Hole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22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772400" cy="742950"/>
          </a:xfrm>
        </p:spPr>
        <p:txBody>
          <a:bodyPr/>
          <a:lstStyle/>
          <a:p>
            <a:pPr eaLnBrk="1" hangingPunct="1"/>
            <a:r>
              <a:rPr lang="en-US" dirty="0"/>
              <a:t>Regular Expressions: Negation in Disjunction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28750"/>
            <a:ext cx="7620000" cy="4114799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Negations</a:t>
            </a:r>
            <a:r>
              <a:rPr lang="en-US" dirty="0">
                <a:solidFill>
                  <a:srgbClr val="CC0000"/>
                </a:solidFill>
                <a:latin typeface="Courier" charset="0"/>
              </a:rPr>
              <a:t> [^</a:t>
            </a:r>
            <a:r>
              <a:rPr lang="en-US" dirty="0" err="1">
                <a:solidFill>
                  <a:srgbClr val="CC0000"/>
                </a:solidFill>
                <a:latin typeface="Courier" charset="0"/>
              </a:rPr>
              <a:t>Ss</a:t>
            </a:r>
            <a:r>
              <a:rPr lang="en-US" dirty="0">
                <a:solidFill>
                  <a:srgbClr val="CC0000"/>
                </a:solidFill>
                <a:latin typeface="Courier" charset="0"/>
              </a:rPr>
              <a:t>]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Carat means negation only when first in []</a:t>
            </a:r>
          </a:p>
          <a:p>
            <a:pPr eaLnBrk="1" hangingPunct="1"/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533110"/>
              </p:ext>
            </p:extLst>
          </p:nvPr>
        </p:nvGraphicFramePr>
        <p:xfrm>
          <a:off x="533400" y="2495550"/>
          <a:ext cx="74895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[^A-Z]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</a:t>
                      </a:r>
                      <a:r>
                        <a:rPr lang="en-US" baseline="0" dirty="0"/>
                        <a:t> an </a:t>
                      </a:r>
                      <a:r>
                        <a:rPr lang="en-US" dirty="0"/>
                        <a:t>upper case 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"/>
                          <a:cs typeface="Courier"/>
                        </a:rPr>
                        <a:t>O</a:t>
                      </a:r>
                      <a:r>
                        <a:rPr lang="en-US" u="sng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y</a:t>
                      </a:r>
                      <a:r>
                        <a:rPr lang="en-US" dirty="0" err="1">
                          <a:latin typeface="Courier"/>
                          <a:cs typeface="Courier"/>
                        </a:rPr>
                        <a:t>fn</a:t>
                      </a:r>
                      <a:r>
                        <a:rPr lang="en-US" dirty="0"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dirty="0" err="1">
                          <a:latin typeface="Courier"/>
                          <a:cs typeface="Courier"/>
                        </a:rPr>
                        <a:t>pripetchik</a:t>
                      </a:r>
                      <a:endParaRPr lang="en-US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[^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Ss</a:t>
                      </a: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]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Neither ‘S’ nor ‘s’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I</a:t>
                      </a:r>
                      <a:r>
                        <a:rPr lang="en-US" u="none" dirty="0">
                          <a:solidFill>
                            <a:srgbClr val="000000"/>
                          </a:solidFill>
                          <a:latin typeface="Courier"/>
                          <a:cs typeface="Courier"/>
                        </a:rPr>
                        <a:t> have no exquisite reason”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a^b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pattern</a:t>
                      </a:r>
                      <a:r>
                        <a:rPr lang="en-US" baseline="0" dirty="0"/>
                        <a:t> a</a:t>
                      </a:r>
                      <a:r>
                        <a:rPr lang="en-US" dirty="0"/>
                        <a:t> carat</a:t>
                      </a:r>
                      <a:r>
                        <a:rPr lang="en-US" baseline="0" dirty="0"/>
                        <a:t>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/>
                          <a:cs typeface="Courier"/>
                        </a:rPr>
                        <a:t>Look up </a:t>
                      </a:r>
                      <a:r>
                        <a:rPr lang="en-US" u="sng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a^b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dirty="0">
                          <a:latin typeface="Courier"/>
                          <a:cs typeface="Courier"/>
                        </a:rPr>
                        <a:t>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35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772400" cy="742950"/>
          </a:xfrm>
        </p:spPr>
        <p:txBody>
          <a:bodyPr/>
          <a:lstStyle/>
          <a:p>
            <a:pPr eaLnBrk="1" hangingPunct="1"/>
            <a:r>
              <a:rPr lang="en-US" dirty="0"/>
              <a:t>Regular Expressions: More Disjunction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428750"/>
            <a:ext cx="7620000" cy="4114799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Woodchucks is another name for groundhog</a:t>
            </a:r>
            <a:r>
              <a:rPr lang="en-US" dirty="0"/>
              <a:t>!</a:t>
            </a:r>
          </a:p>
          <a:p>
            <a:pPr eaLnBrk="1" hangingPunct="1"/>
            <a:r>
              <a:rPr lang="en-US" dirty="0"/>
              <a:t>The pipe | for disjunction</a:t>
            </a:r>
          </a:p>
          <a:p>
            <a:pPr eaLnBrk="1" hangingPunct="1"/>
            <a:endParaRPr lang="en-US" dirty="0">
              <a:solidFill>
                <a:srgbClr val="CC0000"/>
              </a:solidFill>
              <a:latin typeface="Courier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235603"/>
              </p:ext>
            </p:extLst>
          </p:nvPr>
        </p:nvGraphicFramePr>
        <p:xfrm>
          <a:off x="228600" y="2505710"/>
          <a:ext cx="5334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groundhog</a:t>
                      </a:r>
                      <a:r>
                        <a:rPr lang="en-US" b="1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|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woodchuck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yours</a:t>
                      </a:r>
                      <a:r>
                        <a:rPr lang="en-US" b="1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|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mine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  <a:latin typeface="Courier"/>
                          <a:cs typeface="Courier"/>
                        </a:rPr>
                        <a:t>yours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  <a:latin typeface="Courier"/>
                          <a:cs typeface="Courier"/>
                        </a:rPr>
                        <a:t>   mine</a:t>
                      </a:r>
                      <a:endParaRPr lang="en-US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a</a:t>
                      </a:r>
                      <a:r>
                        <a:rPr lang="en-US" b="1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|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b</a:t>
                      </a:r>
                      <a:r>
                        <a:rPr lang="en-US" b="1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|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= 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abc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gG</a:t>
                      </a: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]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roundhog</a:t>
                      </a:r>
                      <a:r>
                        <a:rPr lang="en-US" b="1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|</a:t>
                      </a: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[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Ww</a:t>
                      </a: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]</a:t>
                      </a: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oodchuck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220px-Groundhog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2495550"/>
            <a:ext cx="29464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643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Expressions: </a:t>
            </a:r>
            <a:r>
              <a:rPr lang="en-US" dirty="0">
                <a:solidFill>
                  <a:srgbClr val="CC0000"/>
                </a:solidFill>
                <a:latin typeface="Courier New" charset="0"/>
              </a:rPr>
              <a:t>?</a:t>
            </a:r>
            <a:r>
              <a:rPr lang="en-US" dirty="0"/>
              <a:t>    </a:t>
            </a:r>
            <a:r>
              <a:rPr lang="en-US" dirty="0">
                <a:solidFill>
                  <a:srgbClr val="CC0000"/>
                </a:solidFill>
                <a:latin typeface="Courier New" charset="0"/>
              </a:rPr>
              <a:t>*  +  .</a:t>
            </a:r>
            <a:endParaRPr lang="en-US" dirty="0"/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588" y="2445544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5783" name="Rectangle 10"/>
          <p:cNvSpPr>
            <a:spLocks noChangeArrowheads="1"/>
          </p:cNvSpPr>
          <p:nvPr/>
        </p:nvSpPr>
        <p:spPr bwMode="auto">
          <a:xfrm>
            <a:off x="1219200" y="3714750"/>
            <a:ext cx="70104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prstTxWarp prst="textNoShape">
              <a:avLst/>
            </a:prstTxWarp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95000"/>
              <a:buFont typeface="Wingdings" charset="2"/>
              <a:buNone/>
            </a:pPr>
            <a:endParaRPr lang="en-US" sz="2400" b="1" dirty="0">
              <a:solidFill>
                <a:srgbClr val="CC0000"/>
              </a:solidFill>
              <a:latin typeface="Courier New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800" y="1428750"/>
            <a:ext cx="1556710" cy="22161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0" y="3790950"/>
            <a:ext cx="1827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Stephen C </a:t>
            </a:r>
            <a:r>
              <a:rPr lang="en-US" sz="1800" dirty="0" err="1">
                <a:latin typeface="+mn-lt"/>
              </a:rPr>
              <a:t>Kleene</a:t>
            </a:r>
            <a:endParaRPr lang="en-US" sz="1800" dirty="0">
              <a:latin typeface="+mn-lt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463564"/>
              </p:ext>
            </p:extLst>
          </p:nvPr>
        </p:nvGraphicFramePr>
        <p:xfrm>
          <a:off x="304800" y="1733550"/>
          <a:ext cx="647700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colou?r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Optional</a:t>
                      </a:r>
                      <a:r>
                        <a:rPr lang="en-US" baseline="0" dirty="0"/>
                        <a:t> previous 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rgbClr val="0000FF"/>
                          </a:solidFill>
                          <a:latin typeface="Courier"/>
                          <a:cs typeface="Courier"/>
                        </a:rPr>
                        <a:t>color</a:t>
                      </a:r>
                      <a:r>
                        <a:rPr lang="en-US" u="none" dirty="0">
                          <a:latin typeface="Courier"/>
                          <a:cs typeface="Courier"/>
                        </a:rPr>
                        <a:t>    </a:t>
                      </a:r>
                      <a:r>
                        <a:rPr lang="en-US" u="sng" dirty="0" err="1">
                          <a:solidFill>
                            <a:srgbClr val="0000FF"/>
                          </a:solidFill>
                          <a:latin typeface="Courier"/>
                          <a:cs typeface="Courier"/>
                        </a:rPr>
                        <a:t>colour</a:t>
                      </a:r>
                      <a:endParaRPr lang="en-US" u="sng" dirty="0">
                        <a:solidFill>
                          <a:srgbClr val="0000FF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oo</a:t>
                      </a: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*h!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0 or more of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previous 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oh!</a:t>
                      </a:r>
                      <a:r>
                        <a:rPr lang="en-US" u="none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ooh!</a:t>
                      </a:r>
                      <a:r>
                        <a:rPr lang="en-US" u="none" dirty="0">
                          <a:solidFill>
                            <a:srgbClr val="000000"/>
                          </a:solidFill>
                          <a:latin typeface="Courier"/>
                          <a:cs typeface="Courier"/>
                        </a:rPr>
                        <a:t>  </a:t>
                      </a:r>
                      <a:r>
                        <a:rPr lang="en-US" u="sng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oooh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!</a:t>
                      </a:r>
                      <a:r>
                        <a:rPr lang="en-US" u="none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u="sng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ooooh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!</a:t>
                      </a:r>
                      <a:endParaRPr lang="en-US" u="none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o+h</a:t>
                      </a: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!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1 or more of previous 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oh!</a:t>
                      </a:r>
                      <a:r>
                        <a:rPr lang="en-US" u="none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ooh!</a:t>
                      </a:r>
                      <a:r>
                        <a:rPr lang="en-US" u="none" dirty="0">
                          <a:solidFill>
                            <a:srgbClr val="000000"/>
                          </a:solidFill>
                          <a:latin typeface="Courier"/>
                          <a:cs typeface="Courier"/>
                        </a:rPr>
                        <a:t>  </a:t>
                      </a:r>
                      <a:r>
                        <a:rPr lang="en-US" u="sng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oooh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!</a:t>
                      </a:r>
                      <a:r>
                        <a:rPr lang="en-US" u="none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u="sng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ooooh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!</a:t>
                      </a:r>
                      <a:endParaRPr lang="en-US" u="none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baa+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baa</a:t>
                      </a:r>
                      <a:r>
                        <a:rPr lang="en-US" u="none" baseline="0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u="sng" baseline="0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baaa</a:t>
                      </a:r>
                      <a:r>
                        <a:rPr lang="en-US" u="none" baseline="0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u="sng" baseline="0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baaaa</a:t>
                      </a:r>
                      <a:r>
                        <a:rPr lang="en-US" u="none" baseline="0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u="sng" baseline="0" dirty="0" err="1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baaaaa</a:t>
                      </a:r>
                      <a:endParaRPr lang="en-US" u="none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CC0000"/>
                          </a:solidFill>
                          <a:latin typeface="Courier"/>
                          <a:cs typeface="Courier"/>
                        </a:rPr>
                        <a:t>beg.n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begin </a:t>
                      </a:r>
                      <a:r>
                        <a:rPr lang="en-US" u="sng" baseline="0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begun begun beg3n</a:t>
                      </a:r>
                      <a:endParaRPr lang="en-US" u="none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86600" y="4324350"/>
            <a:ext cx="2010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+mn-lt"/>
              </a:rPr>
              <a:t>Kleene</a:t>
            </a:r>
            <a:r>
              <a:rPr lang="en-US" sz="1800" dirty="0">
                <a:latin typeface="+mn-lt"/>
              </a:rPr>
              <a:t> *,   </a:t>
            </a:r>
            <a:r>
              <a:rPr lang="en-US" sz="1800" dirty="0" err="1">
                <a:latin typeface="+mn-lt"/>
              </a:rPr>
              <a:t>Kleene</a:t>
            </a:r>
            <a:r>
              <a:rPr lang="en-US" sz="1800" dirty="0">
                <a:latin typeface="+mn-lt"/>
              </a:rPr>
              <a:t> +   </a:t>
            </a:r>
          </a:p>
        </p:txBody>
      </p:sp>
    </p:spTree>
    <p:extLst>
      <p:ext uri="{BB962C8B-B14F-4D97-AF65-F5344CB8AC3E}">
        <p14:creationId xmlns:p14="http://schemas.microsoft.com/office/powerpoint/2010/main" val="2148838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Regular Expressions: Anchors  </a:t>
            </a:r>
            <a:r>
              <a:rPr lang="en-US" dirty="0">
                <a:solidFill>
                  <a:srgbClr val="FF0000"/>
                </a:solidFill>
              </a:rPr>
              <a:t>^   $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314450"/>
            <a:ext cx="7848600" cy="35433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endParaRPr lang="en-US" sz="2400" dirty="0">
              <a:latin typeface="Courier New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483843"/>
              </p:ext>
            </p:extLst>
          </p:nvPr>
        </p:nvGraphicFramePr>
        <p:xfrm>
          <a:off x="1905000" y="1809750"/>
          <a:ext cx="4953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3300"/>
                          </a:solidFill>
                          <a:latin typeface="Courier"/>
                          <a:cs typeface="Courier"/>
                        </a:rPr>
                        <a:t>^</a:t>
                      </a:r>
                      <a:r>
                        <a:rPr lang="en-US" sz="1800" dirty="0">
                          <a:latin typeface="Courier"/>
                          <a:cs typeface="Courier"/>
                        </a:rPr>
                        <a:t>[A-Z]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rgbClr val="0000FF"/>
                          </a:solidFill>
                          <a:latin typeface="Courier"/>
                          <a:cs typeface="Courier"/>
                        </a:rPr>
                        <a:t>P</a:t>
                      </a:r>
                      <a:r>
                        <a:rPr lang="en-US" u="none" dirty="0">
                          <a:solidFill>
                            <a:srgbClr val="000000"/>
                          </a:solidFill>
                          <a:latin typeface="Courier"/>
                          <a:cs typeface="Courier"/>
                        </a:rPr>
                        <a:t>alo</a:t>
                      </a:r>
                      <a:r>
                        <a:rPr lang="en-US" u="none" baseline="0" dirty="0">
                          <a:solidFill>
                            <a:srgbClr val="000000"/>
                          </a:solidFill>
                          <a:latin typeface="Courier"/>
                          <a:cs typeface="Courier"/>
                        </a:rPr>
                        <a:t> Alto</a:t>
                      </a:r>
                      <a:endParaRPr lang="en-US" u="none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C3300"/>
                          </a:solidFill>
                          <a:latin typeface="Courier"/>
                          <a:cs typeface="Courier"/>
                        </a:rPr>
                        <a:t>^</a:t>
                      </a:r>
                      <a:r>
                        <a:rPr lang="en-US" sz="1800" dirty="0">
                          <a:latin typeface="Courier"/>
                          <a:cs typeface="Courier"/>
                        </a:rPr>
                        <a:t>[^A-</a:t>
                      </a:r>
                      <a:r>
                        <a:rPr lang="en-US" sz="1800" dirty="0" err="1">
                          <a:latin typeface="Courier"/>
                          <a:cs typeface="Courier"/>
                        </a:rPr>
                        <a:t>Za</a:t>
                      </a:r>
                      <a:r>
                        <a:rPr lang="en-US" sz="1800" dirty="0">
                          <a:latin typeface="Courier"/>
                          <a:cs typeface="Courier"/>
                        </a:rPr>
                        <a:t>-z]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1</a:t>
                      </a:r>
                      <a:r>
                        <a:rPr lang="en-US" u="none" baseline="0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   </a:t>
                      </a:r>
                      <a:r>
                        <a:rPr lang="en-US" u="sng" baseline="0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“</a:t>
                      </a:r>
                      <a:r>
                        <a:rPr lang="en-US" u="sng" baseline="0" dirty="0">
                          <a:solidFill>
                            <a:srgbClr val="000000"/>
                          </a:solidFill>
                          <a:latin typeface="Courier"/>
                          <a:cs typeface="Courier"/>
                        </a:rPr>
                        <a:t>Hello”</a:t>
                      </a:r>
                      <a:endParaRPr lang="en-US" u="sng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"/>
                          <a:cs typeface="Courier"/>
                          <a:sym typeface="Wingdings" charset="2"/>
                        </a:rPr>
                        <a:t>\.</a:t>
                      </a:r>
                      <a:r>
                        <a:rPr lang="en-US" sz="1800" dirty="0">
                          <a:solidFill>
                            <a:srgbClr val="CC3300"/>
                          </a:solidFill>
                          <a:latin typeface="Courier"/>
                          <a:cs typeface="Courier"/>
                          <a:sym typeface="Wingdings" charset="2"/>
                        </a:rPr>
                        <a:t>$</a:t>
                      </a:r>
                      <a:r>
                        <a:rPr lang="en-US" sz="1800" dirty="0">
                          <a:latin typeface="Courier"/>
                          <a:cs typeface="Courier"/>
                          <a:sym typeface="Wingdings" charset="2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>
                          <a:solidFill>
                            <a:schemeClr val="tx1"/>
                          </a:solidFill>
                          <a:latin typeface="Courier"/>
                          <a:cs typeface="Courier"/>
                        </a:rPr>
                        <a:t>The end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.</a:t>
                      </a:r>
                      <a:endParaRPr lang="en-US" u="none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Courier"/>
                          <a:cs typeface="Courier"/>
                          <a:sym typeface="Wingdings" charset="2"/>
                        </a:rPr>
                        <a:t>.</a:t>
                      </a:r>
                      <a:r>
                        <a:rPr lang="en-US" sz="1800" dirty="0">
                          <a:solidFill>
                            <a:srgbClr val="CC3300"/>
                          </a:solidFill>
                          <a:latin typeface="Courier"/>
                          <a:cs typeface="Courier"/>
                          <a:sym typeface="Wingdings" charset="2"/>
                        </a:rPr>
                        <a:t>$</a:t>
                      </a:r>
                      <a:r>
                        <a:rPr lang="en-US" sz="1800" dirty="0">
                          <a:latin typeface="Courier"/>
                          <a:cs typeface="Courier"/>
                          <a:sym typeface="Wingdings" charset="2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u="none" dirty="0">
                          <a:solidFill>
                            <a:schemeClr val="tx1"/>
                          </a:solidFill>
                          <a:latin typeface="Courier"/>
                          <a:cs typeface="Courier"/>
                        </a:rPr>
                        <a:t>The end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?</a:t>
                      </a:r>
                      <a:r>
                        <a:rPr lang="en-US" u="none" baseline="0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  </a:t>
                      </a:r>
                      <a:r>
                        <a:rPr lang="en-US" u="none" dirty="0">
                          <a:solidFill>
                            <a:schemeClr val="tx1"/>
                          </a:solidFill>
                          <a:latin typeface="Courier"/>
                          <a:cs typeface="Courier"/>
                        </a:rPr>
                        <a:t>The end</a:t>
                      </a:r>
                      <a:r>
                        <a:rPr lang="en-US" u="sng" dirty="0">
                          <a:solidFill>
                            <a:srgbClr val="3366FF"/>
                          </a:solidFill>
                          <a:latin typeface="Courier"/>
                          <a:cs typeface="Courier"/>
                        </a:rPr>
                        <a:t>!</a:t>
                      </a:r>
                      <a:endParaRPr lang="en-US" u="none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u="none" dirty="0">
                        <a:solidFill>
                          <a:srgbClr val="000000"/>
                        </a:solidFill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607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Find me all instances of the word “the” in a text.</a:t>
            </a:r>
          </a:p>
          <a:p>
            <a:pPr marL="457200" lvl="1" indent="0" eaLnBrk="1" hangingPunct="1">
              <a:buNone/>
            </a:pPr>
            <a:r>
              <a:rPr lang="en-US" dirty="0">
                <a:solidFill>
                  <a:srgbClr val="A50021"/>
                </a:solidFill>
                <a:latin typeface="Courier"/>
                <a:cs typeface="Courier"/>
              </a:rPr>
              <a:t>the</a:t>
            </a:r>
          </a:p>
          <a:p>
            <a:pPr marL="800100" lvl="2" indent="0" eaLnBrk="1" hangingPunct="1">
              <a:buNone/>
            </a:pPr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                                                Misses capitalized examples</a:t>
            </a:r>
          </a:p>
          <a:p>
            <a:pPr marL="457200" lvl="1" indent="0" eaLnBrk="1" hangingPunct="1">
              <a:buNone/>
            </a:pPr>
            <a:r>
              <a:rPr lang="en-US" dirty="0">
                <a:solidFill>
                  <a:srgbClr val="009900"/>
                </a:solidFill>
                <a:latin typeface="Courier"/>
                <a:cs typeface="Courier"/>
              </a:rPr>
              <a:t>[</a:t>
            </a:r>
            <a:r>
              <a:rPr lang="en-US" dirty="0" err="1">
                <a:solidFill>
                  <a:srgbClr val="009900"/>
                </a:solidFill>
                <a:latin typeface="Courier"/>
                <a:cs typeface="Courier"/>
              </a:rPr>
              <a:t>tT</a:t>
            </a:r>
            <a:r>
              <a:rPr lang="en-US" dirty="0">
                <a:solidFill>
                  <a:srgbClr val="009900"/>
                </a:solidFill>
                <a:latin typeface="Courier"/>
                <a:cs typeface="Courier"/>
              </a:rPr>
              <a:t>]he</a:t>
            </a:r>
          </a:p>
          <a:p>
            <a:pPr marL="800100" lvl="2" indent="0" eaLnBrk="1" hangingPunct="1">
              <a:buNone/>
            </a:pPr>
            <a:r>
              <a:rPr lang="en-US" dirty="0">
                <a:latin typeface="Calibri"/>
                <a:cs typeface="Calibri"/>
              </a:rPr>
              <a:t>                                               </a:t>
            </a:r>
            <a:r>
              <a:rPr lang="en-US">
                <a:latin typeface="Calibri"/>
                <a:cs typeface="Calibri"/>
              </a:rPr>
              <a:t> Incorrectly </a:t>
            </a:r>
            <a:r>
              <a:rPr lang="en-US" dirty="0">
                <a:latin typeface="Calibri"/>
                <a:cs typeface="Calibri"/>
              </a:rPr>
              <a:t>returns </a:t>
            </a:r>
            <a:r>
              <a:rPr lang="en-US" dirty="0">
                <a:latin typeface="Courier"/>
                <a:cs typeface="Courier"/>
              </a:rPr>
              <a:t>other</a:t>
            </a:r>
            <a:r>
              <a:rPr lang="en-US" dirty="0">
                <a:latin typeface="Calibri"/>
                <a:cs typeface="Calibri"/>
              </a:rPr>
              <a:t> or </a:t>
            </a:r>
            <a:r>
              <a:rPr lang="en-US" dirty="0">
                <a:latin typeface="Courier"/>
                <a:cs typeface="Courier"/>
              </a:rPr>
              <a:t>theology</a:t>
            </a:r>
          </a:p>
          <a:p>
            <a:pPr marL="457200" lvl="1" indent="0" eaLnBrk="1" hangingPunct="1">
              <a:buNone/>
            </a:pPr>
            <a:r>
              <a:rPr lang="en-US" dirty="0">
                <a:solidFill>
                  <a:srgbClr val="0066FF"/>
                </a:solidFill>
                <a:latin typeface="Courier"/>
                <a:cs typeface="Courier"/>
              </a:rPr>
              <a:t>[^a-</a:t>
            </a:r>
            <a:r>
              <a:rPr lang="en-US" dirty="0" err="1">
                <a:solidFill>
                  <a:srgbClr val="0066FF"/>
                </a:solidFill>
                <a:latin typeface="Courier"/>
                <a:cs typeface="Courier"/>
              </a:rPr>
              <a:t>zA</a:t>
            </a:r>
            <a:r>
              <a:rPr lang="en-US" dirty="0">
                <a:solidFill>
                  <a:srgbClr val="0066FF"/>
                </a:solidFill>
                <a:latin typeface="Courier"/>
                <a:cs typeface="Courier"/>
              </a:rPr>
              <a:t>-Z]</a:t>
            </a:r>
            <a:r>
              <a:rPr lang="en-US" dirty="0">
                <a:solidFill>
                  <a:srgbClr val="CC3300"/>
                </a:solidFill>
                <a:latin typeface="Courier"/>
                <a:cs typeface="Courier"/>
              </a:rPr>
              <a:t>[</a:t>
            </a:r>
            <a:r>
              <a:rPr lang="en-US" dirty="0" err="1">
                <a:solidFill>
                  <a:srgbClr val="CC3300"/>
                </a:solidFill>
                <a:latin typeface="Courier"/>
                <a:cs typeface="Courier"/>
              </a:rPr>
              <a:t>tT</a:t>
            </a:r>
            <a:r>
              <a:rPr lang="en-US" dirty="0">
                <a:solidFill>
                  <a:srgbClr val="CC3300"/>
                </a:solidFill>
                <a:latin typeface="Courier"/>
                <a:cs typeface="Courier"/>
              </a:rPr>
              <a:t>]</a:t>
            </a:r>
            <a:r>
              <a:rPr lang="en-US" dirty="0">
                <a:latin typeface="Courier"/>
                <a:cs typeface="Courier"/>
              </a:rPr>
              <a:t>he</a:t>
            </a:r>
            <a:r>
              <a:rPr lang="en-US" dirty="0">
                <a:solidFill>
                  <a:srgbClr val="0066FF"/>
                </a:solidFill>
                <a:latin typeface="Courier"/>
                <a:cs typeface="Courier"/>
              </a:rPr>
              <a:t>[^a-</a:t>
            </a:r>
            <a:r>
              <a:rPr lang="en-US" dirty="0" err="1">
                <a:solidFill>
                  <a:srgbClr val="0066FF"/>
                </a:solidFill>
                <a:latin typeface="Courier"/>
                <a:cs typeface="Courier"/>
              </a:rPr>
              <a:t>zA</a:t>
            </a:r>
            <a:r>
              <a:rPr lang="en-US" dirty="0">
                <a:solidFill>
                  <a:srgbClr val="0066FF"/>
                </a:solidFill>
                <a:latin typeface="Courier"/>
                <a:cs typeface="Courier"/>
              </a:rPr>
              <a:t>-Z]</a:t>
            </a:r>
            <a:endParaRPr lang="en-US" dirty="0">
              <a:latin typeface="Courier"/>
              <a:cs typeface="Courier"/>
            </a:endParaRPr>
          </a:p>
          <a:p>
            <a:pPr marL="800100" lvl="2" indent="0" eaLnBrk="1" hangingPunct="1">
              <a:buNone/>
            </a:pPr>
            <a:r>
              <a:rPr lang="en-US" dirty="0">
                <a:latin typeface="Calibri"/>
                <a:cs typeface="Calibri"/>
              </a:rPr>
              <a:t>                                          </a:t>
            </a:r>
            <a:endParaRPr lang="en-US" dirty="0">
              <a:solidFill>
                <a:srgbClr val="CC00CC"/>
              </a:solidFill>
              <a:latin typeface="Courier New" charset="0"/>
            </a:endParaRPr>
          </a:p>
          <a:p>
            <a:pPr lvl="1" eaLnBrk="1" hangingPunct="1"/>
            <a:endParaRPr lang="en-US" dirty="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17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Errors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The process we just went through was based on </a:t>
            </a:r>
            <a:r>
              <a:rPr lang="en-US" sz="2800" dirty="0">
                <a:solidFill>
                  <a:srgbClr val="A50021"/>
                </a:solidFill>
              </a:rPr>
              <a:t>fixing two kinds of errors</a:t>
            </a:r>
          </a:p>
          <a:p>
            <a:pPr lvl="1" eaLnBrk="1" hangingPunct="1"/>
            <a:r>
              <a:rPr lang="en-US" sz="2400" dirty="0"/>
              <a:t>Matching strings that we should not have matched (</a:t>
            </a:r>
            <a:r>
              <a:rPr lang="en-US" sz="2400" dirty="0">
                <a:solidFill>
                  <a:srgbClr val="A50021"/>
                </a:solidFill>
              </a:rPr>
              <a:t>the</a:t>
            </a:r>
            <a:r>
              <a:rPr lang="en-US" sz="2400" dirty="0"/>
              <a:t>re, </a:t>
            </a:r>
            <a:r>
              <a:rPr lang="en-US" sz="2400" dirty="0">
                <a:solidFill>
                  <a:srgbClr val="A50021"/>
                </a:solidFill>
              </a:rPr>
              <a:t>the</a:t>
            </a:r>
            <a:r>
              <a:rPr lang="en-US" sz="2400" dirty="0"/>
              <a:t>n, o</a:t>
            </a:r>
            <a:r>
              <a:rPr lang="en-US" sz="2400" dirty="0">
                <a:solidFill>
                  <a:srgbClr val="A50021"/>
                </a:solidFill>
              </a:rPr>
              <a:t>the</a:t>
            </a:r>
            <a:r>
              <a:rPr lang="en-US" sz="2400" dirty="0"/>
              <a:t>r)</a:t>
            </a:r>
          </a:p>
          <a:p>
            <a:pPr lvl="2" eaLnBrk="1" hangingPunct="1"/>
            <a:r>
              <a:rPr lang="en-US" sz="2400" dirty="0">
                <a:solidFill>
                  <a:srgbClr val="A50021"/>
                </a:solidFill>
              </a:rPr>
              <a:t>False positives (Type I)</a:t>
            </a:r>
          </a:p>
          <a:p>
            <a:pPr lvl="1" eaLnBrk="1" hangingPunct="1"/>
            <a:r>
              <a:rPr lang="en-US" sz="2400" dirty="0"/>
              <a:t>Not matching things that we should have matched (The)</a:t>
            </a:r>
          </a:p>
          <a:p>
            <a:pPr lvl="2" eaLnBrk="1" hangingPunct="1"/>
            <a:r>
              <a:rPr lang="en-US" sz="2400" dirty="0">
                <a:solidFill>
                  <a:srgbClr val="A50021"/>
                </a:solidFill>
              </a:rPr>
              <a:t>False negatives (Type II)</a:t>
            </a:r>
          </a:p>
        </p:txBody>
      </p:sp>
    </p:spTree>
    <p:extLst>
      <p:ext uri="{BB962C8B-B14F-4D97-AF65-F5344CB8AC3E}">
        <p14:creationId xmlns:p14="http://schemas.microsoft.com/office/powerpoint/2010/main" val="58255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cont.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NLP we are always dealing with these kinds of errors.</a:t>
            </a:r>
          </a:p>
          <a:p>
            <a:r>
              <a:rPr lang="en-US" sz="2800" dirty="0"/>
              <a:t>Reducing the error rate for an application often involves two antagonistic efforts: </a:t>
            </a:r>
          </a:p>
          <a:p>
            <a:pPr lvl="1"/>
            <a:r>
              <a:rPr lang="en-US" sz="2400" dirty="0">
                <a:solidFill>
                  <a:srgbClr val="008000"/>
                </a:solidFill>
              </a:rPr>
              <a:t>Increasing accuracy or precision </a:t>
            </a:r>
            <a:r>
              <a:rPr lang="en-US" sz="2400" dirty="0"/>
              <a:t>(minimizing false positives)</a:t>
            </a:r>
          </a:p>
          <a:p>
            <a:pPr lvl="1"/>
            <a:r>
              <a:rPr lang="en-US" sz="2400" dirty="0">
                <a:solidFill>
                  <a:srgbClr val="008000"/>
                </a:solidFill>
              </a:rPr>
              <a:t>Increasing coverage or recall </a:t>
            </a:r>
            <a:r>
              <a:rPr lang="en-US" sz="2400" dirty="0"/>
              <a:t>(minimizing false negatives).</a:t>
            </a:r>
          </a:p>
        </p:txBody>
      </p:sp>
    </p:spTree>
    <p:extLst>
      <p:ext uri="{BB962C8B-B14F-4D97-AF65-F5344CB8AC3E}">
        <p14:creationId xmlns:p14="http://schemas.microsoft.com/office/powerpoint/2010/main" val="2926071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901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Regular expressions play a surprisingly large role</a:t>
            </a:r>
          </a:p>
          <a:p>
            <a:pPr lvl="1"/>
            <a:r>
              <a:rPr lang="en-US" dirty="0"/>
              <a:t>Sophisticated sequences of regular expressions are often the first model for any text processing text</a:t>
            </a:r>
          </a:p>
          <a:p>
            <a:r>
              <a:rPr lang="en-US" dirty="0"/>
              <a:t>For many hard tasks, we use machine learning classifiers</a:t>
            </a:r>
          </a:p>
          <a:p>
            <a:pPr lvl="1"/>
            <a:r>
              <a:rPr lang="en-US" dirty="0"/>
              <a:t>But regular expressions are used as features in the classifiers</a:t>
            </a:r>
          </a:p>
          <a:p>
            <a:pPr lvl="1"/>
            <a:r>
              <a:rPr lang="en-US" dirty="0"/>
              <a:t>Can be very useful in capturing generalizations</a:t>
            </a:r>
          </a:p>
          <a:p>
            <a:pPr lvl="1"/>
            <a:endParaRPr lang="en-US" dirty="0"/>
          </a:p>
        </p:txBody>
      </p:sp>
      <p:sp>
        <p:nvSpPr>
          <p:cNvPr id="901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B8C8334-E00B-3A45-A77B-332115BBC150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20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0" y="438150"/>
            <a:ext cx="3890964" cy="1371600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Calibri (Headings)"/>
                <a:ea typeface="ＭＳ Ｐゴシック" charset="0"/>
                <a:cs typeface="Calibri (Headings)"/>
              </a:rPr>
              <a:t>Basic Text Processing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285909202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648200" cy="1905000"/>
          </a:xfrm>
        </p:spPr>
        <p:txBody>
          <a:bodyPr/>
          <a:lstStyle/>
          <a:p>
            <a:r>
              <a:rPr lang="en-US" sz="4400" dirty="0"/>
              <a:t>Basic Text Processing</a:t>
            </a:r>
            <a:endParaRPr lang="en-US" sz="4400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A4001D"/>
                </a:solidFill>
                <a:latin typeface="Calibri" charset="0"/>
              </a:rPr>
              <a:t>Word tokenization</a:t>
            </a:r>
          </a:p>
          <a:p>
            <a:pPr eaLnBrk="1" hangingPunct="1">
              <a:buFont typeface="Times" charset="0"/>
              <a:buNone/>
            </a:pP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99545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6914"/>
            <a:ext cx="7772400" cy="857250"/>
          </a:xfrm>
        </p:spPr>
        <p:txBody>
          <a:bodyPr/>
          <a:lstStyle/>
          <a:p>
            <a:r>
              <a:rPr lang="en-US" dirty="0"/>
              <a:t>Text Normalization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971550"/>
            <a:ext cx="7772400" cy="3429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200" dirty="0"/>
              <a:t>Every NLP task needs to do text normalization: 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dirty="0"/>
              <a:t>Segmenting/tokenizing words in running text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dirty="0"/>
              <a:t>Normalizing word formats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800" dirty="0"/>
              <a:t>Segmenting sentences in running text</a:t>
            </a:r>
            <a:endParaRPr lang="en-US" sz="3200" b="1" dirty="0"/>
          </a:p>
          <a:p>
            <a:pPr lvl="1">
              <a:lnSpc>
                <a:spcPct val="90000"/>
              </a:lnSpc>
              <a:buFont typeface="Wingdings" charset="2"/>
              <a:buNone/>
            </a:pPr>
            <a:endParaRPr lang="en-US" sz="2000" b="1" dirty="0">
              <a:latin typeface="Courier" charset="0"/>
            </a:endParaRPr>
          </a:p>
          <a:p>
            <a:pPr>
              <a:lnSpc>
                <a:spcPct val="90000"/>
              </a:lnSpc>
            </a:pPr>
            <a:endParaRPr lang="en-US" sz="1800" b="1" dirty="0">
              <a:latin typeface="Courier" charset="0"/>
            </a:endParaRP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06790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words?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I do uh main- mainly business data processing</a:t>
            </a:r>
          </a:p>
          <a:p>
            <a:pPr lvl="1"/>
            <a:r>
              <a:rPr lang="en-US" sz="2400" dirty="0"/>
              <a:t>Fragments, filled pauses</a:t>
            </a:r>
          </a:p>
          <a:p>
            <a:r>
              <a:rPr lang="en-US" sz="2800" dirty="0"/>
              <a:t>Seuss’s </a:t>
            </a:r>
            <a:r>
              <a:rPr lang="en-US" sz="2800" dirty="0">
                <a:solidFill>
                  <a:srgbClr val="FF0000"/>
                </a:solidFill>
              </a:rPr>
              <a:t>cat </a:t>
            </a:r>
            <a:r>
              <a:rPr lang="en-US" sz="2800" dirty="0"/>
              <a:t>in the hat is different from other</a:t>
            </a:r>
            <a:r>
              <a:rPr lang="en-US" sz="2800" dirty="0">
                <a:solidFill>
                  <a:srgbClr val="FF0000"/>
                </a:solidFill>
              </a:rPr>
              <a:t> cats! </a:t>
            </a:r>
            <a:endParaRPr lang="en-US" sz="2800" dirty="0"/>
          </a:p>
          <a:p>
            <a:pPr lvl="1"/>
            <a:r>
              <a:rPr lang="en-US" sz="2400" b="1" dirty="0"/>
              <a:t>Lemma</a:t>
            </a:r>
            <a:r>
              <a:rPr lang="en-US" sz="2400" dirty="0"/>
              <a:t>: same stem, part of speech, rough word sense</a:t>
            </a:r>
          </a:p>
          <a:p>
            <a:pPr lvl="2"/>
            <a:r>
              <a:rPr lang="en-US" sz="2000" dirty="0">
                <a:solidFill>
                  <a:srgbClr val="FF0000"/>
                </a:solidFill>
              </a:rPr>
              <a:t>cat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FF0000"/>
                </a:solidFill>
              </a:rPr>
              <a:t>cats </a:t>
            </a:r>
            <a:r>
              <a:rPr lang="en-US" sz="2000" dirty="0"/>
              <a:t>= same lemma</a:t>
            </a:r>
          </a:p>
          <a:p>
            <a:pPr lvl="1"/>
            <a:r>
              <a:rPr lang="en-US" sz="2400" b="1" dirty="0" err="1"/>
              <a:t>Wordform</a:t>
            </a:r>
            <a:r>
              <a:rPr lang="en-US" sz="2400" dirty="0"/>
              <a:t>: the full inflected surface form</a:t>
            </a:r>
          </a:p>
          <a:p>
            <a:pPr lvl="2"/>
            <a:r>
              <a:rPr lang="en-US" sz="2000" dirty="0">
                <a:solidFill>
                  <a:srgbClr val="FF0000"/>
                </a:solidFill>
              </a:rPr>
              <a:t>cat </a:t>
            </a:r>
            <a:r>
              <a:rPr lang="en-US" sz="2000" dirty="0"/>
              <a:t>and </a:t>
            </a:r>
            <a:r>
              <a:rPr lang="en-US" sz="2000" dirty="0">
                <a:solidFill>
                  <a:srgbClr val="FF0000"/>
                </a:solidFill>
              </a:rPr>
              <a:t>cats </a:t>
            </a:r>
            <a:r>
              <a:rPr lang="en-US" sz="2000" dirty="0"/>
              <a:t>= different </a:t>
            </a:r>
            <a:r>
              <a:rPr lang="en-US" sz="2000" dirty="0" err="1"/>
              <a:t>wordforms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7791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many words?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14450"/>
            <a:ext cx="8534400" cy="3543300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they lay back on the San Francisco grass and looked at the stars and their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Type</a:t>
            </a:r>
            <a:r>
              <a:rPr lang="en-US" dirty="0">
                <a:solidFill>
                  <a:srgbClr val="000000"/>
                </a:solidFill>
              </a:rPr>
              <a:t>: an element of the vocabulary.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b="1" dirty="0">
                <a:solidFill>
                  <a:srgbClr val="000000"/>
                </a:solidFill>
              </a:rPr>
              <a:t>Token</a:t>
            </a:r>
            <a:r>
              <a:rPr lang="en-US" dirty="0">
                <a:solidFill>
                  <a:srgbClr val="000000"/>
                </a:solidFill>
              </a:rPr>
              <a:t>: an instance of that type in running text.</a:t>
            </a:r>
          </a:p>
          <a:p>
            <a:r>
              <a:rPr lang="en-US" dirty="0"/>
              <a:t>How many?</a:t>
            </a:r>
          </a:p>
          <a:p>
            <a:pPr lvl="1"/>
            <a:r>
              <a:rPr lang="en-US" dirty="0"/>
              <a:t>15 tokens (or 14)</a:t>
            </a:r>
          </a:p>
          <a:p>
            <a:pPr lvl="1"/>
            <a:r>
              <a:rPr lang="en-US" dirty="0"/>
              <a:t>13 types (or 12) (or 11?)</a:t>
            </a:r>
          </a:p>
        </p:txBody>
      </p:sp>
    </p:spTree>
    <p:extLst>
      <p:ext uri="{BB962C8B-B14F-4D97-AF65-F5344CB8AC3E}">
        <p14:creationId xmlns:p14="http://schemas.microsoft.com/office/powerpoint/2010/main" val="377522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many words?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28750"/>
            <a:ext cx="8458200" cy="38862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N</a:t>
            </a:r>
            <a:r>
              <a:rPr lang="en-US" dirty="0"/>
              <a:t> = number of tokens</a:t>
            </a:r>
          </a:p>
          <a:p>
            <a:pPr marL="0" indent="0">
              <a:buNone/>
            </a:pPr>
            <a:r>
              <a:rPr lang="en-US" b="1" i="1" dirty="0"/>
              <a:t>V</a:t>
            </a:r>
            <a:r>
              <a:rPr lang="en-US" dirty="0"/>
              <a:t> = vocabulary = set of types</a:t>
            </a:r>
          </a:p>
          <a:p>
            <a:pPr marL="457200" lvl="1" indent="0">
              <a:buNone/>
            </a:pPr>
            <a:r>
              <a:rPr lang="en-US" sz="1800" dirty="0"/>
              <a:t>|</a:t>
            </a:r>
            <a:r>
              <a:rPr lang="en-US" sz="1800" i="1" dirty="0"/>
              <a:t>V</a:t>
            </a:r>
            <a:r>
              <a:rPr lang="en-US" sz="1800" dirty="0"/>
              <a:t>|</a:t>
            </a:r>
            <a:r>
              <a:rPr lang="en-US" sz="1800" i="1" dirty="0"/>
              <a:t> </a:t>
            </a:r>
            <a:r>
              <a:rPr lang="en-US" sz="1800" dirty="0"/>
              <a:t>is the size of the vocabulary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989096"/>
              </p:ext>
            </p:extLst>
          </p:nvPr>
        </p:nvGraphicFramePr>
        <p:xfrm>
          <a:off x="838200" y="2952750"/>
          <a:ext cx="7010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 =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Types = |V|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Switchboard phone</a:t>
                      </a:r>
                      <a:r>
                        <a:rPr lang="en-US" baseline="0" dirty="0"/>
                        <a:t> conversations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r>
                        <a:rPr lang="en-US" baseline="0" dirty="0"/>
                        <a:t> thousand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Shakespeare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  <a:r>
                        <a:rPr lang="en-US" baseline="0" dirty="0"/>
                        <a:t> thousand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Google N-grams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trillion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495800" y="1657350"/>
            <a:ext cx="43201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/>
                <a:cs typeface="Calibri"/>
              </a:rPr>
              <a:t>Church and Gale (1990)</a:t>
            </a:r>
            <a:r>
              <a:rPr lang="en-US" dirty="0">
                <a:latin typeface="Calibri"/>
                <a:cs typeface="Calibri"/>
              </a:rPr>
              <a:t>: |V| &gt; O(N</a:t>
            </a:r>
            <a:r>
              <a:rPr lang="en-US" baseline="30000" dirty="0">
                <a:latin typeface="Calibri"/>
                <a:cs typeface="Calibri"/>
              </a:rPr>
              <a:t>½</a:t>
            </a:r>
            <a:r>
              <a:rPr lang="en-US" dirty="0">
                <a:latin typeface="Calibri"/>
                <a:cs typeface="Calibri"/>
              </a:rPr>
              <a:t>)</a:t>
            </a:r>
          </a:p>
          <a:p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833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Tokenization in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790950"/>
          </a:xfrm>
        </p:spPr>
        <p:txBody>
          <a:bodyPr/>
          <a:lstStyle/>
          <a:p>
            <a:r>
              <a:rPr lang="en-US" dirty="0"/>
              <a:t>(Inspired by Ken Church’s UNIX for Poets.)</a:t>
            </a:r>
          </a:p>
          <a:p>
            <a:r>
              <a:rPr lang="en-US" dirty="0"/>
              <a:t>Given a text file, output the word tokens and their frequencies</a:t>
            </a:r>
          </a:p>
          <a:p>
            <a:pPr marL="0" indent="0">
              <a:buNone/>
            </a:pPr>
            <a:r>
              <a:rPr lang="fr-FR" sz="2000" dirty="0">
                <a:latin typeface="Courier"/>
                <a:cs typeface="Courier"/>
              </a:rPr>
              <a:t>tr -</a:t>
            </a:r>
            <a:r>
              <a:rPr lang="fr-FR" sz="2000" dirty="0" err="1">
                <a:latin typeface="Courier"/>
                <a:cs typeface="Courier"/>
              </a:rPr>
              <a:t>sc</a:t>
            </a:r>
            <a:r>
              <a:rPr lang="fr-FR" sz="2000" dirty="0">
                <a:latin typeface="Courier"/>
                <a:cs typeface="Courier"/>
              </a:rPr>
              <a:t> ’A-</a:t>
            </a:r>
            <a:r>
              <a:rPr lang="fr-FR" sz="2000" dirty="0" err="1">
                <a:latin typeface="Courier"/>
                <a:cs typeface="Courier"/>
              </a:rPr>
              <a:t>Za</a:t>
            </a:r>
            <a:r>
              <a:rPr lang="fr-FR" sz="2000" dirty="0">
                <a:latin typeface="Courier"/>
                <a:cs typeface="Courier"/>
              </a:rPr>
              <a:t>-z’ ’\n’ &lt; </a:t>
            </a:r>
            <a:r>
              <a:rPr lang="fr-FR" sz="2000" dirty="0" err="1">
                <a:latin typeface="Courier"/>
                <a:cs typeface="Courier"/>
              </a:rPr>
              <a:t>shakes.txt</a:t>
            </a:r>
            <a:r>
              <a:rPr lang="fr-FR" sz="2000" dirty="0">
                <a:latin typeface="Courier"/>
                <a:cs typeface="Courier"/>
              </a:rPr>
              <a:t> </a:t>
            </a:r>
          </a:p>
          <a:p>
            <a:pPr marL="0" indent="0">
              <a:buNone/>
            </a:pPr>
            <a:r>
              <a:rPr lang="fr-FR" sz="2000" dirty="0">
                <a:latin typeface="Courier"/>
                <a:cs typeface="Courier"/>
              </a:rPr>
              <a:t>     | </a:t>
            </a:r>
            <a:r>
              <a:rPr lang="en-US" sz="2000" dirty="0">
                <a:latin typeface="Courier"/>
                <a:cs typeface="Courier"/>
              </a:rPr>
              <a:t>sort </a:t>
            </a:r>
          </a:p>
          <a:p>
            <a:pPr marL="0" indent="0">
              <a:buNone/>
            </a:pPr>
            <a:r>
              <a:rPr lang="en-US" sz="2000" dirty="0">
                <a:latin typeface="Courier"/>
                <a:cs typeface="Courier"/>
              </a:rPr>
              <a:t>     | </a:t>
            </a:r>
            <a:r>
              <a:rPr lang="en-US" sz="2000" dirty="0" err="1">
                <a:latin typeface="Courier"/>
                <a:cs typeface="Courier"/>
              </a:rPr>
              <a:t>uniq</a:t>
            </a:r>
            <a:r>
              <a:rPr lang="en-US" sz="2000" dirty="0">
                <a:latin typeface="Courier"/>
                <a:cs typeface="Courier"/>
              </a:rPr>
              <a:t> –c </a:t>
            </a:r>
          </a:p>
          <a:p>
            <a:pPr marL="0" indent="0"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1945 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  72 AARON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  19 ABBESS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   5 ABBOT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 ... ...</a:t>
            </a:r>
          </a:p>
          <a:p>
            <a:pPr marL="0" indent="0">
              <a:buNone/>
            </a:pPr>
            <a:r>
              <a:rPr lang="it-IT" sz="1200" dirty="0">
                <a:latin typeface="Courier"/>
                <a:cs typeface="Courier"/>
              </a:rPr>
              <a:t> </a:t>
            </a:r>
            <a:r>
              <a:rPr lang="en-US" sz="1200" dirty="0">
                <a:latin typeface="Courier"/>
                <a:cs typeface="Courier"/>
              </a:rPr>
              <a:t>  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05000" y="3543062"/>
            <a:ext cx="115432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it-IT" sz="1400" dirty="0">
                <a:latin typeface="Courier"/>
                <a:cs typeface="Courier"/>
              </a:rPr>
              <a:t>25 Aaron</a:t>
            </a:r>
          </a:p>
          <a:p>
            <a:pPr marL="0" indent="0">
              <a:buNone/>
            </a:pPr>
            <a:r>
              <a:rPr lang="it-IT" sz="1400" dirty="0">
                <a:latin typeface="Courier"/>
                <a:cs typeface="Courier"/>
              </a:rPr>
              <a:t> 6 Abate</a:t>
            </a:r>
          </a:p>
          <a:p>
            <a:pPr marL="0" indent="0">
              <a:buNone/>
            </a:pPr>
            <a:r>
              <a:rPr lang="it-IT" sz="1400" dirty="0">
                <a:latin typeface="Courier"/>
                <a:cs typeface="Courier"/>
              </a:rPr>
              <a:t> 1 </a:t>
            </a:r>
            <a:r>
              <a:rPr lang="it-IT" sz="1400" dirty="0" err="1">
                <a:latin typeface="Courier"/>
                <a:cs typeface="Courier"/>
              </a:rPr>
              <a:t>Abates</a:t>
            </a:r>
            <a:endParaRPr lang="it-IT" sz="1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400" dirty="0">
                <a:latin typeface="Courier"/>
                <a:cs typeface="Courier"/>
              </a:rPr>
              <a:t> 5 </a:t>
            </a:r>
            <a:r>
              <a:rPr lang="it-IT" sz="1400" dirty="0" err="1">
                <a:latin typeface="Courier"/>
                <a:cs typeface="Courier"/>
              </a:rPr>
              <a:t>Abbess</a:t>
            </a:r>
            <a:endParaRPr lang="it-IT" sz="1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400" dirty="0">
                <a:latin typeface="Courier"/>
                <a:cs typeface="Courier"/>
              </a:rPr>
              <a:t> 6 Abbey</a:t>
            </a:r>
          </a:p>
          <a:p>
            <a:pPr marL="0" indent="0">
              <a:buNone/>
            </a:pPr>
            <a:r>
              <a:rPr lang="it-IT" sz="1400" dirty="0">
                <a:latin typeface="Courier"/>
                <a:cs typeface="Courier"/>
              </a:rPr>
              <a:t> 3 Abbot</a:t>
            </a:r>
            <a:endParaRPr lang="en-US" sz="1400" dirty="0">
              <a:latin typeface="+mn-lt"/>
            </a:endParaRPr>
          </a:p>
          <a:p>
            <a:pPr marL="0" indent="0">
              <a:buNone/>
            </a:pPr>
            <a:r>
              <a:rPr lang="en-US" sz="1400" dirty="0">
                <a:latin typeface="+mn-lt"/>
                <a:cs typeface="Courier"/>
              </a:rPr>
              <a:t>....   …</a:t>
            </a:r>
            <a:endParaRPr lang="en-US" sz="1400" dirty="0">
              <a:latin typeface="Courier"/>
              <a:cs typeface="Courier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715000" y="2266950"/>
            <a:ext cx="3429000" cy="304800"/>
          </a:xfrm>
          <a:prstGeom prst="rect">
            <a:avLst/>
          </a:prstGeom>
          <a:solidFill>
            <a:srgbClr val="FFCC66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Change all non-alpha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to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 newlines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667000" y="2647950"/>
            <a:ext cx="2743200" cy="304800"/>
          </a:xfrm>
          <a:prstGeom prst="rect">
            <a:avLst/>
          </a:prstGeom>
          <a:solidFill>
            <a:srgbClr val="FFCC66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Sort in alphabetical order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048000" y="3028950"/>
            <a:ext cx="2971800" cy="304800"/>
          </a:xfrm>
          <a:prstGeom prst="rect">
            <a:avLst/>
          </a:prstGeom>
          <a:solidFill>
            <a:srgbClr val="FFCC66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Merge and count each type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66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step: tokenizing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000" dirty="0">
                <a:latin typeface="Courier"/>
                <a:cs typeface="Courier"/>
              </a:rPr>
              <a:t>tr -</a:t>
            </a:r>
            <a:r>
              <a:rPr lang="fr-FR" sz="2000" dirty="0" err="1">
                <a:latin typeface="Courier"/>
                <a:cs typeface="Courier"/>
              </a:rPr>
              <a:t>sc</a:t>
            </a:r>
            <a:r>
              <a:rPr lang="fr-FR" sz="2000" dirty="0">
                <a:latin typeface="Courier"/>
                <a:cs typeface="Courier"/>
              </a:rPr>
              <a:t> ’A-</a:t>
            </a:r>
            <a:r>
              <a:rPr lang="fr-FR" sz="2000" dirty="0" err="1">
                <a:latin typeface="Courier"/>
                <a:cs typeface="Courier"/>
              </a:rPr>
              <a:t>Za</a:t>
            </a:r>
            <a:r>
              <a:rPr lang="fr-FR" sz="2000" dirty="0">
                <a:latin typeface="Courier"/>
                <a:cs typeface="Courier"/>
              </a:rPr>
              <a:t>-z’ ’\n’ &lt; </a:t>
            </a:r>
            <a:r>
              <a:rPr lang="fr-FR" sz="2000" dirty="0" err="1">
                <a:latin typeface="Courier"/>
                <a:cs typeface="Courier"/>
              </a:rPr>
              <a:t>shakes.txt</a:t>
            </a:r>
            <a:r>
              <a:rPr lang="fr-FR" sz="2000" dirty="0">
                <a:latin typeface="Courier"/>
                <a:cs typeface="Courier"/>
              </a:rPr>
              <a:t> | </a:t>
            </a:r>
            <a:r>
              <a:rPr lang="fr-FR" sz="2000" dirty="0" err="1">
                <a:latin typeface="Courier"/>
                <a:cs typeface="Courier"/>
              </a:rPr>
              <a:t>head</a:t>
            </a:r>
            <a:endParaRPr lang="fr-FR" sz="20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fr-FR" sz="1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400" dirty="0">
                <a:latin typeface="Courier"/>
                <a:cs typeface="Courier"/>
              </a:rPr>
              <a:t>THE</a:t>
            </a:r>
          </a:p>
          <a:p>
            <a:pPr marL="0" indent="0">
              <a:buNone/>
            </a:pPr>
            <a:r>
              <a:rPr lang="fr-FR" sz="1400" dirty="0">
                <a:latin typeface="Courier"/>
                <a:cs typeface="Courier"/>
              </a:rPr>
              <a:t>SONNETS</a:t>
            </a:r>
          </a:p>
          <a:p>
            <a:pPr marL="0" indent="0">
              <a:buNone/>
            </a:pPr>
            <a:r>
              <a:rPr lang="fr-FR" sz="1400" dirty="0">
                <a:latin typeface="Courier"/>
                <a:cs typeface="Courier"/>
              </a:rPr>
              <a:t>by</a:t>
            </a:r>
          </a:p>
          <a:p>
            <a:pPr marL="0" indent="0">
              <a:buNone/>
            </a:pPr>
            <a:r>
              <a:rPr lang="fr-FR" sz="1400" dirty="0">
                <a:latin typeface="Courier"/>
                <a:cs typeface="Courier"/>
              </a:rPr>
              <a:t>William</a:t>
            </a:r>
          </a:p>
          <a:p>
            <a:pPr marL="0" indent="0">
              <a:buNone/>
            </a:pPr>
            <a:r>
              <a:rPr lang="fr-FR" sz="1400" dirty="0">
                <a:latin typeface="Courier"/>
                <a:cs typeface="Courier"/>
              </a:rPr>
              <a:t>Shakespeare</a:t>
            </a:r>
          </a:p>
          <a:p>
            <a:pPr marL="0" indent="0">
              <a:buNone/>
            </a:pPr>
            <a:r>
              <a:rPr lang="fr-FR" sz="1400" dirty="0" err="1">
                <a:latin typeface="Courier"/>
                <a:cs typeface="Courier"/>
              </a:rPr>
              <a:t>From</a:t>
            </a:r>
            <a:endParaRPr lang="fr-FR" sz="1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400" dirty="0" err="1">
                <a:latin typeface="Courier"/>
                <a:cs typeface="Courier"/>
              </a:rPr>
              <a:t>fairest</a:t>
            </a:r>
            <a:endParaRPr lang="fr-FR" sz="1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400" dirty="0" err="1">
                <a:latin typeface="Courier"/>
                <a:cs typeface="Courier"/>
              </a:rPr>
              <a:t>creatures</a:t>
            </a:r>
            <a:endParaRPr lang="fr-FR" sz="1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W</a:t>
            </a:r>
            <a:r>
              <a:rPr lang="fr-FR" sz="1400" dirty="0">
                <a:latin typeface="Courier"/>
                <a:cs typeface="Courier"/>
              </a:rPr>
              <a:t>e</a:t>
            </a:r>
          </a:p>
          <a:p>
            <a:pPr marL="0" indent="0">
              <a:buNone/>
            </a:pPr>
            <a:r>
              <a:rPr lang="fr-FR" sz="1400" dirty="0">
                <a:latin typeface="Courier"/>
                <a:cs typeface="Courier"/>
              </a:rPr>
              <a:t>...</a:t>
            </a:r>
            <a:r>
              <a:rPr lang="it-IT" sz="1000" dirty="0">
                <a:latin typeface="Courier"/>
                <a:cs typeface="Courier"/>
              </a:rPr>
              <a:t> </a:t>
            </a:r>
            <a:r>
              <a:rPr lang="en-US" sz="1000" dirty="0">
                <a:latin typeface="Courier"/>
                <a:cs typeface="Courier"/>
              </a:rPr>
              <a:t>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88748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step: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000" dirty="0">
                <a:latin typeface="Courier"/>
                <a:cs typeface="Courier"/>
              </a:rPr>
              <a:t>tr -</a:t>
            </a:r>
            <a:r>
              <a:rPr lang="fr-FR" sz="2000" dirty="0" err="1">
                <a:latin typeface="Courier"/>
                <a:cs typeface="Courier"/>
              </a:rPr>
              <a:t>sc</a:t>
            </a:r>
            <a:r>
              <a:rPr lang="fr-FR" sz="2000" dirty="0">
                <a:latin typeface="Courier"/>
                <a:cs typeface="Courier"/>
              </a:rPr>
              <a:t> ’A-</a:t>
            </a:r>
            <a:r>
              <a:rPr lang="fr-FR" sz="2000" dirty="0" err="1">
                <a:latin typeface="Courier"/>
                <a:cs typeface="Courier"/>
              </a:rPr>
              <a:t>Za</a:t>
            </a:r>
            <a:r>
              <a:rPr lang="fr-FR" sz="2000" dirty="0">
                <a:latin typeface="Courier"/>
                <a:cs typeface="Courier"/>
              </a:rPr>
              <a:t>-z’ ’\n’ &lt; </a:t>
            </a:r>
            <a:r>
              <a:rPr lang="fr-FR" sz="2000" dirty="0" err="1">
                <a:latin typeface="Courier"/>
                <a:cs typeface="Courier"/>
              </a:rPr>
              <a:t>shakes.txt</a:t>
            </a:r>
            <a:r>
              <a:rPr lang="fr-FR" sz="2000" dirty="0">
                <a:latin typeface="Courier"/>
                <a:cs typeface="Courier"/>
              </a:rPr>
              <a:t> | sort | </a:t>
            </a:r>
            <a:r>
              <a:rPr lang="fr-FR" sz="2000" dirty="0" err="1">
                <a:latin typeface="Courier"/>
                <a:cs typeface="Courier"/>
              </a:rPr>
              <a:t>head</a:t>
            </a:r>
            <a:endParaRPr lang="fr-FR" sz="20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fr-FR" sz="14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A</a:t>
            </a:r>
          </a:p>
          <a:p>
            <a:pPr marL="0" indent="0">
              <a:buNone/>
            </a:pPr>
            <a:r>
              <a:rPr lang="en-US" sz="1400" dirty="0">
                <a:latin typeface="Courier"/>
                <a:cs typeface="Courier"/>
              </a:rPr>
              <a:t>...</a:t>
            </a:r>
            <a:r>
              <a:rPr lang="en-US" sz="1000" dirty="0">
                <a:latin typeface="Courier"/>
                <a:cs typeface="Courier"/>
              </a:rPr>
              <a:t>  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75960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/>
              <a:t>More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23950"/>
            <a:ext cx="8763000" cy="3333750"/>
          </a:xfrm>
        </p:spPr>
        <p:txBody>
          <a:bodyPr/>
          <a:lstStyle/>
          <a:p>
            <a:r>
              <a:rPr lang="en-US" dirty="0"/>
              <a:t>Merging upper and lower case</a:t>
            </a:r>
            <a:endParaRPr lang="en-US" sz="12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1600" dirty="0" err="1">
                <a:latin typeface="Courier"/>
                <a:cs typeface="Courier"/>
              </a:rPr>
              <a:t>tr</a:t>
            </a:r>
            <a:r>
              <a:rPr lang="en-US" sz="1600" dirty="0">
                <a:latin typeface="Courier"/>
                <a:cs typeface="Courier"/>
              </a:rPr>
              <a:t> ‘A-Z’ ‘a-z</a:t>
            </a:r>
            <a:r>
              <a:rPr lang="fr-FR" sz="1600" dirty="0">
                <a:latin typeface="Courier"/>
                <a:cs typeface="Courier"/>
              </a:rPr>
              <a:t>’ &lt; </a:t>
            </a:r>
            <a:r>
              <a:rPr lang="fr-FR" sz="1600" dirty="0" err="1">
                <a:latin typeface="Courier"/>
                <a:cs typeface="Courier"/>
              </a:rPr>
              <a:t>shakes.txt</a:t>
            </a:r>
            <a:r>
              <a:rPr lang="fr-FR" sz="1600" dirty="0">
                <a:latin typeface="Courier"/>
                <a:cs typeface="Courier"/>
              </a:rPr>
              <a:t> | tr </a:t>
            </a:r>
            <a:r>
              <a:rPr lang="en-US" sz="1600" dirty="0">
                <a:latin typeface="Courier"/>
                <a:cs typeface="Courier"/>
              </a:rPr>
              <a:t>–</a:t>
            </a:r>
            <a:r>
              <a:rPr lang="fr-FR" sz="1600" dirty="0" err="1">
                <a:latin typeface="Courier"/>
                <a:cs typeface="Courier"/>
              </a:rPr>
              <a:t>sc</a:t>
            </a:r>
            <a:r>
              <a:rPr lang="fr-FR" sz="1600" dirty="0">
                <a:latin typeface="Courier"/>
                <a:cs typeface="Courier"/>
              </a:rPr>
              <a:t> ‘A-</a:t>
            </a:r>
            <a:r>
              <a:rPr lang="fr-FR" sz="1600" dirty="0" err="1">
                <a:latin typeface="Courier"/>
                <a:cs typeface="Courier"/>
              </a:rPr>
              <a:t>Za</a:t>
            </a:r>
            <a:r>
              <a:rPr lang="fr-FR" sz="1600" dirty="0">
                <a:latin typeface="Courier"/>
                <a:cs typeface="Courier"/>
              </a:rPr>
              <a:t>-z’ ‘\n’ | sort | </a:t>
            </a:r>
            <a:r>
              <a:rPr lang="fr-FR" sz="1600" dirty="0" err="1">
                <a:latin typeface="Courier"/>
                <a:cs typeface="Courier"/>
              </a:rPr>
              <a:t>uniq</a:t>
            </a:r>
            <a:r>
              <a:rPr lang="fr-FR" sz="1600" dirty="0">
                <a:latin typeface="Courier"/>
                <a:cs typeface="Courier"/>
              </a:rPr>
              <a:t> </a:t>
            </a:r>
            <a:r>
              <a:rPr lang="en-US" sz="1600" dirty="0">
                <a:latin typeface="Courier"/>
                <a:cs typeface="Courier"/>
              </a:rPr>
              <a:t>–</a:t>
            </a:r>
            <a:r>
              <a:rPr lang="fr-FR" sz="1600" dirty="0">
                <a:latin typeface="Courier"/>
                <a:cs typeface="Courier"/>
              </a:rPr>
              <a:t>c </a:t>
            </a:r>
            <a:endParaRPr lang="en-US" dirty="0"/>
          </a:p>
          <a:p>
            <a:r>
              <a:rPr lang="en-US" dirty="0"/>
              <a:t>Sorting the counts</a:t>
            </a:r>
          </a:p>
          <a:p>
            <a:pPr marL="0" indent="0">
              <a:buNone/>
            </a:pPr>
            <a:r>
              <a:rPr lang="en-US" sz="1400" dirty="0" err="1">
                <a:latin typeface="Courier"/>
                <a:cs typeface="Courier"/>
              </a:rPr>
              <a:t>tr</a:t>
            </a:r>
            <a:r>
              <a:rPr lang="en-US" sz="1400" dirty="0">
                <a:latin typeface="Courier"/>
                <a:cs typeface="Courier"/>
              </a:rPr>
              <a:t> ‘A-Z’ ‘a-z</a:t>
            </a:r>
            <a:r>
              <a:rPr lang="fr-FR" sz="1400" dirty="0">
                <a:latin typeface="Courier"/>
                <a:cs typeface="Courier"/>
              </a:rPr>
              <a:t>’ &lt; </a:t>
            </a:r>
            <a:r>
              <a:rPr lang="fr-FR" sz="1400" dirty="0" err="1">
                <a:latin typeface="Courier"/>
                <a:cs typeface="Courier"/>
              </a:rPr>
              <a:t>shakes.txt</a:t>
            </a:r>
            <a:r>
              <a:rPr lang="fr-FR" sz="1400" dirty="0">
                <a:latin typeface="Courier"/>
                <a:cs typeface="Courier"/>
              </a:rPr>
              <a:t> | tr </a:t>
            </a:r>
            <a:r>
              <a:rPr lang="en-US" sz="1400" dirty="0">
                <a:latin typeface="Courier"/>
                <a:cs typeface="Courier"/>
              </a:rPr>
              <a:t>–</a:t>
            </a:r>
            <a:r>
              <a:rPr lang="fr-FR" sz="1400" dirty="0" err="1">
                <a:latin typeface="Courier"/>
                <a:cs typeface="Courier"/>
              </a:rPr>
              <a:t>sc</a:t>
            </a:r>
            <a:r>
              <a:rPr lang="fr-FR" sz="1400" dirty="0">
                <a:latin typeface="Courier"/>
                <a:cs typeface="Courier"/>
              </a:rPr>
              <a:t> ‘A-</a:t>
            </a:r>
            <a:r>
              <a:rPr lang="fr-FR" sz="1400" dirty="0" err="1">
                <a:latin typeface="Courier"/>
                <a:cs typeface="Courier"/>
              </a:rPr>
              <a:t>Za</a:t>
            </a:r>
            <a:r>
              <a:rPr lang="fr-FR" sz="1400" dirty="0">
                <a:latin typeface="Courier"/>
                <a:cs typeface="Courier"/>
              </a:rPr>
              <a:t>-z’ ‘\n’ | sort | </a:t>
            </a:r>
            <a:r>
              <a:rPr lang="fr-FR" sz="1400" dirty="0" err="1">
                <a:latin typeface="Courier"/>
                <a:cs typeface="Courier"/>
              </a:rPr>
              <a:t>uniq</a:t>
            </a:r>
            <a:r>
              <a:rPr lang="fr-FR" sz="1400" dirty="0">
                <a:latin typeface="Courier"/>
                <a:cs typeface="Courier"/>
              </a:rPr>
              <a:t> </a:t>
            </a:r>
            <a:r>
              <a:rPr lang="en-US" sz="1400" dirty="0">
                <a:latin typeface="Courier"/>
                <a:cs typeface="Courier"/>
              </a:rPr>
              <a:t>–</a:t>
            </a:r>
            <a:r>
              <a:rPr lang="fr-FR" sz="1400" dirty="0">
                <a:latin typeface="Courier"/>
                <a:cs typeface="Courier"/>
              </a:rPr>
              <a:t>c | sort </a:t>
            </a:r>
            <a:r>
              <a:rPr lang="en-US" sz="1400" dirty="0">
                <a:latin typeface="Courier"/>
                <a:cs typeface="Courier"/>
              </a:rPr>
              <a:t>–</a:t>
            </a:r>
            <a:r>
              <a:rPr lang="fr-FR" sz="1400" dirty="0">
                <a:latin typeface="Courier"/>
                <a:cs typeface="Courier"/>
              </a:rPr>
              <a:t>n </a:t>
            </a:r>
            <a:r>
              <a:rPr lang="en-US" sz="1400" dirty="0">
                <a:latin typeface="Courier"/>
                <a:cs typeface="Courier"/>
              </a:rPr>
              <a:t>–</a:t>
            </a:r>
            <a:r>
              <a:rPr lang="fr-FR" sz="1400" dirty="0">
                <a:latin typeface="Courier"/>
                <a:cs typeface="Courier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2608610"/>
            <a:ext cx="1292842" cy="2562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23243 the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22225 </a:t>
            </a:r>
            <a:r>
              <a:rPr lang="en-US" sz="1600" dirty="0" err="1">
                <a:latin typeface="Courier"/>
                <a:cs typeface="Courier"/>
              </a:rPr>
              <a:t>i</a:t>
            </a:r>
            <a:endParaRPr lang="en-US" sz="16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18618 and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16339 to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15687 of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12780 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12163 you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10839 my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10005 in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Courier"/>
                <a:cs typeface="Courier"/>
              </a:rPr>
              <a:t>8954  d</a:t>
            </a:r>
          </a:p>
          <a:p>
            <a:pPr>
              <a:lnSpc>
                <a:spcPct val="90000"/>
              </a:lnSpc>
            </a:pPr>
            <a:endParaRPr lang="en-US" sz="1800" dirty="0">
              <a:latin typeface="+mn-lt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648200" y="3867150"/>
            <a:ext cx="3429000" cy="609600"/>
          </a:xfrm>
          <a:prstGeom prst="wedgeRoundRectCallout">
            <a:avLst>
              <a:gd name="adj1" fmla="val -105310"/>
              <a:gd name="adj2" fmla="val 108014"/>
              <a:gd name="adj3" fmla="val 16667"/>
            </a:avLst>
          </a:prstGeom>
          <a:solidFill>
            <a:srgbClr val="FFCC66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What happened here?</a:t>
            </a:r>
          </a:p>
        </p:txBody>
      </p:sp>
    </p:spTree>
    <p:extLst>
      <p:ext uri="{BB962C8B-B14F-4D97-AF65-F5344CB8AC3E}">
        <p14:creationId xmlns:p14="http://schemas.microsoft.com/office/powerpoint/2010/main" val="11230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Issues in Tokenization</a:t>
            </a:r>
          </a:p>
        </p:txBody>
      </p:sp>
      <p:sp>
        <p:nvSpPr>
          <p:cNvPr id="26627" name="Rectangle 2051"/>
          <p:cNvSpPr>
            <a:spLocks noGrp="1" noChangeArrowheads="1"/>
          </p:cNvSpPr>
          <p:nvPr>
            <p:ph sz="quarter" idx="1"/>
          </p:nvPr>
        </p:nvSpPr>
        <p:spPr>
          <a:xfrm>
            <a:off x="304800" y="1352550"/>
            <a:ext cx="8839200" cy="3333750"/>
          </a:xfrm>
        </p:spPr>
        <p:txBody>
          <a:bodyPr/>
          <a:lstStyle/>
          <a:p>
            <a:r>
              <a:rPr lang="en-US" sz="2000" dirty="0">
                <a:latin typeface="Courier"/>
                <a:cs typeface="Courier"/>
              </a:rPr>
              <a:t>Finland’s capital </a:t>
            </a:r>
            <a:r>
              <a:rPr lang="en-US" sz="2000" dirty="0">
                <a:latin typeface="Courier"/>
                <a:cs typeface="Courier"/>
                <a:sym typeface="Symbol" charset="2"/>
              </a:rPr>
              <a:t>   </a:t>
            </a:r>
            <a:r>
              <a:rPr lang="en-US" sz="2000" i="1" dirty="0">
                <a:latin typeface="Courier"/>
                <a:cs typeface="Courier"/>
                <a:sym typeface="Symbol" charset="2"/>
              </a:rPr>
              <a:t>  </a:t>
            </a:r>
            <a:r>
              <a:rPr lang="en-US" sz="2000" dirty="0">
                <a:latin typeface="Courier"/>
                <a:cs typeface="Courier"/>
                <a:sym typeface="Symbol" charset="2"/>
              </a:rPr>
              <a:t>Finland </a:t>
            </a:r>
            <a:r>
              <a:rPr lang="en-US" sz="2000" dirty="0" err="1">
                <a:latin typeface="Courier"/>
                <a:cs typeface="Courier"/>
                <a:sym typeface="Symbol" charset="2"/>
              </a:rPr>
              <a:t>Finlands</a:t>
            </a:r>
            <a:r>
              <a:rPr lang="en-US" sz="2000" dirty="0">
                <a:latin typeface="Courier"/>
                <a:cs typeface="Courier"/>
                <a:sym typeface="Symbol" charset="2"/>
              </a:rPr>
              <a:t> Finland’s </a:t>
            </a:r>
            <a:r>
              <a:rPr lang="en-US" sz="2000" dirty="0">
                <a:latin typeface="Calibri"/>
                <a:cs typeface="Calibri"/>
                <a:sym typeface="Symbol" charset="2"/>
              </a:rPr>
              <a:t> </a:t>
            </a:r>
            <a:r>
              <a:rPr lang="en-US" sz="2000" i="1" dirty="0">
                <a:latin typeface="Calibri"/>
                <a:cs typeface="Calibri"/>
                <a:sym typeface="Symbol" charset="2"/>
              </a:rPr>
              <a:t>?</a:t>
            </a:r>
            <a:endParaRPr lang="en-US" sz="2000" dirty="0">
              <a:latin typeface="Calibri"/>
              <a:cs typeface="Calibri"/>
              <a:sym typeface="Symbol" charset="2"/>
            </a:endParaRPr>
          </a:p>
          <a:p>
            <a:r>
              <a:rPr lang="en-US" sz="2000" dirty="0">
                <a:latin typeface="Courier"/>
                <a:cs typeface="Courier"/>
              </a:rPr>
              <a:t>what’re, I’m, isn’t  </a:t>
            </a:r>
            <a:r>
              <a:rPr lang="en-US" sz="2000" dirty="0">
                <a:latin typeface="Courier"/>
                <a:cs typeface="Courier"/>
                <a:sym typeface="Symbol" charset="2"/>
              </a:rPr>
              <a:t></a:t>
            </a:r>
            <a:r>
              <a:rPr lang="en-US" sz="2000" i="1" dirty="0">
                <a:latin typeface="Courier"/>
                <a:cs typeface="Courier"/>
              </a:rPr>
              <a:t>  </a:t>
            </a:r>
            <a:r>
              <a:rPr lang="en-US" sz="2000" dirty="0">
                <a:latin typeface="Courier"/>
                <a:cs typeface="Courier"/>
                <a:sym typeface="Symbol" charset="2"/>
              </a:rPr>
              <a:t>What are, I am, is not</a:t>
            </a:r>
          </a:p>
          <a:p>
            <a:r>
              <a:rPr lang="en-US" sz="2000" dirty="0">
                <a:latin typeface="Courier"/>
                <a:cs typeface="Courier"/>
                <a:sym typeface="Symbol" charset="2"/>
              </a:rPr>
              <a:t>Hewlett-Packard        Hewlett Packard </a:t>
            </a:r>
            <a:r>
              <a:rPr lang="en-US" sz="2000" dirty="0">
                <a:cs typeface="Calibri"/>
                <a:sym typeface="Symbol" charset="2"/>
              </a:rPr>
              <a:t>?</a:t>
            </a:r>
            <a:endParaRPr lang="en-US" sz="2000" dirty="0">
              <a:latin typeface="Courier"/>
              <a:cs typeface="Courier"/>
              <a:sym typeface="Symbol" charset="2"/>
            </a:endParaRPr>
          </a:p>
          <a:p>
            <a:r>
              <a:rPr lang="en-US" sz="2000" dirty="0">
                <a:latin typeface="Courier"/>
                <a:cs typeface="Courier"/>
                <a:sym typeface="Symbol" charset="2"/>
              </a:rPr>
              <a:t>state-of-the-art       state of the art </a:t>
            </a:r>
            <a:r>
              <a:rPr lang="en-US" sz="2000" dirty="0">
                <a:latin typeface="Calibri"/>
                <a:cs typeface="Calibri"/>
                <a:sym typeface="Symbol" charset="2"/>
              </a:rPr>
              <a:t>?</a:t>
            </a:r>
          </a:p>
          <a:p>
            <a:r>
              <a:rPr lang="en-US" sz="2000" dirty="0">
                <a:latin typeface="Courier"/>
                <a:cs typeface="Courier"/>
                <a:sym typeface="Symbol" charset="2"/>
              </a:rPr>
              <a:t>Lowercase		  lower-case lowercase lower case </a:t>
            </a:r>
            <a:r>
              <a:rPr lang="en-US" sz="2000" dirty="0">
                <a:latin typeface="Calibri"/>
                <a:cs typeface="Calibri"/>
                <a:sym typeface="Symbol" charset="2"/>
              </a:rPr>
              <a:t>?</a:t>
            </a:r>
          </a:p>
          <a:p>
            <a:r>
              <a:rPr lang="en-US" sz="2000" dirty="0">
                <a:latin typeface="Courier"/>
                <a:cs typeface="Courier"/>
                <a:sym typeface="Symbol" charset="2"/>
              </a:rPr>
              <a:t>San Francisco	  </a:t>
            </a:r>
            <a:r>
              <a:rPr lang="en-US" sz="2200" dirty="0">
                <a:latin typeface="Calibri"/>
                <a:cs typeface="Calibri"/>
                <a:sym typeface="Symbol" charset="2"/>
              </a:rPr>
              <a:t>one token or two?</a:t>
            </a:r>
          </a:p>
          <a:p>
            <a:r>
              <a:rPr lang="en-US" sz="2000" dirty="0">
                <a:latin typeface="Calibri"/>
                <a:cs typeface="Calibri"/>
                <a:sym typeface="Symbol" charset="2"/>
              </a:rPr>
              <a:t>m.p.h., PhD.		</a:t>
            </a:r>
            <a:r>
              <a:rPr lang="en-US" sz="2000" dirty="0">
                <a:latin typeface="Courier"/>
                <a:cs typeface="Courier"/>
                <a:sym typeface="Symbol" charset="2"/>
              </a:rPr>
              <a:t>  </a:t>
            </a:r>
            <a:r>
              <a:rPr lang="en-US" sz="2000" dirty="0">
                <a:latin typeface="Calibri"/>
                <a:cs typeface="Calibri"/>
                <a:sym typeface="Symbol" charset="2"/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9644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Tokenization: language issues</a:t>
            </a:r>
          </a:p>
        </p:txBody>
      </p:sp>
      <p:sp>
        <p:nvSpPr>
          <p:cNvPr id="27651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304800" y="1352550"/>
            <a:ext cx="8534400" cy="3581400"/>
          </a:xfrm>
        </p:spPr>
        <p:txBody>
          <a:bodyPr/>
          <a:lstStyle/>
          <a:p>
            <a:pPr eaLnBrk="1" hangingPunct="1"/>
            <a:r>
              <a:rPr lang="en-US" dirty="0"/>
              <a:t>French</a:t>
            </a:r>
          </a:p>
          <a:p>
            <a:pPr lvl="1" eaLnBrk="1" hangingPunct="1"/>
            <a:r>
              <a:rPr lang="en-US" b="1" i="1" dirty="0" err="1"/>
              <a:t>L'ensemble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 one token or two?</a:t>
            </a:r>
          </a:p>
          <a:p>
            <a:pPr lvl="2" eaLnBrk="1" hangingPunct="1"/>
            <a:r>
              <a:rPr lang="en-US" b="1" i="1" dirty="0">
                <a:sym typeface="Symbol" charset="2"/>
              </a:rPr>
              <a:t>L </a:t>
            </a:r>
            <a:r>
              <a:rPr lang="en-US" dirty="0">
                <a:sym typeface="Symbol" charset="2"/>
              </a:rPr>
              <a:t>? </a:t>
            </a:r>
            <a:r>
              <a:rPr lang="en-US" b="1" i="1" dirty="0">
                <a:sym typeface="Symbol" charset="2"/>
              </a:rPr>
              <a:t>L’ </a:t>
            </a:r>
            <a:r>
              <a:rPr lang="en-US" dirty="0">
                <a:sym typeface="Symbol" charset="2"/>
              </a:rPr>
              <a:t>? </a:t>
            </a:r>
            <a:r>
              <a:rPr lang="en-US" b="1" i="1" dirty="0">
                <a:sym typeface="Symbol" charset="2"/>
              </a:rPr>
              <a:t>Le </a:t>
            </a:r>
            <a:r>
              <a:rPr lang="en-US" dirty="0">
                <a:sym typeface="Symbol" charset="2"/>
              </a:rPr>
              <a:t>?</a:t>
            </a:r>
          </a:p>
          <a:p>
            <a:pPr lvl="2" eaLnBrk="1" hangingPunct="1"/>
            <a:r>
              <a:rPr lang="en-US" dirty="0">
                <a:sym typeface="Symbol" charset="2"/>
              </a:rPr>
              <a:t>Want </a:t>
            </a:r>
            <a:r>
              <a:rPr lang="en-US" b="1" i="1" dirty="0" err="1">
                <a:sym typeface="Symbol" charset="2"/>
              </a:rPr>
              <a:t>l’ensemble</a:t>
            </a:r>
            <a:r>
              <a:rPr lang="en-US" dirty="0">
                <a:sym typeface="Symbol" charset="2"/>
              </a:rPr>
              <a:t> to match with </a:t>
            </a:r>
            <a:r>
              <a:rPr lang="en-US" b="1" i="1" dirty="0">
                <a:sym typeface="Symbol" charset="2"/>
              </a:rPr>
              <a:t>un ensemble</a:t>
            </a:r>
          </a:p>
          <a:p>
            <a:pPr lvl="1" eaLnBrk="1" hangingPunct="1"/>
            <a:endParaRPr lang="en-US" b="1" i="1" dirty="0">
              <a:sym typeface="Symbol" charset="2"/>
            </a:endParaRPr>
          </a:p>
          <a:p>
            <a:pPr eaLnBrk="1" hangingPunct="1"/>
            <a:r>
              <a:rPr lang="en-US" dirty="0">
                <a:sym typeface="Symbol" charset="2"/>
              </a:rPr>
              <a:t>German noun compounds are not segmented</a:t>
            </a:r>
          </a:p>
          <a:p>
            <a:pPr lvl="1" eaLnBrk="1" hangingPunct="1"/>
            <a:r>
              <a:rPr lang="en-US" sz="2000" b="1" i="1" dirty="0" err="1">
                <a:sym typeface="Symbol" charset="2"/>
              </a:rPr>
              <a:t>Lebensversicherungsgesellschaftsangestellter</a:t>
            </a:r>
            <a:endParaRPr lang="en-US" sz="2000" b="1" i="1" dirty="0">
              <a:sym typeface="Symbol" charset="2"/>
            </a:endParaRPr>
          </a:p>
          <a:p>
            <a:pPr lvl="1" eaLnBrk="1" hangingPunct="1"/>
            <a:r>
              <a:rPr lang="en-US" sz="2000" dirty="0">
                <a:sym typeface="Symbol" charset="2"/>
              </a:rPr>
              <a:t>‘life insurance company employee’</a:t>
            </a:r>
          </a:p>
          <a:p>
            <a:pPr lvl="1" eaLnBrk="1" hangingPunct="1"/>
            <a:r>
              <a:rPr lang="en-US" sz="2000" dirty="0">
                <a:sym typeface="Symbol" charset="2"/>
              </a:rPr>
              <a:t>German information retrieval needs </a:t>
            </a:r>
            <a:r>
              <a:rPr lang="en-US" sz="2000" b="1" dirty="0">
                <a:sym typeface="Symbol" charset="2"/>
              </a:rPr>
              <a:t>compound splitter</a:t>
            </a:r>
            <a:endParaRPr lang="en-US" sz="2000" dirty="0"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9001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19200" y="-171450"/>
            <a:ext cx="7772400" cy="857250"/>
          </a:xfrm>
        </p:spPr>
        <p:txBody>
          <a:bodyPr/>
          <a:lstStyle/>
          <a:p>
            <a:pPr eaLnBrk="1" hangingPunct="1"/>
            <a:r>
              <a:rPr lang="en-US" dirty="0"/>
              <a:t>Tokenization: language issues</a:t>
            </a:r>
          </a:p>
        </p:txBody>
      </p:sp>
      <p:sp>
        <p:nvSpPr>
          <p:cNvPr id="1255427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219200" y="800100"/>
            <a:ext cx="8610600" cy="4343400"/>
          </a:xfrm>
        </p:spPr>
        <p:txBody>
          <a:bodyPr/>
          <a:lstStyle/>
          <a:p>
            <a:pPr eaLnBrk="1" hangingPunct="1"/>
            <a:r>
              <a:rPr lang="en-US" dirty="0">
                <a:sym typeface="Symbol" charset="2"/>
              </a:rPr>
              <a:t>Chinese and Japanese no spaces between words:</a:t>
            </a:r>
          </a:p>
          <a:p>
            <a:pPr lvl="1" eaLnBrk="1" hangingPunct="1"/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莎拉波娃现在居住在美国东南部的佛罗里达。</a:t>
            </a:r>
            <a:endParaRPr lang="en-US" altLang="ja-JP" dirty="0">
              <a:latin typeface="华文黑体"/>
              <a:ea typeface="华文黑体"/>
              <a:cs typeface="华文黑体"/>
              <a:sym typeface="Symbol" charset="2"/>
            </a:endParaRPr>
          </a:p>
          <a:p>
            <a:pPr lvl="1" eaLnBrk="1" hangingPunct="1"/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莎拉波娃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现在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居住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在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美国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东南部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的</a:t>
            </a:r>
            <a:r>
              <a:rPr lang="en-US" altLang="ja-JP" dirty="0">
                <a:latin typeface="华文黑体"/>
                <a:ea typeface="华文黑体"/>
                <a:cs typeface="华文黑体"/>
                <a:sym typeface="Symbol" charset="2"/>
              </a:rPr>
              <a:t>    </a:t>
            </a:r>
            <a:r>
              <a:rPr lang="ja-JP" altLang="en-US" dirty="0">
                <a:latin typeface="华文黑体"/>
                <a:ea typeface="华文黑体"/>
                <a:cs typeface="华文黑体"/>
                <a:sym typeface="Symbol" charset="2"/>
              </a:rPr>
              <a:t>佛罗里达</a:t>
            </a:r>
          </a:p>
          <a:p>
            <a:pPr lvl="1" eaLnBrk="1" hangingPunct="1"/>
            <a:r>
              <a:rPr lang="en-US" dirty="0" err="1">
                <a:solidFill>
                  <a:srgbClr val="595959"/>
                </a:solidFill>
                <a:sym typeface="Symbol" charset="2"/>
              </a:rPr>
              <a:t>Sharapova</a:t>
            </a:r>
            <a:r>
              <a:rPr lang="en-US" dirty="0">
                <a:solidFill>
                  <a:srgbClr val="595959"/>
                </a:solidFill>
                <a:sym typeface="Symbol" charset="2"/>
              </a:rPr>
              <a:t> now     lives in       US       southeastern     Florida</a:t>
            </a:r>
          </a:p>
          <a:p>
            <a:pPr eaLnBrk="1" hangingPunct="1"/>
            <a:r>
              <a:rPr lang="en-US" dirty="0">
                <a:sym typeface="Symbol" charset="2"/>
              </a:rPr>
              <a:t>Further complicated in Japanese, with multiple alphabets intermingled</a:t>
            </a:r>
          </a:p>
          <a:p>
            <a:pPr lvl="1" eaLnBrk="1" hangingPunct="1"/>
            <a:r>
              <a:rPr lang="en-US" dirty="0">
                <a:sym typeface="Symbol" charset="2"/>
              </a:rPr>
              <a:t>Dates/amounts in multiple formats</a:t>
            </a:r>
          </a:p>
        </p:txBody>
      </p:sp>
      <p:sp>
        <p:nvSpPr>
          <p:cNvPr id="1255437" name="Text Box 1037"/>
          <p:cNvSpPr txBox="1">
            <a:spLocks noChangeArrowheads="1"/>
          </p:cNvSpPr>
          <p:nvPr/>
        </p:nvSpPr>
        <p:spPr bwMode="auto">
          <a:xfrm>
            <a:off x="381000" y="3638550"/>
            <a:ext cx="830727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lvl="1">
              <a:spcBef>
                <a:spcPct val="20000"/>
              </a:spcBef>
              <a:buClr>
                <a:schemeClr val="tx1"/>
              </a:buClr>
              <a:buSzPct val="55000"/>
              <a:buFont typeface="Wingdings" charset="2"/>
              <a:buNone/>
            </a:pPr>
            <a:r>
              <a:rPr lang="ja-JP" altLang="en-US" sz="2100" b="1" i="1" dirty="0"/>
              <a:t>フォーチュン</a:t>
            </a:r>
            <a:r>
              <a:rPr lang="en-US" altLang="ja-JP" sz="2100" b="1" i="1" dirty="0"/>
              <a:t>500</a:t>
            </a:r>
            <a:r>
              <a:rPr lang="ja-JP" altLang="en-US" sz="2100" b="1" i="1" dirty="0"/>
              <a:t>社は情報不足のため時間あた</a:t>
            </a:r>
            <a:r>
              <a:rPr lang="en-US" altLang="ja-JP" sz="2100" b="1" i="1" dirty="0"/>
              <a:t>$500K(</a:t>
            </a:r>
            <a:r>
              <a:rPr lang="ja-JP" altLang="en-US" sz="2100" b="1" i="1" dirty="0"/>
              <a:t>約</a:t>
            </a:r>
            <a:r>
              <a:rPr lang="en-US" altLang="ja-JP" sz="2100" b="1" i="1" dirty="0"/>
              <a:t>6,000</a:t>
            </a:r>
            <a:r>
              <a:rPr lang="ja-JP" altLang="en-US" sz="2100" b="1" i="1" dirty="0"/>
              <a:t>万円</a:t>
            </a:r>
            <a:r>
              <a:rPr lang="en-US" altLang="ja-JP" sz="2100" b="1" i="1" dirty="0"/>
              <a:t>)</a:t>
            </a:r>
            <a:endParaRPr lang="en-US" sz="2100" b="1" i="1" dirty="0"/>
          </a:p>
        </p:txBody>
      </p:sp>
      <p:grpSp>
        <p:nvGrpSpPr>
          <p:cNvPr id="28677" name="Group 1032"/>
          <p:cNvGrpSpPr>
            <a:grpSpLocks/>
          </p:cNvGrpSpPr>
          <p:nvPr/>
        </p:nvGrpSpPr>
        <p:grpSpPr bwMode="auto">
          <a:xfrm>
            <a:off x="1676401" y="4229100"/>
            <a:ext cx="5435600" cy="400050"/>
            <a:chOff x="422" y="3792"/>
            <a:chExt cx="3424" cy="336"/>
          </a:xfrm>
        </p:grpSpPr>
        <p:sp>
          <p:nvSpPr>
            <p:cNvPr id="28691" name="Text Box 1028"/>
            <p:cNvSpPr txBox="1">
              <a:spLocks noChangeArrowheads="1"/>
            </p:cNvSpPr>
            <p:nvPr/>
          </p:nvSpPr>
          <p:spPr bwMode="auto">
            <a:xfrm>
              <a:off x="422" y="3792"/>
              <a:ext cx="722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>
                  <a:latin typeface="Calibri"/>
                  <a:cs typeface="Calibri"/>
                </a:rPr>
                <a:t>Katakana</a:t>
              </a:r>
            </a:p>
          </p:txBody>
        </p:sp>
        <p:sp>
          <p:nvSpPr>
            <p:cNvPr id="28692" name="Text Box 1029"/>
            <p:cNvSpPr txBox="1">
              <a:spLocks noChangeArrowheads="1"/>
            </p:cNvSpPr>
            <p:nvPr/>
          </p:nvSpPr>
          <p:spPr bwMode="auto">
            <a:xfrm>
              <a:off x="1499" y="3792"/>
              <a:ext cx="703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>
                  <a:latin typeface="Calibri"/>
                  <a:cs typeface="Calibri"/>
                </a:rPr>
                <a:t>Hiragana</a:t>
              </a:r>
            </a:p>
          </p:txBody>
        </p:sp>
        <p:sp>
          <p:nvSpPr>
            <p:cNvPr id="28693" name="Text Box 1030"/>
            <p:cNvSpPr txBox="1">
              <a:spLocks noChangeArrowheads="1"/>
            </p:cNvSpPr>
            <p:nvPr/>
          </p:nvSpPr>
          <p:spPr bwMode="auto">
            <a:xfrm>
              <a:off x="2603" y="3792"/>
              <a:ext cx="438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>
                  <a:latin typeface="Calibri"/>
                  <a:cs typeface="Calibri"/>
                </a:rPr>
                <a:t>Kanji</a:t>
              </a:r>
            </a:p>
          </p:txBody>
        </p:sp>
        <p:sp>
          <p:nvSpPr>
            <p:cNvPr id="28694" name="Text Box 1031"/>
            <p:cNvSpPr txBox="1">
              <a:spLocks noChangeArrowheads="1"/>
            </p:cNvSpPr>
            <p:nvPr/>
          </p:nvSpPr>
          <p:spPr bwMode="auto">
            <a:xfrm>
              <a:off x="3275" y="3792"/>
              <a:ext cx="571" cy="336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000" dirty="0" err="1">
                  <a:latin typeface="Calibri"/>
                  <a:cs typeface="Calibri"/>
                </a:rPr>
                <a:t>Romaji</a:t>
              </a:r>
              <a:endParaRPr lang="en-US" sz="2000" dirty="0">
                <a:latin typeface="Calibri"/>
                <a:cs typeface="Calibri"/>
              </a:endParaRPr>
            </a:p>
          </p:txBody>
        </p:sp>
      </p:grpSp>
      <p:sp>
        <p:nvSpPr>
          <p:cNvPr id="28678" name="Rectangle 1040"/>
          <p:cNvSpPr>
            <a:spLocks noChangeArrowheads="1"/>
          </p:cNvSpPr>
          <p:nvPr/>
        </p:nvSpPr>
        <p:spPr bwMode="auto">
          <a:xfrm>
            <a:off x="914400" y="3600005"/>
            <a:ext cx="14478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8679" name="AutoShape 1041"/>
          <p:cNvCxnSpPr>
            <a:cxnSpLocks noChangeShapeType="1"/>
            <a:stCxn id="28691" idx="0"/>
            <a:endCxn id="28678" idx="2"/>
          </p:cNvCxnSpPr>
          <p:nvPr/>
        </p:nvCxnSpPr>
        <p:spPr bwMode="auto">
          <a:xfrm flipH="1" flipV="1">
            <a:off x="1638300" y="4061670"/>
            <a:ext cx="611189" cy="1674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8680" name="Rectangle 1044"/>
          <p:cNvSpPr>
            <a:spLocks noChangeArrowheads="1"/>
          </p:cNvSpPr>
          <p:nvPr/>
        </p:nvSpPr>
        <p:spPr bwMode="auto">
          <a:xfrm>
            <a:off x="4724400" y="3600005"/>
            <a:ext cx="5334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8681" name="AutoShape 1045"/>
          <p:cNvCxnSpPr>
            <a:cxnSpLocks noChangeShapeType="1"/>
            <a:stCxn id="28692" idx="0"/>
            <a:endCxn id="28680" idx="2"/>
          </p:cNvCxnSpPr>
          <p:nvPr/>
        </p:nvCxnSpPr>
        <p:spPr bwMode="auto">
          <a:xfrm flipV="1">
            <a:off x="3944146" y="4061670"/>
            <a:ext cx="1046954" cy="1674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8682" name="Rectangle 1046"/>
          <p:cNvSpPr>
            <a:spLocks noChangeArrowheads="1"/>
          </p:cNvSpPr>
          <p:nvPr/>
        </p:nvSpPr>
        <p:spPr bwMode="auto">
          <a:xfrm>
            <a:off x="5257800" y="3600005"/>
            <a:ext cx="5334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8683" name="AutoShape 1047"/>
          <p:cNvCxnSpPr>
            <a:cxnSpLocks noChangeShapeType="1"/>
            <a:stCxn id="28693" idx="0"/>
            <a:endCxn id="28682" idx="2"/>
          </p:cNvCxnSpPr>
          <p:nvPr/>
        </p:nvCxnSpPr>
        <p:spPr bwMode="auto">
          <a:xfrm flipV="1">
            <a:off x="5486402" y="4061670"/>
            <a:ext cx="38098" cy="16743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8684" name="Rectangle 1048"/>
          <p:cNvSpPr>
            <a:spLocks noChangeArrowheads="1"/>
          </p:cNvSpPr>
          <p:nvPr/>
        </p:nvSpPr>
        <p:spPr bwMode="auto">
          <a:xfrm>
            <a:off x="6934200" y="3569643"/>
            <a:ext cx="228600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28685" name="AutoShape 1049"/>
          <p:cNvCxnSpPr>
            <a:cxnSpLocks noChangeShapeType="1"/>
            <a:stCxn id="28694" idx="0"/>
            <a:endCxn id="28684" idx="2"/>
          </p:cNvCxnSpPr>
          <p:nvPr/>
        </p:nvCxnSpPr>
        <p:spPr bwMode="auto">
          <a:xfrm flipV="1">
            <a:off x="6658771" y="4031308"/>
            <a:ext cx="389729" cy="19779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1255451" name="Text Box 1051"/>
          <p:cNvSpPr txBox="1">
            <a:spLocks noChangeArrowheads="1"/>
          </p:cNvSpPr>
          <p:nvPr/>
        </p:nvSpPr>
        <p:spPr bwMode="auto">
          <a:xfrm>
            <a:off x="1062038" y="4629150"/>
            <a:ext cx="62020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End-user can express query entirely in hiragana!</a:t>
            </a:r>
          </a:p>
        </p:txBody>
      </p:sp>
    </p:spTree>
    <p:extLst>
      <p:ext uri="{BB962C8B-B14F-4D97-AF65-F5344CB8AC3E}">
        <p14:creationId xmlns:p14="http://schemas.microsoft.com/office/powerpoint/2010/main" val="274567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5437" grpId="0"/>
      <p:bldP spid="28678" grpId="0" animBg="1"/>
      <p:bldP spid="28680" grpId="0" animBg="1"/>
      <p:bldP spid="28682" grpId="0" animBg="1"/>
      <p:bldP spid="28684" grpId="0" animBg="1"/>
      <p:bldP spid="12554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Tokenization in Chinese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Also called </a:t>
            </a:r>
            <a:r>
              <a:rPr lang="en-US" b="1" dirty="0"/>
              <a:t>Word Segmentation</a:t>
            </a:r>
          </a:p>
          <a:p>
            <a:r>
              <a:rPr lang="en-US" dirty="0"/>
              <a:t>Chinese words are composed of characters</a:t>
            </a:r>
          </a:p>
          <a:p>
            <a:pPr lvl="1"/>
            <a:r>
              <a:rPr lang="en-US" dirty="0"/>
              <a:t>Characters are generally 1 syllable and 1 morpheme.</a:t>
            </a:r>
          </a:p>
          <a:p>
            <a:pPr lvl="1"/>
            <a:r>
              <a:rPr lang="en-US" dirty="0"/>
              <a:t>Average word is 2.4 characters long.</a:t>
            </a:r>
          </a:p>
          <a:p>
            <a:r>
              <a:rPr lang="en-US" dirty="0"/>
              <a:t>Standard baseline segmentation algorithm: </a:t>
            </a:r>
          </a:p>
          <a:p>
            <a:pPr lvl="1"/>
            <a:r>
              <a:rPr lang="en-US" dirty="0"/>
              <a:t>Maximum Matching  (also called Greedy)</a:t>
            </a:r>
          </a:p>
        </p:txBody>
      </p:sp>
    </p:spTree>
    <p:extLst>
      <p:ext uri="{BB962C8B-B14F-4D97-AF65-F5344CB8AC3E}">
        <p14:creationId xmlns:p14="http://schemas.microsoft.com/office/powerpoint/2010/main" val="1627273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Maximum Matching</a:t>
            </a:r>
            <a:br>
              <a:rPr lang="en-US"/>
            </a:br>
            <a:r>
              <a:rPr lang="en-US"/>
              <a:t>Word Segmentation Algorithm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533400" indent="-533400"/>
            <a:r>
              <a:rPr lang="en-US"/>
              <a:t>Given a wordlist of Chinese, and a string.</a:t>
            </a:r>
          </a:p>
          <a:p>
            <a:pPr marL="533400" indent="-533400">
              <a:buClr>
                <a:schemeClr val="tx1"/>
              </a:buClr>
              <a:buFont typeface="Arial" charset="0"/>
              <a:buAutoNum type="arabicParenR"/>
            </a:pPr>
            <a:r>
              <a:rPr lang="en-US"/>
              <a:t>Start a pointer at the beginning of the string</a:t>
            </a:r>
          </a:p>
          <a:p>
            <a:pPr marL="533400" indent="-533400">
              <a:buClr>
                <a:schemeClr val="tx1"/>
              </a:buClr>
              <a:buFont typeface="Arial" charset="0"/>
              <a:buAutoNum type="arabicParenR"/>
            </a:pPr>
            <a:r>
              <a:rPr lang="en-US"/>
              <a:t>Find the longest word in dictionary that matches the string starting at pointer</a:t>
            </a:r>
          </a:p>
          <a:p>
            <a:pPr marL="533400" indent="-533400">
              <a:buClr>
                <a:schemeClr val="tx1"/>
              </a:buClr>
              <a:buFont typeface="Arial" charset="0"/>
              <a:buAutoNum type="arabicParenR"/>
            </a:pPr>
            <a:r>
              <a:rPr lang="en-US"/>
              <a:t>Move the pointer over the word in string</a:t>
            </a:r>
          </a:p>
          <a:p>
            <a:pPr marL="533400" indent="-533400">
              <a:buClr>
                <a:schemeClr val="tx1"/>
              </a:buClr>
              <a:buFont typeface="Arial" charset="0"/>
              <a:buAutoNum type="arabicParenR"/>
            </a:pPr>
            <a:r>
              <a:rPr lang="en-US"/>
              <a:t>Go to 2</a:t>
            </a:r>
          </a:p>
        </p:txBody>
      </p:sp>
    </p:spTree>
    <p:extLst>
      <p:ext uri="{BB962C8B-B14F-4D97-AF65-F5344CB8AC3E}">
        <p14:creationId xmlns:p14="http://schemas.microsoft.com/office/powerpoint/2010/main" val="5101748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-171450"/>
            <a:ext cx="7772400" cy="857250"/>
          </a:xfrm>
        </p:spPr>
        <p:txBody>
          <a:bodyPr/>
          <a:lstStyle/>
          <a:p>
            <a:r>
              <a:rPr lang="en-US" dirty="0"/>
              <a:t>Max-match segmentation illustration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990600"/>
            <a:ext cx="8763000" cy="4152900"/>
          </a:xfrm>
        </p:spPr>
        <p:txBody>
          <a:bodyPr/>
          <a:lstStyle/>
          <a:p>
            <a:r>
              <a:rPr lang="en-US" sz="2800" dirty="0" err="1"/>
              <a:t>Thecatinthehat</a:t>
            </a:r>
            <a:endParaRPr lang="en-US" sz="2800" dirty="0"/>
          </a:p>
          <a:p>
            <a:r>
              <a:rPr lang="en-US" sz="2800" dirty="0" err="1"/>
              <a:t>Thetabledownthere</a:t>
            </a:r>
            <a:endParaRPr lang="en-US" sz="2800" dirty="0"/>
          </a:p>
          <a:p>
            <a:endParaRPr lang="en-US" dirty="0"/>
          </a:p>
          <a:p>
            <a:r>
              <a:rPr lang="en-US" dirty="0"/>
              <a:t>Doesn’t generally work in English!</a:t>
            </a:r>
          </a:p>
          <a:p>
            <a:endParaRPr lang="en-US" dirty="0"/>
          </a:p>
          <a:p>
            <a:r>
              <a:rPr lang="en-US" dirty="0"/>
              <a:t>But works astonishingly well in Chinese</a:t>
            </a:r>
          </a:p>
          <a:p>
            <a:pPr lvl="1" eaLnBrk="1" hangingPunct="1"/>
            <a:r>
              <a:rPr lang="ja-JP" altLang="en-US" dirty="0">
                <a:cs typeface="ＭＳ Ｐゴシック" charset="-128"/>
                <a:sym typeface="Symbol" charset="2"/>
              </a:rPr>
              <a:t>莎拉波娃现在居住在美国东南部的佛罗里达。</a:t>
            </a:r>
            <a:endParaRPr lang="en-US" altLang="ja-JP" dirty="0">
              <a:cs typeface="ＭＳ Ｐゴシック" charset="-128"/>
              <a:sym typeface="Symbol" charset="2"/>
            </a:endParaRPr>
          </a:p>
          <a:p>
            <a:pPr lvl="1" eaLnBrk="1" hangingPunct="1"/>
            <a:r>
              <a:rPr lang="ja-JP" altLang="en-US" dirty="0">
                <a:cs typeface="ＭＳ Ｐゴシック" charset="-128"/>
                <a:sym typeface="Symbol" charset="2"/>
              </a:rPr>
              <a:t>莎拉波娃</a:t>
            </a:r>
            <a:r>
              <a:rPr lang="en-US" altLang="ja-JP" dirty="0">
                <a:cs typeface="ＭＳ Ｐゴシック" charset="-128"/>
                <a:sym typeface="Symbol" charset="2"/>
              </a:rPr>
              <a:t>  </a:t>
            </a:r>
            <a:r>
              <a:rPr lang="ja-JP" altLang="en-US" dirty="0">
                <a:cs typeface="ＭＳ Ｐゴシック" charset="-128"/>
                <a:sym typeface="Symbol" charset="2"/>
              </a:rPr>
              <a:t>现在</a:t>
            </a:r>
            <a:r>
              <a:rPr lang="en-US" altLang="ja-JP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dirty="0">
                <a:cs typeface="ＭＳ Ｐゴシック" charset="-128"/>
                <a:sym typeface="Symbol" charset="2"/>
              </a:rPr>
              <a:t>居住</a:t>
            </a:r>
            <a:r>
              <a:rPr lang="en-US" altLang="ja-JP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dirty="0">
                <a:cs typeface="ＭＳ Ｐゴシック" charset="-128"/>
                <a:sym typeface="Symbol" charset="2"/>
              </a:rPr>
              <a:t>在</a:t>
            </a:r>
            <a:r>
              <a:rPr lang="en-US" altLang="ja-JP" dirty="0">
                <a:cs typeface="ＭＳ Ｐゴシック" charset="-128"/>
                <a:sym typeface="Symbol" charset="2"/>
              </a:rPr>
              <a:t>  </a:t>
            </a:r>
            <a:r>
              <a:rPr lang="ja-JP" altLang="en-US" dirty="0">
                <a:cs typeface="ＭＳ Ｐゴシック" charset="-128"/>
                <a:sym typeface="Symbol" charset="2"/>
              </a:rPr>
              <a:t>美国</a:t>
            </a:r>
            <a:r>
              <a:rPr lang="en-US" altLang="ja-JP" dirty="0">
                <a:cs typeface="ＭＳ Ｐゴシック" charset="-128"/>
                <a:sym typeface="Symbol" charset="2"/>
              </a:rPr>
              <a:t>   </a:t>
            </a:r>
            <a:r>
              <a:rPr lang="ja-JP" altLang="en-US" dirty="0">
                <a:cs typeface="ＭＳ Ｐゴシック" charset="-128"/>
                <a:sym typeface="Symbol" charset="2"/>
              </a:rPr>
              <a:t>东南部</a:t>
            </a:r>
            <a:r>
              <a:rPr lang="en-US" altLang="ja-JP" dirty="0">
                <a:cs typeface="ＭＳ Ｐゴシック" charset="-128"/>
                <a:sym typeface="Symbol" charset="2"/>
              </a:rPr>
              <a:t>     </a:t>
            </a:r>
            <a:r>
              <a:rPr lang="ja-JP" altLang="en-US" dirty="0">
                <a:cs typeface="ＭＳ Ｐゴシック" charset="-128"/>
                <a:sym typeface="Symbol" charset="2"/>
              </a:rPr>
              <a:t>的</a:t>
            </a:r>
            <a:r>
              <a:rPr lang="en-US" altLang="ja-JP" dirty="0">
                <a:cs typeface="ＭＳ Ｐゴシック" charset="-128"/>
                <a:sym typeface="Symbol" charset="2"/>
              </a:rPr>
              <a:t>  </a:t>
            </a:r>
            <a:r>
              <a:rPr lang="ja-JP" altLang="en-US" dirty="0">
                <a:cs typeface="ＭＳ Ｐゴシック" charset="-128"/>
                <a:sym typeface="Symbol" charset="2"/>
              </a:rPr>
              <a:t>佛罗里达</a:t>
            </a:r>
            <a:endParaRPr lang="en-US" altLang="ja-JP" sz="2400" dirty="0"/>
          </a:p>
          <a:p>
            <a:r>
              <a:rPr lang="en-US" dirty="0"/>
              <a:t>Modern probabilistic segmentation algorithms even better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953000" y="150495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/>
              <a:t>the table down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0" y="1047750"/>
            <a:ext cx="297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/>
              <a:t>the cat in the 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96215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000" dirty="0"/>
              <a:t>theta bled own there</a:t>
            </a:r>
          </a:p>
        </p:txBody>
      </p:sp>
    </p:spTree>
    <p:extLst>
      <p:ext uri="{BB962C8B-B14F-4D97-AF65-F5344CB8AC3E}">
        <p14:creationId xmlns:p14="http://schemas.microsoft.com/office/powerpoint/2010/main" val="312510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  <p:bldP spid="2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648200" cy="1905000"/>
          </a:xfrm>
        </p:spPr>
        <p:txBody>
          <a:bodyPr/>
          <a:lstStyle/>
          <a:p>
            <a:r>
              <a:rPr lang="en-US" sz="4400" dirty="0"/>
              <a:t>Basic Text Processing</a:t>
            </a:r>
            <a:endParaRPr lang="en-US" sz="4400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A4001D"/>
                </a:solidFill>
                <a:latin typeface="Calibri" charset="0"/>
              </a:rPr>
              <a:t>Word tokenization</a:t>
            </a:r>
          </a:p>
          <a:p>
            <a:pPr eaLnBrk="1" hangingPunct="1">
              <a:buFont typeface="Times" charset="0"/>
              <a:buNone/>
            </a:pP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38622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Basic Text Processing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Word Normalization and Stemming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030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1371600" y="209550"/>
            <a:ext cx="7467600" cy="742950"/>
          </a:xfrm>
        </p:spPr>
        <p:txBody>
          <a:bodyPr/>
          <a:lstStyle/>
          <a:p>
            <a:pPr eaLnBrk="1" hangingPunct="1"/>
            <a:r>
              <a:rPr lang="en-US" dirty="0"/>
              <a:t>Normalization</a:t>
            </a:r>
          </a:p>
        </p:txBody>
      </p:sp>
      <p:sp>
        <p:nvSpPr>
          <p:cNvPr id="35843" name="Rectangle 2051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charset="2"/>
              </a:rPr>
              <a:t>Need to “normalize” terms </a:t>
            </a:r>
          </a:p>
          <a:p>
            <a:pPr lvl="1" eaLnBrk="1" hangingPunct="1"/>
            <a:r>
              <a:rPr lang="en-US" dirty="0">
                <a:sym typeface="Symbol" charset="2"/>
              </a:rPr>
              <a:t>Information Retrieval: indexed text &amp; query terms must have same form.</a:t>
            </a:r>
          </a:p>
          <a:p>
            <a:pPr lvl="2" eaLnBrk="1" hangingPunct="1"/>
            <a:r>
              <a:rPr lang="en-US" sz="1800" dirty="0">
                <a:sym typeface="Symbol" charset="2"/>
              </a:rPr>
              <a:t>We want to match </a:t>
            </a:r>
            <a:r>
              <a:rPr lang="en-US" sz="1800" b="1" i="1" dirty="0">
                <a:sym typeface="Symbol" charset="2"/>
              </a:rPr>
              <a:t>U.S.A.</a:t>
            </a:r>
            <a:r>
              <a:rPr lang="en-US" sz="1800" dirty="0">
                <a:sym typeface="Symbol" charset="2"/>
              </a:rPr>
              <a:t> and </a:t>
            </a:r>
            <a:r>
              <a:rPr lang="en-US" sz="1800" b="1" i="1" dirty="0">
                <a:sym typeface="Symbol" charset="2"/>
              </a:rPr>
              <a:t>USA</a:t>
            </a:r>
            <a:endParaRPr lang="en-US" sz="1800" dirty="0">
              <a:sym typeface="Symbol" charset="2"/>
            </a:endParaRPr>
          </a:p>
          <a:p>
            <a:pPr eaLnBrk="1" hangingPunct="1"/>
            <a:r>
              <a:rPr lang="en-US" dirty="0">
                <a:sym typeface="Symbol" charset="2"/>
              </a:rPr>
              <a:t>We implicitly define equivalence classes of terms</a:t>
            </a:r>
          </a:p>
          <a:p>
            <a:pPr lvl="1" eaLnBrk="1" hangingPunct="1"/>
            <a:r>
              <a:rPr lang="en-US" dirty="0">
                <a:sym typeface="Symbol" charset="2"/>
              </a:rPr>
              <a:t>e.g., deleting periods in a term</a:t>
            </a:r>
          </a:p>
          <a:p>
            <a:pPr eaLnBrk="1" hangingPunct="1"/>
            <a:r>
              <a:rPr lang="en-US" dirty="0">
                <a:sym typeface="Symbol" charset="2"/>
              </a:rPr>
              <a:t>Alternative: asymmetric expansion:</a:t>
            </a:r>
          </a:p>
          <a:p>
            <a:pPr lvl="1" eaLnBrk="1" hangingPunct="1"/>
            <a:r>
              <a:rPr lang="en-US" sz="1600" dirty="0">
                <a:sym typeface="Symbol" charset="2"/>
              </a:rPr>
              <a:t>Enter: </a:t>
            </a:r>
            <a:r>
              <a:rPr lang="en-US" sz="1600" b="1" i="1" dirty="0">
                <a:sym typeface="Symbol" charset="2"/>
              </a:rPr>
              <a:t>window</a:t>
            </a:r>
            <a:r>
              <a:rPr lang="en-US" sz="1600" dirty="0">
                <a:sym typeface="Symbol" charset="2"/>
              </a:rPr>
              <a:t>	Search: </a:t>
            </a:r>
            <a:r>
              <a:rPr lang="en-US" sz="1600" b="1" i="1" dirty="0">
                <a:sym typeface="Symbol" charset="2"/>
              </a:rPr>
              <a:t>window, windows</a:t>
            </a:r>
          </a:p>
          <a:p>
            <a:pPr lvl="1" eaLnBrk="1" hangingPunct="1"/>
            <a:r>
              <a:rPr lang="en-US" sz="1600" dirty="0">
                <a:sym typeface="Symbol" charset="2"/>
              </a:rPr>
              <a:t>Enter: </a:t>
            </a:r>
            <a:r>
              <a:rPr lang="en-US" sz="1600" b="1" i="1" dirty="0">
                <a:sym typeface="Symbol" charset="2"/>
              </a:rPr>
              <a:t>windows</a:t>
            </a:r>
            <a:r>
              <a:rPr lang="en-US" sz="1600" dirty="0">
                <a:sym typeface="Symbol" charset="2"/>
              </a:rPr>
              <a:t>	Search: </a:t>
            </a:r>
            <a:r>
              <a:rPr lang="en-US" sz="1600" b="1" i="1" dirty="0">
                <a:sym typeface="Symbol" charset="2"/>
              </a:rPr>
              <a:t>Windows, windows, window</a:t>
            </a:r>
          </a:p>
          <a:p>
            <a:pPr lvl="1" eaLnBrk="1" hangingPunct="1"/>
            <a:r>
              <a:rPr lang="en-US" sz="1600" dirty="0">
                <a:sym typeface="Symbol" charset="2"/>
              </a:rPr>
              <a:t>Enter: </a:t>
            </a:r>
            <a:r>
              <a:rPr lang="en-US" sz="1600" b="1" i="1" dirty="0">
                <a:sym typeface="Symbol" charset="2"/>
              </a:rPr>
              <a:t>Windows</a:t>
            </a:r>
            <a:r>
              <a:rPr lang="en-US" sz="1600" dirty="0">
                <a:sym typeface="Symbol" charset="2"/>
              </a:rPr>
              <a:t>	Search: </a:t>
            </a:r>
            <a:r>
              <a:rPr lang="en-US" sz="1600" b="1" i="1" dirty="0">
                <a:sym typeface="Symbol" charset="2"/>
              </a:rPr>
              <a:t>Windows</a:t>
            </a:r>
          </a:p>
          <a:p>
            <a:pPr eaLnBrk="1" hangingPunct="1"/>
            <a:r>
              <a:rPr lang="en-US" dirty="0">
                <a:sym typeface="Symbol" charset="2"/>
              </a:rPr>
              <a:t>Potentially more powerful, but less efficient</a:t>
            </a:r>
          </a:p>
          <a:p>
            <a:pPr lvl="1" eaLnBrk="1" hangingPunct="1"/>
            <a:endParaRPr lang="en-US" sz="1800" dirty="0"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4318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Case folding</a:t>
            </a:r>
          </a:p>
        </p:txBody>
      </p:sp>
      <p:sp>
        <p:nvSpPr>
          <p:cNvPr id="36867" name="Rectangle 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Applications like IR: reduce all letters to lower case</a:t>
            </a:r>
          </a:p>
          <a:p>
            <a:pPr lvl="1" eaLnBrk="1" hangingPunct="1"/>
            <a:r>
              <a:rPr lang="en-US" sz="2400" dirty="0"/>
              <a:t>Since users tend to use lower case</a:t>
            </a:r>
          </a:p>
          <a:p>
            <a:pPr lvl="1" eaLnBrk="1" hangingPunct="1"/>
            <a:r>
              <a:rPr lang="en-US" sz="2400" dirty="0"/>
              <a:t>Possible exception: upper case in mid-sentence?</a:t>
            </a:r>
          </a:p>
          <a:p>
            <a:pPr lvl="2" eaLnBrk="1" hangingPunct="1"/>
            <a:r>
              <a:rPr lang="en-US" sz="2000" dirty="0"/>
              <a:t>e.g., </a:t>
            </a:r>
            <a:r>
              <a:rPr lang="en-US" sz="2000" b="1" i="1" dirty="0"/>
              <a:t>General Motors</a:t>
            </a:r>
          </a:p>
          <a:p>
            <a:pPr lvl="2" eaLnBrk="1" hangingPunct="1"/>
            <a:r>
              <a:rPr lang="en-US" sz="2000" b="1" i="1" dirty="0"/>
              <a:t>Fed</a:t>
            </a:r>
            <a:r>
              <a:rPr lang="en-US" sz="2000" dirty="0"/>
              <a:t> vs. </a:t>
            </a:r>
            <a:r>
              <a:rPr lang="en-US" sz="2000" b="1" i="1" dirty="0"/>
              <a:t>fed</a:t>
            </a:r>
          </a:p>
          <a:p>
            <a:pPr lvl="2" eaLnBrk="1" hangingPunct="1"/>
            <a:r>
              <a:rPr lang="en-US" sz="2000" b="1" i="1" dirty="0"/>
              <a:t>SAIL</a:t>
            </a:r>
            <a:r>
              <a:rPr lang="en-US" sz="2000" dirty="0"/>
              <a:t> vs. </a:t>
            </a:r>
            <a:r>
              <a:rPr lang="en-US" sz="2000" b="1" i="1" dirty="0"/>
              <a:t>sail</a:t>
            </a:r>
          </a:p>
          <a:p>
            <a:r>
              <a:rPr lang="en-US" sz="2800" dirty="0"/>
              <a:t>For sentiment analysis, MT, Information extraction</a:t>
            </a:r>
          </a:p>
          <a:p>
            <a:pPr lvl="1"/>
            <a:r>
              <a:rPr lang="en-US" sz="2400" dirty="0"/>
              <a:t>Case is helpful (</a:t>
            </a:r>
            <a:r>
              <a:rPr lang="en-US" sz="2400" b="1" i="1" dirty="0"/>
              <a:t>US</a:t>
            </a:r>
            <a:r>
              <a:rPr lang="en-US" sz="2400" dirty="0"/>
              <a:t> versus </a:t>
            </a:r>
            <a:r>
              <a:rPr lang="en-US" sz="2400" b="1" i="1" dirty="0"/>
              <a:t>us </a:t>
            </a:r>
            <a:r>
              <a:rPr lang="en-US" sz="2400" dirty="0"/>
              <a:t>is important)</a:t>
            </a:r>
          </a:p>
        </p:txBody>
      </p:sp>
    </p:spTree>
    <p:extLst>
      <p:ext uri="{BB962C8B-B14F-4D97-AF65-F5344CB8AC3E}">
        <p14:creationId xmlns:p14="http://schemas.microsoft.com/office/powerpoint/2010/main" val="389163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Lemmatization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52550"/>
            <a:ext cx="8686800" cy="3333750"/>
          </a:xfrm>
        </p:spPr>
        <p:txBody>
          <a:bodyPr/>
          <a:lstStyle/>
          <a:p>
            <a:pPr eaLnBrk="1" hangingPunct="1"/>
            <a:r>
              <a:rPr lang="en-US" dirty="0"/>
              <a:t>Reduce inflections or variant forms to base form</a:t>
            </a:r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sz="2400" i="1" dirty="0"/>
              <a:t>am, are,</a:t>
            </a:r>
            <a:r>
              <a:rPr lang="en-US" sz="2400" dirty="0"/>
              <a:t> </a:t>
            </a:r>
            <a:r>
              <a:rPr lang="en-US" sz="2400" i="1" dirty="0"/>
              <a:t>is </a:t>
            </a:r>
            <a:r>
              <a:rPr lang="en-US" sz="2400" dirty="0">
                <a:sym typeface="Symbol" charset="2"/>
              </a:rPr>
              <a:t></a:t>
            </a:r>
            <a:r>
              <a:rPr lang="en-US" sz="2400" dirty="0"/>
              <a:t> </a:t>
            </a:r>
            <a:r>
              <a:rPr lang="en-US" sz="2400" i="1" dirty="0"/>
              <a:t>be</a:t>
            </a:r>
            <a:endParaRPr lang="en-US" sz="2400" dirty="0"/>
          </a:p>
          <a:p>
            <a:pPr lvl="1"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sz="2400" i="1" dirty="0"/>
              <a:t>car, cars, car's</a:t>
            </a:r>
            <a:r>
              <a:rPr lang="en-US" sz="2400" dirty="0"/>
              <a:t>, </a:t>
            </a:r>
            <a:r>
              <a:rPr lang="en-US" sz="2400" i="1" dirty="0"/>
              <a:t>cars'</a:t>
            </a:r>
            <a:r>
              <a:rPr lang="en-US" sz="2400" dirty="0"/>
              <a:t> </a:t>
            </a:r>
            <a:r>
              <a:rPr lang="en-US" sz="2400" dirty="0">
                <a:sym typeface="Symbol" charset="2"/>
              </a:rPr>
              <a:t></a:t>
            </a:r>
            <a:r>
              <a:rPr lang="en-US" sz="2400" dirty="0"/>
              <a:t> </a:t>
            </a:r>
            <a:r>
              <a:rPr lang="en-US" sz="2400" i="1" dirty="0"/>
              <a:t>car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i="1" dirty="0"/>
              <a:t>the boy's cars are different colors</a:t>
            </a:r>
            <a:r>
              <a:rPr lang="en-US" dirty="0"/>
              <a:t> </a:t>
            </a:r>
            <a:r>
              <a:rPr lang="en-US" dirty="0">
                <a:sym typeface="Symbol" charset="2"/>
              </a:rPr>
              <a:t></a:t>
            </a:r>
            <a:r>
              <a:rPr lang="en-US" dirty="0"/>
              <a:t> </a:t>
            </a:r>
            <a:r>
              <a:rPr lang="en-US" i="1" dirty="0"/>
              <a:t>the boy car be different color</a:t>
            </a:r>
          </a:p>
          <a:p>
            <a:pPr eaLnBrk="1" hangingPunct="1">
              <a:spcBef>
                <a:spcPts val="500"/>
              </a:spcBef>
              <a:spcAft>
                <a:spcPts val="500"/>
              </a:spcAft>
            </a:pPr>
            <a:r>
              <a:rPr lang="en-US" dirty="0"/>
              <a:t>Lemmatization: have to find correct dictionary headword form</a:t>
            </a:r>
          </a:p>
          <a:p>
            <a:pPr>
              <a:lnSpc>
                <a:spcPct val="90000"/>
              </a:lnSpc>
            </a:pPr>
            <a:r>
              <a:rPr lang="en-US" dirty="0"/>
              <a:t>Machine translation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Spanish </a:t>
            </a:r>
            <a:r>
              <a:rPr lang="en-US" dirty="0" err="1">
                <a:solidFill>
                  <a:srgbClr val="A50021"/>
                </a:solidFill>
              </a:rPr>
              <a:t>quiero</a:t>
            </a:r>
            <a:r>
              <a:rPr lang="en-US" dirty="0"/>
              <a:t> (‘I want’), </a:t>
            </a:r>
            <a:r>
              <a:rPr lang="en-US" dirty="0" err="1">
                <a:solidFill>
                  <a:srgbClr val="A50021"/>
                </a:solidFill>
              </a:rPr>
              <a:t>quieres</a:t>
            </a:r>
            <a:r>
              <a:rPr lang="en-US" dirty="0"/>
              <a:t> (‘you want’) same lemma as </a:t>
            </a:r>
            <a:r>
              <a:rPr lang="en-US" dirty="0" err="1">
                <a:solidFill>
                  <a:srgbClr val="A50021"/>
                </a:solidFill>
              </a:rPr>
              <a:t>querer</a:t>
            </a:r>
            <a:r>
              <a:rPr lang="en-US" dirty="0"/>
              <a:t> ‘want’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0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Morphology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b="1" dirty="0"/>
              <a:t>Morphemes</a:t>
            </a:r>
            <a:r>
              <a:rPr lang="en-US" sz="2800" dirty="0"/>
              <a:t>:</a:t>
            </a:r>
          </a:p>
          <a:p>
            <a:pPr lvl="1"/>
            <a:r>
              <a:rPr lang="en-US" sz="2400" dirty="0"/>
              <a:t>The small meaningful units that make up words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Stems</a:t>
            </a:r>
            <a:r>
              <a:rPr lang="en-US" sz="2400" dirty="0"/>
              <a:t>: The core meaning-bearing units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Affixes</a:t>
            </a:r>
            <a:r>
              <a:rPr lang="en-US" sz="2400" dirty="0"/>
              <a:t>: Bits and pieces that adhere to stems</a:t>
            </a:r>
          </a:p>
          <a:p>
            <a:pPr lvl="2"/>
            <a:r>
              <a:rPr lang="en-US" sz="2400" dirty="0"/>
              <a:t>Often with grammatical functions</a:t>
            </a:r>
          </a:p>
        </p:txBody>
      </p:sp>
    </p:spTree>
    <p:extLst>
      <p:ext uri="{BB962C8B-B14F-4D97-AF65-F5344CB8AC3E}">
        <p14:creationId xmlns:p14="http://schemas.microsoft.com/office/powerpoint/2010/main" val="122654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Stemming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Reduce terms to their stems in information retrieval</a:t>
            </a:r>
          </a:p>
          <a:p>
            <a:pPr eaLnBrk="1" hangingPunct="1"/>
            <a:r>
              <a:rPr lang="en-US" i="1" dirty="0"/>
              <a:t>Stemming</a:t>
            </a:r>
            <a:r>
              <a:rPr lang="en-US" dirty="0"/>
              <a:t> is crude chopping of affixes</a:t>
            </a:r>
          </a:p>
          <a:p>
            <a:pPr lvl="1" eaLnBrk="1" hangingPunct="1"/>
            <a:r>
              <a:rPr lang="en-US" dirty="0"/>
              <a:t>language dependent</a:t>
            </a:r>
          </a:p>
          <a:p>
            <a:pPr lvl="1" eaLnBrk="1" hangingPunct="1"/>
            <a:r>
              <a:rPr lang="en-US" dirty="0"/>
              <a:t>e.g., </a:t>
            </a:r>
            <a:r>
              <a:rPr lang="en-US" b="1" i="1" dirty="0"/>
              <a:t>automate(s), automatic, automation</a:t>
            </a:r>
            <a:r>
              <a:rPr lang="en-US" dirty="0"/>
              <a:t> all reduced to </a:t>
            </a:r>
            <a:r>
              <a:rPr lang="en-US" b="1" i="1" dirty="0"/>
              <a:t>automat</a:t>
            </a:r>
            <a:r>
              <a:rPr lang="en-US" dirty="0"/>
              <a:t>.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777875" y="1253729"/>
            <a:ext cx="1846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381000" y="3312765"/>
            <a:ext cx="3581400" cy="138499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for example compressed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and compression are both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accepted as equivalent to </a:t>
            </a:r>
          </a:p>
          <a:p>
            <a:r>
              <a:rPr lang="en-US" sz="2100" i="1" dirty="0">
                <a:solidFill>
                  <a:srgbClr val="404040"/>
                </a:solidFill>
                <a:latin typeface="Calibri"/>
                <a:cs typeface="Calibri"/>
              </a:rPr>
              <a:t>compress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5000626" y="3429000"/>
            <a:ext cx="3609975" cy="11430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</a:bodyPr>
          <a:lstStyle/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exampl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compress and</a:t>
            </a:r>
          </a:p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compress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ar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both accept</a:t>
            </a:r>
          </a:p>
          <a:p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lang="en-US" sz="2100" dirty="0" err="1">
                <a:solidFill>
                  <a:srgbClr val="404040"/>
                </a:solidFill>
                <a:latin typeface="Calibri"/>
                <a:cs typeface="Calibri"/>
              </a:rPr>
              <a:t>equival</a:t>
            </a:r>
            <a:r>
              <a:rPr lang="en-US" sz="2100" dirty="0">
                <a:solidFill>
                  <a:srgbClr val="404040"/>
                </a:solidFill>
                <a:latin typeface="Calibri"/>
                <a:cs typeface="Calibri"/>
              </a:rPr>
              <a:t> to compress</a:t>
            </a: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4419600" y="3829051"/>
            <a:ext cx="304800" cy="364331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5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nimBg="1"/>
      <p:bldP spid="38918" grpId="0" animBg="1"/>
      <p:bldP spid="389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Porter’s algorithm</a:t>
            </a:r>
            <a:br>
              <a:rPr lang="en-US" dirty="0"/>
            </a:br>
            <a:r>
              <a:rPr lang="en-US" dirty="0"/>
              <a:t>The most common English stemmer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-76200" y="1352550"/>
            <a:ext cx="4876800" cy="333375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   Step 1a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"/>
                <a:cs typeface="Courier"/>
              </a:rPr>
              <a:t>sses</a:t>
            </a:r>
            <a:r>
              <a:rPr lang="en-US" sz="1600" dirty="0">
                <a:latin typeface="Courier"/>
                <a:cs typeface="Courier"/>
              </a:rPr>
              <a:t> 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caresses  caress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"/>
                <a:cs typeface="Courier"/>
              </a:rPr>
              <a:t>ies</a:t>
            </a:r>
            <a:r>
              <a:rPr lang="en-US" sz="1600" dirty="0">
                <a:latin typeface="Courier"/>
                <a:cs typeface="Courier"/>
              </a:rPr>
              <a:t>  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i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ponies   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poni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None/>
            </a:pPr>
            <a:r>
              <a:rPr lang="en-US" sz="16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 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ss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	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caress    caress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s  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cats       cat</a:t>
            </a:r>
          </a:p>
          <a:p>
            <a:pPr marL="0" indent="0">
              <a:buNone/>
            </a:pPr>
            <a:r>
              <a:rPr lang="en-US" sz="2000" dirty="0">
                <a:latin typeface="Calibri"/>
                <a:cs typeface="Calibri"/>
                <a:sym typeface="Symbol" charset="2"/>
              </a:rPr>
              <a:t>  Step 1b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ing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             sing       sing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ed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plastered  plaster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…</a:t>
            </a:r>
          </a:p>
          <a:p>
            <a:endParaRPr lang="en-US" sz="2200" dirty="0">
              <a:latin typeface="Courier"/>
              <a:cs typeface="Courier"/>
              <a:sym typeface="Symbol" charset="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267200" y="1428750"/>
            <a:ext cx="4876800" cy="33337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2000" dirty="0"/>
              <a:t>   Step 2 (for long stems)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>
                <a:latin typeface="Courier"/>
                <a:cs typeface="Courier"/>
              </a:rPr>
              <a:t>ational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ate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relational relate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>
                <a:latin typeface="Courier"/>
                <a:cs typeface="Courier"/>
              </a:rPr>
              <a:t>izer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ize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	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digitizer  digitize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 err="1">
                <a:latin typeface="Courier"/>
                <a:cs typeface="Courier"/>
                <a:sym typeface="Symbol" charset="2"/>
              </a:rPr>
              <a:t>ator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 ate	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operator   operate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…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0" indent="0">
              <a:buFont typeface="Times" charset="0"/>
              <a:buNone/>
            </a:pPr>
            <a:r>
              <a:rPr lang="en-US" sz="2000" dirty="0">
                <a:latin typeface="Calibri"/>
                <a:cs typeface="Calibri"/>
                <a:sym typeface="Symbol" charset="2"/>
              </a:rPr>
              <a:t>    Step 3 (for longer stems)</a:t>
            </a:r>
          </a:p>
          <a:p>
            <a:pPr marL="457200" lvl="1" indent="0">
              <a:buFont typeface="Times" charset="0"/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al  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revival    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reviv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Font typeface="Times" charset="0"/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able 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adjustable  adjust</a:t>
            </a: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ate    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ø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activate    </a:t>
            </a:r>
            <a:r>
              <a:rPr lang="en-US" sz="1600" dirty="0" err="1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activ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…</a:t>
            </a: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  <a:p>
            <a:endParaRPr lang="en-US" sz="2200" dirty="0">
              <a:latin typeface="Courier"/>
              <a:cs typeface="Courier"/>
              <a:sym typeface="Symbol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4809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morphology in a corpus</a:t>
            </a:r>
            <a:br>
              <a:rPr lang="en-US" dirty="0"/>
            </a:br>
            <a:r>
              <a:rPr lang="en-US" dirty="0"/>
              <a:t>Why only strip –</a:t>
            </a:r>
            <a:r>
              <a:rPr lang="en-US" dirty="0" err="1"/>
              <a:t>ing</a:t>
            </a:r>
            <a:r>
              <a:rPr lang="en-US" dirty="0"/>
              <a:t> if there is a vowel?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66950"/>
            <a:ext cx="8077200" cy="7620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28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2800" dirty="0" err="1">
                <a:latin typeface="Courier"/>
                <a:cs typeface="Courier"/>
                <a:sym typeface="Symbol" charset="2"/>
              </a:rPr>
              <a:t>ing</a:t>
            </a:r>
            <a:r>
              <a:rPr lang="en-US" sz="2800" dirty="0">
                <a:latin typeface="Courier"/>
                <a:cs typeface="Courier"/>
                <a:sym typeface="Symbol" charset="2"/>
              </a:rPr>
              <a:t>  </a:t>
            </a:r>
            <a:r>
              <a:rPr lang="en-US" sz="2800" dirty="0" err="1">
                <a:sym typeface="Symbol" charset="2"/>
              </a:rPr>
              <a:t>ø</a:t>
            </a:r>
            <a:r>
              <a:rPr lang="en-US" sz="2800" dirty="0">
                <a:sym typeface="Symbol" charset="2"/>
              </a:rPr>
              <a:t>   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             sing       sing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morphology in a corpus</a:t>
            </a:r>
            <a:br>
              <a:rPr lang="en-US" dirty="0"/>
            </a:br>
            <a:r>
              <a:rPr lang="en-US" dirty="0"/>
              <a:t>Why only strip –</a:t>
            </a:r>
            <a:r>
              <a:rPr lang="en-US" dirty="0" err="1"/>
              <a:t>ing</a:t>
            </a:r>
            <a:r>
              <a:rPr lang="en-US" dirty="0"/>
              <a:t> if there is a vowel?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2550"/>
            <a:ext cx="8077200" cy="7620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1600" dirty="0">
                <a:latin typeface="Courier"/>
                <a:cs typeface="Courier"/>
                <a:sym typeface="Symbol" charset="2"/>
              </a:rPr>
              <a:t>(*v*)</a:t>
            </a:r>
            <a:r>
              <a:rPr lang="en-US" sz="1600" dirty="0" err="1">
                <a:latin typeface="Courier"/>
                <a:cs typeface="Courier"/>
                <a:sym typeface="Symbol" charset="2"/>
              </a:rPr>
              <a:t>ing</a:t>
            </a:r>
            <a:r>
              <a:rPr lang="en-US" sz="1600" dirty="0">
                <a:latin typeface="Courier"/>
                <a:cs typeface="Courier"/>
                <a:sym typeface="Symbol" charset="2"/>
              </a:rPr>
              <a:t>  </a:t>
            </a:r>
            <a:r>
              <a:rPr lang="en-US" sz="1600" dirty="0" err="1">
                <a:sym typeface="Symbol" charset="2"/>
              </a:rPr>
              <a:t>ø</a:t>
            </a:r>
            <a:r>
              <a:rPr lang="en-US" sz="1600" dirty="0">
                <a:sym typeface="Symbol" charset="2"/>
              </a:rPr>
              <a:t>   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walking    walk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Courier"/>
                <a:cs typeface="Courier"/>
                <a:sym typeface="Symbol" charset="2"/>
              </a:rPr>
              <a:t>              sing       sing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accent5">
                  <a:lumMod val="75000"/>
                </a:schemeClr>
              </a:solidFill>
              <a:latin typeface="Courier"/>
              <a:cs typeface="Courier"/>
              <a:sym typeface="Symbol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5999" y="2266950"/>
            <a:ext cx="9108001" cy="2743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400" dirty="0" err="1">
                <a:latin typeface="Courier"/>
                <a:cs typeface="Courier"/>
              </a:rPr>
              <a:t>tr</a:t>
            </a:r>
            <a:r>
              <a:rPr lang="en-US" sz="1400" dirty="0">
                <a:latin typeface="Courier"/>
                <a:cs typeface="Courier"/>
              </a:rPr>
              <a:t> -</a:t>
            </a:r>
            <a:r>
              <a:rPr lang="en-US" sz="1400" dirty="0" err="1">
                <a:latin typeface="Courier"/>
                <a:cs typeface="Courier"/>
              </a:rPr>
              <a:t>sc</a:t>
            </a:r>
            <a:r>
              <a:rPr lang="en-US" sz="1400" dirty="0">
                <a:latin typeface="Courier"/>
                <a:cs typeface="Courier"/>
              </a:rPr>
              <a:t> 'A-</a:t>
            </a:r>
            <a:r>
              <a:rPr lang="en-US" sz="1400" dirty="0" err="1">
                <a:latin typeface="Courier"/>
                <a:cs typeface="Courier"/>
              </a:rPr>
              <a:t>Za</a:t>
            </a:r>
            <a:r>
              <a:rPr lang="en-US" sz="1400" dirty="0">
                <a:latin typeface="Courier"/>
                <a:cs typeface="Courier"/>
              </a:rPr>
              <a:t>-z' '\n' &lt; </a:t>
            </a:r>
            <a:r>
              <a:rPr lang="en-US" sz="1400" dirty="0" err="1">
                <a:latin typeface="Courier"/>
                <a:cs typeface="Courier"/>
              </a:rPr>
              <a:t>shakes.txt</a:t>
            </a:r>
            <a:r>
              <a:rPr lang="en-US" sz="1400" dirty="0">
                <a:latin typeface="Courier"/>
                <a:cs typeface="Courier"/>
              </a:rPr>
              <a:t> | </a:t>
            </a:r>
            <a:r>
              <a:rPr lang="en-US" sz="1400" dirty="0" err="1">
                <a:latin typeface="Courier"/>
                <a:cs typeface="Courier"/>
              </a:rPr>
              <a:t>grep</a:t>
            </a:r>
            <a:r>
              <a:rPr lang="en-US" sz="1400" dirty="0">
                <a:latin typeface="Courier"/>
                <a:cs typeface="Courier"/>
              </a:rPr>
              <a:t> ’</a:t>
            </a:r>
            <a:r>
              <a:rPr lang="en-US" sz="1400" dirty="0" err="1">
                <a:latin typeface="Courier"/>
                <a:cs typeface="Courier"/>
              </a:rPr>
              <a:t>ing</a:t>
            </a:r>
            <a:r>
              <a:rPr lang="en-US" sz="1400" dirty="0">
                <a:latin typeface="Courier"/>
                <a:cs typeface="Courier"/>
              </a:rPr>
              <a:t>$' | sort | </a:t>
            </a:r>
            <a:r>
              <a:rPr lang="en-US" sz="1400" dirty="0" err="1">
                <a:latin typeface="Courier"/>
                <a:cs typeface="Courier"/>
              </a:rPr>
              <a:t>uniq</a:t>
            </a:r>
            <a:r>
              <a:rPr lang="en-US" sz="1400" dirty="0">
                <a:latin typeface="Courier"/>
                <a:cs typeface="Courier"/>
              </a:rPr>
              <a:t> -c | sort –nr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solidFill>
                <a:schemeClr val="accent5">
                  <a:lumMod val="60000"/>
                  <a:lumOff val="40000"/>
                </a:schemeClr>
              </a:solidFill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Courier"/>
              <a:cs typeface="Courier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350" dirty="0" err="1">
                <a:latin typeface="Courier"/>
                <a:cs typeface="Courier"/>
              </a:rPr>
              <a:t>tr</a:t>
            </a:r>
            <a:r>
              <a:rPr lang="en-US" sz="1350" dirty="0">
                <a:latin typeface="Courier"/>
                <a:cs typeface="Courier"/>
              </a:rPr>
              <a:t> -</a:t>
            </a:r>
            <a:r>
              <a:rPr lang="en-US" sz="1350" dirty="0" err="1">
                <a:latin typeface="Courier"/>
                <a:cs typeface="Courier"/>
              </a:rPr>
              <a:t>sc</a:t>
            </a:r>
            <a:r>
              <a:rPr lang="en-US" sz="1350" dirty="0">
                <a:latin typeface="Courier"/>
                <a:cs typeface="Courier"/>
              </a:rPr>
              <a:t> 'A-</a:t>
            </a:r>
            <a:r>
              <a:rPr lang="en-US" sz="1350" dirty="0" err="1">
                <a:latin typeface="Courier"/>
                <a:cs typeface="Courier"/>
              </a:rPr>
              <a:t>Za</a:t>
            </a:r>
            <a:r>
              <a:rPr lang="en-US" sz="1350" dirty="0">
                <a:latin typeface="Courier"/>
                <a:cs typeface="Courier"/>
              </a:rPr>
              <a:t>-z' '\n' &lt; </a:t>
            </a:r>
            <a:r>
              <a:rPr lang="en-US" sz="1350" dirty="0" err="1">
                <a:latin typeface="Courier"/>
                <a:cs typeface="Courier"/>
              </a:rPr>
              <a:t>shakes.txt</a:t>
            </a:r>
            <a:r>
              <a:rPr lang="en-US" sz="1350" dirty="0">
                <a:latin typeface="Courier"/>
                <a:cs typeface="Courier"/>
              </a:rPr>
              <a:t> | </a:t>
            </a:r>
            <a:r>
              <a:rPr lang="en-US" sz="1350" dirty="0" err="1">
                <a:latin typeface="Courier"/>
                <a:cs typeface="Courier"/>
              </a:rPr>
              <a:t>grep</a:t>
            </a:r>
            <a:r>
              <a:rPr lang="en-US" sz="1350" dirty="0">
                <a:latin typeface="Courier"/>
                <a:cs typeface="Courier"/>
              </a:rPr>
              <a:t> '[</a:t>
            </a:r>
            <a:r>
              <a:rPr lang="en-US" sz="1350" dirty="0" err="1">
                <a:latin typeface="Courier"/>
                <a:cs typeface="Courier"/>
              </a:rPr>
              <a:t>aeiou</a:t>
            </a:r>
            <a:r>
              <a:rPr lang="en-US" sz="1350" dirty="0">
                <a:latin typeface="Courier"/>
                <a:cs typeface="Courier"/>
              </a:rPr>
              <a:t>].*</a:t>
            </a:r>
            <a:r>
              <a:rPr lang="en-US" sz="1350" dirty="0" err="1">
                <a:latin typeface="Courier"/>
                <a:cs typeface="Courier"/>
              </a:rPr>
              <a:t>ing</a:t>
            </a:r>
            <a:r>
              <a:rPr lang="en-US" sz="1350" dirty="0">
                <a:latin typeface="Courier"/>
                <a:cs typeface="Courier"/>
              </a:rPr>
              <a:t>$' | sort | </a:t>
            </a:r>
            <a:r>
              <a:rPr lang="en-US" sz="1350" dirty="0" err="1">
                <a:latin typeface="Courier"/>
                <a:cs typeface="Courier"/>
              </a:rPr>
              <a:t>uniq</a:t>
            </a:r>
            <a:r>
              <a:rPr lang="en-US" sz="1350" dirty="0">
                <a:latin typeface="Courier"/>
                <a:cs typeface="Courier"/>
              </a:rPr>
              <a:t> -c | sort –nr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38600" y="2571750"/>
            <a:ext cx="1385190" cy="1757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548 being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Courier"/>
                <a:cs typeface="Courier"/>
              </a:rPr>
              <a:t>541 nothing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Courier"/>
                <a:cs typeface="Courier"/>
              </a:rPr>
              <a:t>152 something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145 coming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A6A6A6"/>
                </a:solidFill>
                <a:latin typeface="Courier"/>
                <a:cs typeface="Courier"/>
              </a:rPr>
              <a:t>130 morning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122 having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120 living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117 loving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116 Being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102 going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71750"/>
            <a:ext cx="1479892" cy="17574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1312 King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 548 being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7CD7CF"/>
                </a:solidFill>
                <a:latin typeface="Courier"/>
                <a:cs typeface="Courier"/>
              </a:rPr>
              <a:t> 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541 nothing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388 king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375 bring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358 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307 ring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152 something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latin typeface="Courier"/>
                <a:cs typeface="Courier"/>
              </a:rPr>
              <a:t> 145 coming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bg1">
                    <a:lumMod val="65000"/>
                  </a:schemeClr>
                </a:solidFill>
                <a:latin typeface="Courier"/>
                <a:cs typeface="Courier"/>
              </a:rPr>
              <a:t> 130 morning </a:t>
            </a:r>
          </a:p>
        </p:txBody>
      </p:sp>
    </p:spTree>
    <p:extLst>
      <p:ext uri="{BB962C8B-B14F-4D97-AF65-F5344CB8AC3E}">
        <p14:creationId xmlns:p14="http://schemas.microsoft.com/office/powerpoint/2010/main" val="153996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Dealing with complex morphology is sometimes necessary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52550"/>
            <a:ext cx="8686800" cy="33337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Some languages requires complex morpheme segmentation</a:t>
            </a:r>
          </a:p>
          <a:p>
            <a:pPr lvl="1"/>
            <a:r>
              <a:rPr lang="en-US" sz="2400" dirty="0"/>
              <a:t>Turkish</a:t>
            </a:r>
          </a:p>
          <a:p>
            <a:pPr lvl="1"/>
            <a:r>
              <a:rPr lang="en-US" sz="2400" dirty="0" err="1">
                <a:solidFill>
                  <a:srgbClr val="FF0000"/>
                </a:solidFill>
              </a:rPr>
              <a:t>Uygarlastiramadiklarimizdanmissinizcasina</a:t>
            </a:r>
            <a:endParaRPr lang="en-US" sz="2400" dirty="0">
              <a:solidFill>
                <a:srgbClr val="FF0000"/>
              </a:solidFill>
            </a:endParaRPr>
          </a:p>
          <a:p>
            <a:pPr lvl="1"/>
            <a:r>
              <a:rPr lang="en-US" sz="2400" dirty="0"/>
              <a:t>`(behaving) as if you are among those whom we could not civilize’</a:t>
            </a:r>
          </a:p>
          <a:p>
            <a:pPr lvl="1"/>
            <a:r>
              <a:rPr lang="en-US" sz="2400" dirty="0" err="1">
                <a:solidFill>
                  <a:srgbClr val="FF0000"/>
                </a:solidFill>
              </a:rPr>
              <a:t>Uygar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`civilized’ + </a:t>
            </a:r>
            <a:r>
              <a:rPr lang="en-US" sz="2400" dirty="0" err="1">
                <a:solidFill>
                  <a:srgbClr val="FF0000"/>
                </a:solidFill>
              </a:rPr>
              <a:t>las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`become’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tir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`cause’ + </a:t>
            </a:r>
            <a:r>
              <a:rPr lang="en-US" sz="2000" dirty="0" err="1">
                <a:solidFill>
                  <a:srgbClr val="FF0000"/>
                </a:solidFill>
              </a:rPr>
              <a:t>ama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`not able’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dik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`past’ + </a:t>
            </a:r>
            <a:r>
              <a:rPr lang="en-US" sz="2000" dirty="0" err="1">
                <a:solidFill>
                  <a:srgbClr val="FF0000"/>
                </a:solidFill>
              </a:rPr>
              <a:t>lar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‘plural’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imiz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‘p1pl’ + </a:t>
            </a:r>
            <a:r>
              <a:rPr lang="en-US" sz="2000" dirty="0" err="1">
                <a:solidFill>
                  <a:srgbClr val="FF0000"/>
                </a:solidFill>
              </a:rPr>
              <a:t>dan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</a:t>
            </a:r>
            <a:r>
              <a:rPr lang="en-US" sz="2000" dirty="0" err="1"/>
              <a:t>abl</a:t>
            </a:r>
            <a:r>
              <a:rPr lang="en-US" sz="2000" dirty="0"/>
              <a:t>’ </a:t>
            </a:r>
          </a:p>
          <a:p>
            <a:pPr lvl="2">
              <a:buFont typeface="Wingdings" charset="2"/>
              <a:buNone/>
            </a:pPr>
            <a:r>
              <a:rPr lang="en-US" sz="2000" dirty="0"/>
              <a:t>+ </a:t>
            </a:r>
            <a:r>
              <a:rPr lang="en-US" sz="2000" dirty="0" err="1">
                <a:solidFill>
                  <a:srgbClr val="FF0000"/>
                </a:solidFill>
              </a:rPr>
              <a:t>mis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‘past’ + </a:t>
            </a:r>
            <a:r>
              <a:rPr lang="en-US" sz="2000" dirty="0" err="1">
                <a:solidFill>
                  <a:srgbClr val="FF0000"/>
                </a:solidFill>
              </a:rPr>
              <a:t>siniz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‘2pl’ + </a:t>
            </a:r>
            <a:r>
              <a:rPr lang="en-US" sz="2000" dirty="0" err="1">
                <a:solidFill>
                  <a:srgbClr val="FF0000"/>
                </a:solidFill>
              </a:rPr>
              <a:t>casina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‘as if’ 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257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Basic Text Processing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Word Normalization and Stemming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93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Basic Text Processing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Sentence Segmentation and Decision Trees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902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Sentence Segmentation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dirty="0"/>
              <a:t>!, ? are relatively unambiguous</a:t>
            </a:r>
          </a:p>
          <a:p>
            <a:r>
              <a:rPr lang="en-US" dirty="0"/>
              <a:t>Period “.” is quite ambiguous</a:t>
            </a:r>
          </a:p>
          <a:p>
            <a:pPr lvl="1"/>
            <a:r>
              <a:rPr lang="en-US" dirty="0"/>
              <a:t>Sentence boundary</a:t>
            </a:r>
          </a:p>
          <a:p>
            <a:pPr lvl="1"/>
            <a:r>
              <a:rPr lang="en-US" dirty="0"/>
              <a:t>Abbreviations like Inc. or Dr.</a:t>
            </a:r>
          </a:p>
          <a:p>
            <a:pPr lvl="1"/>
            <a:r>
              <a:rPr lang="en-US" dirty="0"/>
              <a:t>Numbers like .02% or 4.3</a:t>
            </a:r>
          </a:p>
          <a:p>
            <a:r>
              <a:rPr lang="en-US" dirty="0"/>
              <a:t>Build a binary classifier</a:t>
            </a:r>
          </a:p>
          <a:p>
            <a:pPr lvl="1"/>
            <a:r>
              <a:rPr lang="en-US" dirty="0"/>
              <a:t>Looks at a “.”</a:t>
            </a:r>
          </a:p>
          <a:p>
            <a:pPr lvl="1"/>
            <a:r>
              <a:rPr lang="en-US" dirty="0"/>
              <a:t>Decides </a:t>
            </a:r>
            <a:r>
              <a:rPr lang="en-US" dirty="0" err="1"/>
              <a:t>EndOfSentence</a:t>
            </a:r>
            <a:r>
              <a:rPr lang="en-US" dirty="0"/>
              <a:t>/</a:t>
            </a:r>
            <a:r>
              <a:rPr lang="en-US" dirty="0" err="1"/>
              <a:t>NotEndOfSentence</a:t>
            </a:r>
            <a:endParaRPr lang="en-US" dirty="0"/>
          </a:p>
          <a:p>
            <a:pPr lvl="1"/>
            <a:r>
              <a:rPr lang="en-US" dirty="0"/>
              <a:t>Classifiers: hand-written rules, regular expressions, or 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372238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133350"/>
            <a:ext cx="7239000" cy="8572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Determining if a word is end-of-sentence: a Decision Tree</a:t>
            </a:r>
          </a:p>
        </p:txBody>
      </p:sp>
      <p:pic>
        <p:nvPicPr>
          <p:cNvPr id="4" name="Picture 3" descr="periodD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123950"/>
            <a:ext cx="4496062" cy="3708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63014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sophisticated decision tree features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Case of word with “.”: Upper, Lower, Cap, Number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Case of word after “.”: Upper, Lower, Cap, Number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Numeric features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Length of word with “.”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Probability(word with “.” occurs at end-of-s)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Probability(word after “.” occurs at beginning-of-s)</a:t>
            </a:r>
          </a:p>
        </p:txBody>
      </p:sp>
    </p:spTree>
    <p:extLst>
      <p:ext uri="{BB962C8B-B14F-4D97-AF65-F5344CB8AC3E}">
        <p14:creationId xmlns:p14="http://schemas.microsoft.com/office/powerpoint/2010/main" val="56915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decision tree is just an if-then-else statement</a:t>
            </a:r>
          </a:p>
          <a:p>
            <a:r>
              <a:rPr lang="en-US" dirty="0"/>
              <a:t>The interesting research is choosing the features</a:t>
            </a:r>
          </a:p>
          <a:p>
            <a:r>
              <a:rPr lang="en-US" dirty="0"/>
              <a:t>Setting up the structure is often too hard to do by hand</a:t>
            </a:r>
          </a:p>
          <a:p>
            <a:pPr lvl="1"/>
            <a:r>
              <a:rPr lang="en-US" dirty="0"/>
              <a:t>Hand-building only possible for very simple features, domains</a:t>
            </a:r>
          </a:p>
          <a:p>
            <a:pPr lvl="2"/>
            <a:r>
              <a:rPr lang="en-US" dirty="0"/>
              <a:t>For numeric features, it’s too hard to pick each threshold</a:t>
            </a:r>
          </a:p>
          <a:p>
            <a:pPr lvl="1"/>
            <a:r>
              <a:rPr lang="en-US" dirty="0"/>
              <a:t>Instead, structure usually learned by machine learning from a training corpus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3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 and other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 can think of the questions in a decision tree</a:t>
            </a:r>
          </a:p>
          <a:p>
            <a:r>
              <a:rPr lang="en-US" sz="2800" dirty="0"/>
              <a:t>As features that could be exploited by any kind of classifier</a:t>
            </a:r>
          </a:p>
          <a:p>
            <a:pPr lvl="1"/>
            <a:r>
              <a:rPr lang="en-US" sz="2400" dirty="0"/>
              <a:t>Logistic regression</a:t>
            </a:r>
          </a:p>
          <a:p>
            <a:pPr lvl="1"/>
            <a:r>
              <a:rPr lang="en-US" sz="2400" dirty="0"/>
              <a:t>SVM</a:t>
            </a:r>
          </a:p>
          <a:p>
            <a:pPr lvl="1"/>
            <a:r>
              <a:rPr lang="en-US" sz="2400" dirty="0"/>
              <a:t>Neural Nets</a:t>
            </a:r>
          </a:p>
          <a:p>
            <a:pPr lvl="1"/>
            <a:r>
              <a:rPr lang="en-US" sz="2400" dirty="0"/>
              <a:t>etc.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13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0" y="510778"/>
            <a:ext cx="4800600" cy="1298972"/>
          </a:xfrm>
        </p:spPr>
        <p:txBody>
          <a:bodyPr/>
          <a:lstStyle/>
          <a:p>
            <a:r>
              <a:rPr lang="en-US" sz="4400" dirty="0"/>
              <a:t>Basic Text Processing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2286000"/>
            <a:ext cx="4267200" cy="1714500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3200" dirty="0">
                <a:solidFill>
                  <a:srgbClr val="A50021"/>
                </a:solidFill>
                <a:latin typeface="Calibri" charset="0"/>
              </a:rPr>
              <a:t>Sentence Segmentation and Decision Trees</a:t>
            </a:r>
            <a:endParaRPr lang="en-US" sz="3200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84843"/>
      </p:ext>
    </p:extLst>
  </p:cSld>
  <p:clrMapOvr>
    <a:masterClrMapping/>
  </p:clrMapOvr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10300</TotalTime>
  <Words>2105</Words>
  <Application>Microsoft Office PowerPoint</Application>
  <PresentationFormat>On-screen Show (16:9)</PresentationFormat>
  <Paragraphs>473</Paragraphs>
  <Slides>46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ＭＳ Ｐゴシック</vt:lpstr>
      <vt:lpstr>Arial</vt:lpstr>
      <vt:lpstr>Calibri</vt:lpstr>
      <vt:lpstr>Calibri (Headings)</vt:lpstr>
      <vt:lpstr>Courier</vt:lpstr>
      <vt:lpstr>Courier New</vt:lpstr>
      <vt:lpstr>Lucida Sans</vt:lpstr>
      <vt:lpstr>Symbol</vt:lpstr>
      <vt:lpstr>Tahoma</vt:lpstr>
      <vt:lpstr>Times</vt:lpstr>
      <vt:lpstr>Wingdings</vt:lpstr>
      <vt:lpstr>华文黑体</vt:lpstr>
      <vt:lpstr>NLP-jurafsky</vt:lpstr>
      <vt:lpstr>Basic Text Processing</vt:lpstr>
      <vt:lpstr>Regular expressions</vt:lpstr>
      <vt:lpstr>Regular Expressions: Disjunctions</vt:lpstr>
      <vt:lpstr>Regular Expressions: Negation in Disjunction</vt:lpstr>
      <vt:lpstr>Regular Expressions: More Disjunction</vt:lpstr>
      <vt:lpstr>Regular Expressions: ?    *  +  .</vt:lpstr>
      <vt:lpstr>Regular Expressions: Anchors  ^   $</vt:lpstr>
      <vt:lpstr>Example</vt:lpstr>
      <vt:lpstr>Errors</vt:lpstr>
      <vt:lpstr>Errors cont.</vt:lpstr>
      <vt:lpstr>Summary</vt:lpstr>
      <vt:lpstr>Basic Text Processing</vt:lpstr>
      <vt:lpstr>Basic Text Processing</vt:lpstr>
      <vt:lpstr>Text Normalization</vt:lpstr>
      <vt:lpstr>How many words?</vt:lpstr>
      <vt:lpstr>How many words?</vt:lpstr>
      <vt:lpstr>How many words?</vt:lpstr>
      <vt:lpstr>Simple Tokenization in UNIX</vt:lpstr>
      <vt:lpstr>The first step: tokenizing</vt:lpstr>
      <vt:lpstr>The second step: sorting</vt:lpstr>
      <vt:lpstr>More counting</vt:lpstr>
      <vt:lpstr>Issues in Tokenization</vt:lpstr>
      <vt:lpstr>Tokenization: language issues</vt:lpstr>
      <vt:lpstr>Tokenization: language issues</vt:lpstr>
      <vt:lpstr>Word Tokenization in Chinese</vt:lpstr>
      <vt:lpstr>Maximum Matching Word Segmentation Algorithm</vt:lpstr>
      <vt:lpstr>Max-match segmentation illustration</vt:lpstr>
      <vt:lpstr>Basic Text Processing</vt:lpstr>
      <vt:lpstr>Basic Text Processing</vt:lpstr>
      <vt:lpstr>Normalization</vt:lpstr>
      <vt:lpstr>Case folding</vt:lpstr>
      <vt:lpstr>Lemmatization</vt:lpstr>
      <vt:lpstr>Morphology</vt:lpstr>
      <vt:lpstr>Stemming</vt:lpstr>
      <vt:lpstr>Porter’s algorithm The most common English stemmer</vt:lpstr>
      <vt:lpstr>Viewing morphology in a corpus Why only strip –ing if there is a vowel?</vt:lpstr>
      <vt:lpstr>Viewing morphology in a corpus Why only strip –ing if there is a vowel?</vt:lpstr>
      <vt:lpstr>Dealing with complex morphology is sometimes necessary</vt:lpstr>
      <vt:lpstr>Basic Text Processing</vt:lpstr>
      <vt:lpstr>Basic Text Processing</vt:lpstr>
      <vt:lpstr>Sentence Segmentation</vt:lpstr>
      <vt:lpstr>Determining if a word is end-of-sentence: a Decision Tree</vt:lpstr>
      <vt:lpstr>More sophisticated decision tree features</vt:lpstr>
      <vt:lpstr>Implementing Decision Trees</vt:lpstr>
      <vt:lpstr>Decision Trees and other classifiers</vt:lpstr>
      <vt:lpstr>Basic Text Processing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Usman Ghani Khan</cp:lastModifiedBy>
  <cp:revision>142</cp:revision>
  <cp:lastPrinted>2011-11-15T22:45:48Z</cp:lastPrinted>
  <dcterms:created xsi:type="dcterms:W3CDTF">2010-04-19T15:31:24Z</dcterms:created>
  <dcterms:modified xsi:type="dcterms:W3CDTF">2017-09-11T17:18:12Z</dcterms:modified>
</cp:coreProperties>
</file>