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2" r:id="rId23"/>
    <p:sldId id="283" r:id="rId24"/>
    <p:sldId id="288" r:id="rId25"/>
    <p:sldId id="289" r:id="rId26"/>
  </p:sldIdLst>
  <p:sldSz cx="12192000" cy="6858000"/>
  <p:notesSz cx="12192000" cy="6858000"/>
  <p:embeddedFontLs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Calibri Light" panose="020F0302020204030204" pitchFamily="34" charset="0"/>
      <p:regular r:id="rId31"/>
      <p:italic r:id="rId32"/>
    </p:embeddedFont>
    <p:embeddedFont>
      <p:font typeface="GCRJEC+Wingdings" panose="020B0604020202020204" charset="2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792" y="66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ltk.org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g.upenn.edu/courses/Fall_2003/ling001/penn_treebank_pos.htm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stackoverflow.com/questions/15173225/how-to-calculate-cosine-similarity-given-2-sentence-strings-pytho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116582" y="2044260"/>
            <a:ext cx="8113362" cy="1460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8453" marR="0">
              <a:lnSpc>
                <a:spcPts val="7330"/>
              </a:lnSpc>
              <a:spcBef>
                <a:spcPts val="0"/>
              </a:spcBef>
              <a:spcAft>
                <a:spcPts val="0"/>
              </a:spcAft>
            </a:pPr>
            <a:r>
              <a:rPr sz="6000" spc="-18" dirty="0">
                <a:solidFill>
                  <a:srgbClr val="000000"/>
                </a:solidFill>
                <a:latin typeface="Calibri Light"/>
                <a:cs typeface="Calibri Light"/>
              </a:rPr>
              <a:t>Introduction</a:t>
            </a:r>
            <a:r>
              <a:rPr sz="6000" spc="2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6000" spc="-43" dirty="0">
                <a:solidFill>
                  <a:srgbClr val="000000"/>
                </a:solidFill>
                <a:latin typeface="Calibri Light"/>
                <a:cs typeface="Calibri Light"/>
              </a:rPr>
              <a:t>to</a:t>
            </a:r>
            <a:r>
              <a:rPr sz="6000" spc="2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6000" spc="-103" dirty="0">
                <a:solidFill>
                  <a:srgbClr val="000000"/>
                </a:solidFill>
                <a:latin typeface="Calibri Light"/>
                <a:cs typeface="Calibri Light"/>
              </a:rPr>
              <a:t>NLTK</a:t>
            </a:r>
          </a:p>
          <a:p>
            <a:pPr marL="0" marR="0">
              <a:lnSpc>
                <a:spcPts val="4397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000000"/>
                </a:solidFill>
                <a:latin typeface="Calibri Light"/>
                <a:cs typeface="Calibri Light"/>
              </a:rPr>
              <a:t>(A</a:t>
            </a:r>
            <a:r>
              <a:rPr sz="3600" spc="-11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600" spc="-81" dirty="0">
                <a:solidFill>
                  <a:srgbClr val="000000"/>
                </a:solidFill>
                <a:latin typeface="Calibri Light"/>
                <a:cs typeface="Calibri Light"/>
              </a:rPr>
              <a:t>Tool</a:t>
            </a:r>
            <a:r>
              <a:rPr sz="3600" spc="68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600" dirty="0">
                <a:solidFill>
                  <a:srgbClr val="000000"/>
                </a:solidFill>
                <a:latin typeface="Calibri Light"/>
                <a:cs typeface="Calibri Light"/>
              </a:rPr>
              <a:t>Kit</a:t>
            </a:r>
            <a:r>
              <a:rPr sz="3600" spc="2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600" spc="-46" dirty="0">
                <a:solidFill>
                  <a:srgbClr val="000000"/>
                </a:solidFill>
                <a:latin typeface="Calibri Light"/>
                <a:cs typeface="Calibri Light"/>
              </a:rPr>
              <a:t>for</a:t>
            </a:r>
            <a:r>
              <a:rPr sz="3600" spc="27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600" spc="-11" dirty="0">
                <a:solidFill>
                  <a:srgbClr val="000000"/>
                </a:solidFill>
                <a:latin typeface="Calibri Light"/>
                <a:cs typeface="Calibri Light"/>
              </a:rPr>
              <a:t>Natural</a:t>
            </a:r>
            <a:r>
              <a:rPr sz="3600" spc="14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600" dirty="0">
                <a:solidFill>
                  <a:srgbClr val="000000"/>
                </a:solidFill>
                <a:latin typeface="Calibri Light"/>
                <a:cs typeface="Calibri Light"/>
              </a:rPr>
              <a:t>Language </a:t>
            </a:r>
            <a:r>
              <a:rPr sz="3600" spc="-10" dirty="0">
                <a:solidFill>
                  <a:srgbClr val="000000"/>
                </a:solidFill>
                <a:latin typeface="Calibri Light"/>
                <a:cs typeface="Calibri Light"/>
              </a:rPr>
              <a:t>Processing)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05426" y="3865391"/>
            <a:ext cx="2739353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49"/>
              </a:lnSpc>
              <a:spcBef>
                <a:spcPts val="0"/>
              </a:spcBef>
              <a:spcAft>
                <a:spcPts val="0"/>
              </a:spcAft>
            </a:pPr>
            <a:endParaRPr sz="2500" spc="-11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88305" y="4288552"/>
            <a:ext cx="2368346" cy="272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97"/>
              </a:lnSpc>
              <a:spcBef>
                <a:spcPts val="0"/>
              </a:spcBef>
              <a:spcAft>
                <a:spcPts val="0"/>
              </a:spcAft>
            </a:pPr>
            <a:endParaRPr sz="1800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7495" y="4608302"/>
            <a:ext cx="1633185" cy="272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endParaRPr sz="1800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29944" y="652510"/>
            <a:ext cx="7242822" cy="719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364"/>
              </a:lnSpc>
              <a:spcBef>
                <a:spcPts val="0"/>
              </a:spcBef>
              <a:spcAft>
                <a:spcPts val="0"/>
              </a:spcAft>
            </a:pPr>
            <a:r>
              <a:rPr sz="4400" spc="-28" dirty="0">
                <a:solidFill>
                  <a:srgbClr val="000000"/>
                </a:solidFill>
                <a:latin typeface="Calibri Light"/>
                <a:cs typeface="Calibri Light"/>
              </a:rPr>
              <a:t>Natural</a:t>
            </a:r>
            <a:r>
              <a:rPr sz="4400" spc="92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dirty="0">
                <a:solidFill>
                  <a:srgbClr val="000000"/>
                </a:solidFill>
                <a:latin typeface="Calibri Light"/>
                <a:cs typeface="Calibri Light"/>
              </a:rPr>
              <a:t>Language</a:t>
            </a:r>
            <a:r>
              <a:rPr sz="4400" spc="23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spc="-67" dirty="0">
                <a:solidFill>
                  <a:srgbClr val="000000"/>
                </a:solidFill>
                <a:latin typeface="Calibri Light"/>
                <a:cs typeface="Calibri Light"/>
              </a:rPr>
              <a:t>Toolkit</a:t>
            </a:r>
            <a:r>
              <a:rPr sz="4400" spc="139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spc="-55" dirty="0">
                <a:solidFill>
                  <a:srgbClr val="000000"/>
                </a:solidFill>
                <a:latin typeface="Calibri Light"/>
                <a:cs typeface="Calibri Light"/>
              </a:rPr>
              <a:t>(NLTK)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9944" y="1822369"/>
            <a:ext cx="10488217" cy="1241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27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8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2800" spc="45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collection</a:t>
            </a:r>
            <a:r>
              <a:rPr sz="2800" spc="4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1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2800" spc="4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Python</a:t>
            </a:r>
            <a:r>
              <a:rPr sz="2800" spc="44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programs,</a:t>
            </a:r>
            <a:r>
              <a:rPr sz="2800" spc="46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modules,</a:t>
            </a:r>
            <a:r>
              <a:rPr sz="2800" spc="44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000000"/>
                </a:solidFill>
                <a:latin typeface="Calibri"/>
                <a:cs typeface="Calibri"/>
              </a:rPr>
              <a:t>data</a:t>
            </a:r>
            <a:r>
              <a:rPr sz="2800" spc="46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set</a:t>
            </a:r>
            <a:r>
              <a:rPr sz="2800" spc="4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sz="2800" spc="4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tutorial</a:t>
            </a:r>
            <a:r>
              <a:rPr sz="2800" spc="45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</a:p>
          <a:p>
            <a:pPr marL="228600" marR="0">
              <a:lnSpc>
                <a:spcPts val="3023"/>
              </a:lnSpc>
              <a:spcBef>
                <a:spcPts val="5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support</a:t>
            </a:r>
            <a:r>
              <a:rPr sz="2800" spc="51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1" dirty="0">
                <a:solidFill>
                  <a:srgbClr val="000000"/>
                </a:solidFill>
                <a:latin typeface="Calibri"/>
                <a:cs typeface="Calibri"/>
              </a:rPr>
              <a:t>research</a:t>
            </a:r>
            <a:r>
              <a:rPr sz="2800" spc="52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18" dirty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sz="2800" spc="50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development</a:t>
            </a:r>
            <a:r>
              <a:rPr sz="2800" spc="52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sz="2800" spc="50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Natural</a:t>
            </a:r>
            <a:r>
              <a:rPr sz="2800" spc="53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Language</a:t>
            </a:r>
            <a:r>
              <a:rPr sz="2800" spc="52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Processing</a:t>
            </a:r>
          </a:p>
          <a:p>
            <a:pPr marL="228600" marR="0">
              <a:lnSpc>
                <a:spcPts val="3026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(NLP).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29944" y="3102620"/>
            <a:ext cx="1395052" cy="473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3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8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000000"/>
                </a:solidFill>
                <a:latin typeface="Calibri"/>
                <a:cs typeface="Calibri"/>
              </a:rPr>
              <a:t>NLTK</a:t>
            </a:r>
            <a:r>
              <a:rPr sz="2800" spc="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is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87094" y="3557885"/>
            <a:ext cx="3097547" cy="19806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29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400" spc="35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Free and</a:t>
            </a:r>
            <a:r>
              <a:rPr sz="2400" spc="-3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Open source</a:t>
            </a:r>
          </a:p>
          <a:p>
            <a:pPr marL="0" marR="0">
              <a:lnSpc>
                <a:spcPts val="2932"/>
              </a:lnSpc>
              <a:spcBef>
                <a:spcPts val="16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400" spc="35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spc="-30" dirty="0">
                <a:solidFill>
                  <a:srgbClr val="000000"/>
                </a:solidFill>
                <a:latin typeface="Calibri"/>
                <a:cs typeface="Calibri"/>
              </a:rPr>
              <a:t>Easy</a:t>
            </a:r>
            <a:r>
              <a:rPr sz="2400" spc="3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 use</a:t>
            </a:r>
          </a:p>
          <a:p>
            <a:pPr marL="0" marR="0">
              <a:lnSpc>
                <a:spcPts val="2929"/>
              </a:lnSpc>
              <a:spcBef>
                <a:spcPts val="167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400" spc="35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Modular</a:t>
            </a:r>
          </a:p>
          <a:p>
            <a:pPr marL="0" marR="0">
              <a:lnSpc>
                <a:spcPts val="2929"/>
              </a:lnSpc>
              <a:spcBef>
                <a:spcPts val="16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400" spc="35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spc="-30" dirty="0">
                <a:solidFill>
                  <a:srgbClr val="000000"/>
                </a:solidFill>
                <a:latin typeface="Calibri"/>
                <a:cs typeface="Calibri"/>
              </a:rPr>
              <a:t>Well</a:t>
            </a:r>
            <a:r>
              <a:rPr sz="2400" spc="4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documented</a:t>
            </a:r>
          </a:p>
          <a:p>
            <a:pPr marL="0" marR="0">
              <a:lnSpc>
                <a:spcPts val="2932"/>
              </a:lnSpc>
              <a:spcBef>
                <a:spcPts val="19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400" spc="35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Simple</a:t>
            </a:r>
            <a:r>
              <a:rPr sz="2400" spc="-3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sz="2400" spc="-1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extensible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29944" y="5580022"/>
            <a:ext cx="3451902" cy="4734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17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Arial"/>
                <a:cs typeface="Arial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•</a:t>
            </a:r>
            <a:r>
              <a:rPr sz="2800" spc="120" dirty="0">
                <a:solidFill>
                  <a:srgbClr val="000000"/>
                </a:solidFill>
                <a:latin typeface="Times New Roman"/>
                <a:cs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</a:t>
            </a:r>
            <a:r>
              <a:rPr sz="2800" u="sng" dirty="0">
                <a:solidFill>
                  <a:srgbClr val="0563C1"/>
                </a:solidFill>
                <a:latin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http://www.nltk.org/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29944" y="652510"/>
            <a:ext cx="3381721" cy="719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364"/>
              </a:lnSpc>
              <a:spcBef>
                <a:spcPts val="0"/>
              </a:spcBef>
              <a:spcAft>
                <a:spcPts val="0"/>
              </a:spcAft>
            </a:pPr>
            <a:r>
              <a:rPr sz="4400" spc="-18" dirty="0">
                <a:solidFill>
                  <a:srgbClr val="000000"/>
                </a:solidFill>
                <a:latin typeface="Calibri Light"/>
                <a:cs typeface="Calibri Light"/>
              </a:rPr>
              <a:t>Installing</a:t>
            </a:r>
            <a:r>
              <a:rPr sz="4400" spc="94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spc="-76" dirty="0">
                <a:solidFill>
                  <a:srgbClr val="000000"/>
                </a:solidFill>
                <a:latin typeface="Calibri Light"/>
                <a:cs typeface="Calibri Light"/>
              </a:rPr>
              <a:t>NLTK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9944" y="1822369"/>
            <a:ext cx="10485321" cy="474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27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8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If</a:t>
            </a:r>
            <a:r>
              <a:rPr sz="2800" spc="39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000000"/>
                </a:solidFill>
                <a:latin typeface="Calibri"/>
                <a:cs typeface="Calibri"/>
              </a:rPr>
              <a:t>you</a:t>
            </a:r>
            <a:r>
              <a:rPr sz="2800" spc="39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do</a:t>
            </a:r>
            <a:r>
              <a:rPr sz="2800" spc="39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not</a:t>
            </a:r>
            <a:r>
              <a:rPr sz="2800" spc="38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23" dirty="0">
                <a:solidFill>
                  <a:srgbClr val="000000"/>
                </a:solidFill>
                <a:latin typeface="Calibri"/>
                <a:cs typeface="Calibri"/>
              </a:rPr>
              <a:t>have</a:t>
            </a:r>
            <a:r>
              <a:rPr sz="2800" spc="39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10" dirty="0">
                <a:solidFill>
                  <a:srgbClr val="000000"/>
                </a:solidFill>
                <a:latin typeface="Calibri"/>
                <a:cs typeface="Calibri"/>
              </a:rPr>
              <a:t>Python</a:t>
            </a:r>
            <a:r>
              <a:rPr sz="2800" spc="35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000000"/>
                </a:solidFill>
                <a:latin typeface="Calibri"/>
                <a:cs typeface="Calibri"/>
              </a:rPr>
              <a:t>yet,</a:t>
            </a:r>
            <a:r>
              <a:rPr sz="2800" spc="38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21" dirty="0">
                <a:solidFill>
                  <a:srgbClr val="000000"/>
                </a:solidFill>
                <a:latin typeface="Calibri"/>
                <a:cs typeface="Calibri"/>
              </a:rPr>
              <a:t>go</a:t>
            </a:r>
            <a:r>
              <a:rPr sz="2800" spc="40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50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sz="2800" spc="43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u="sng" dirty="0">
                <a:solidFill>
                  <a:srgbClr val="0563C1"/>
                </a:solidFill>
                <a:latin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Python.org</a:t>
            </a:r>
            <a:r>
              <a:rPr sz="2800" spc="376" dirty="0">
                <a:solidFill>
                  <a:srgbClr val="0563C1"/>
                </a:solidFill>
                <a:latin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sz="2800" spc="37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download</a:t>
            </a:r>
            <a:r>
              <a:rPr sz="2800" spc="37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58544" y="2206127"/>
            <a:ext cx="1273055" cy="473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3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Python.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29944" y="2718862"/>
            <a:ext cx="8728807" cy="4734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27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8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The easiest</a:t>
            </a:r>
            <a:r>
              <a:rPr sz="2800" spc="-3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method</a:t>
            </a:r>
            <a:r>
              <a:rPr sz="2800" spc="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21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sz="2800" spc="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install</a:t>
            </a:r>
            <a:r>
              <a:rPr sz="2800" spc="-5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800" spc="1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49" dirty="0">
                <a:solidFill>
                  <a:srgbClr val="000000"/>
                </a:solidFill>
                <a:latin typeface="Calibri"/>
                <a:cs typeface="Calibri"/>
              </a:rPr>
              <a:t>NLTK</a:t>
            </a:r>
            <a:r>
              <a:rPr sz="2800" spc="6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module</a:t>
            </a:r>
            <a:r>
              <a:rPr sz="2800" spc="2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is</a:t>
            </a:r>
            <a:r>
              <a:rPr sz="2800" spc="1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with</a:t>
            </a:r>
            <a:r>
              <a:rPr sz="28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pip.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844675" y="3166628"/>
            <a:ext cx="2391664" cy="473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3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ED7D31"/>
                </a:solidFill>
                <a:latin typeface="Arial"/>
                <a:cs typeface="Arial"/>
              </a:rPr>
              <a:t>•</a:t>
            </a:r>
            <a:r>
              <a:rPr sz="2800" spc="120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ED7D31"/>
                </a:solidFill>
                <a:latin typeface="Calibri"/>
                <a:cs typeface="Calibri"/>
              </a:rPr>
              <a:t>pip</a:t>
            </a:r>
            <a:r>
              <a:rPr sz="2800" i="1" spc="-17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2800" i="1" dirty="0">
                <a:solidFill>
                  <a:srgbClr val="ED7D31"/>
                </a:solidFill>
                <a:latin typeface="Calibri"/>
                <a:cs typeface="Calibri"/>
              </a:rPr>
              <a:t>install</a:t>
            </a:r>
            <a:r>
              <a:rPr sz="2800" i="1" spc="-43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2800" i="1" dirty="0">
                <a:solidFill>
                  <a:srgbClr val="ED7D31"/>
                </a:solidFill>
                <a:latin typeface="Calibri"/>
                <a:cs typeface="Calibri"/>
              </a:rPr>
              <a:t>nltk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29944" y="652510"/>
            <a:ext cx="4769861" cy="719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364"/>
              </a:lnSpc>
              <a:spcBef>
                <a:spcPts val="0"/>
              </a:spcBef>
              <a:spcAft>
                <a:spcPts val="0"/>
              </a:spcAft>
            </a:pPr>
            <a:r>
              <a:rPr sz="4400" spc="-11" dirty="0">
                <a:solidFill>
                  <a:srgbClr val="000000"/>
                </a:solidFill>
                <a:latin typeface="Calibri Light"/>
                <a:cs typeface="Calibri Light"/>
              </a:rPr>
              <a:t>Download</a:t>
            </a:r>
            <a:r>
              <a:rPr sz="4400" spc="111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spc="-76" dirty="0">
                <a:solidFill>
                  <a:srgbClr val="000000"/>
                </a:solidFill>
                <a:latin typeface="Calibri Light"/>
                <a:cs typeface="Calibri Light"/>
              </a:rPr>
              <a:t>NLTK</a:t>
            </a:r>
            <a:r>
              <a:rPr sz="4400" spc="62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spc="-46" dirty="0">
                <a:solidFill>
                  <a:srgbClr val="000000"/>
                </a:solidFill>
                <a:latin typeface="Calibri Light"/>
                <a:cs typeface="Calibri Light"/>
              </a:rPr>
              <a:t>data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9944" y="1822369"/>
            <a:ext cx="2681316" cy="9855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27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800" spc="76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import nltk</a:t>
            </a:r>
          </a:p>
          <a:p>
            <a:pPr marL="0" marR="0">
              <a:lnSpc>
                <a:spcPts val="3430"/>
              </a:lnSpc>
              <a:spcBef>
                <a:spcPts val="651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8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nltk.download()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29944" y="652510"/>
            <a:ext cx="3900366" cy="719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364"/>
              </a:lnSpc>
              <a:spcBef>
                <a:spcPts val="0"/>
              </a:spcBef>
              <a:spcAft>
                <a:spcPts val="0"/>
              </a:spcAft>
            </a:pPr>
            <a:r>
              <a:rPr sz="4400" dirty="0">
                <a:solidFill>
                  <a:srgbClr val="000000"/>
                </a:solidFill>
                <a:latin typeface="Calibri Light"/>
                <a:cs typeface="Calibri Light"/>
              </a:rPr>
              <a:t>Some</a:t>
            </a:r>
            <a:r>
              <a:rPr sz="4400" spc="2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spc="-12" dirty="0">
                <a:solidFill>
                  <a:srgbClr val="000000"/>
                </a:solidFill>
                <a:latin typeface="Calibri Light"/>
                <a:cs typeface="Calibri Light"/>
              </a:rPr>
              <a:t>definitions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9944" y="1822369"/>
            <a:ext cx="8088519" cy="13790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27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8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00"/>
                </a:solidFill>
                <a:latin typeface="Calibri"/>
                <a:cs typeface="Calibri"/>
              </a:rPr>
              <a:t>Corpus</a:t>
            </a:r>
            <a:r>
              <a:rPr sz="2800" b="1" spc="-3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-</a:t>
            </a:r>
            <a:r>
              <a:rPr sz="2800" spc="2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Body</a:t>
            </a:r>
            <a:r>
              <a:rPr sz="2800" spc="-3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of </a:t>
            </a:r>
            <a:r>
              <a:rPr sz="2800" spc="-17" dirty="0">
                <a:solidFill>
                  <a:srgbClr val="000000"/>
                </a:solidFill>
                <a:latin typeface="Calibri"/>
                <a:cs typeface="Calibri"/>
              </a:rPr>
              <a:t>text.</a:t>
            </a:r>
            <a:r>
              <a:rPr sz="2800" spc="2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Corpora</a:t>
            </a:r>
            <a:r>
              <a:rPr sz="2800" spc="-4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is the</a:t>
            </a:r>
            <a:r>
              <a:rPr sz="2800" spc="1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plural of</a:t>
            </a:r>
            <a:r>
              <a:rPr sz="2800" spc="-1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Corpus.</a:t>
            </a:r>
          </a:p>
          <a:p>
            <a:pPr marL="457149" marR="0">
              <a:lnSpc>
                <a:spcPts val="2932"/>
              </a:lnSpc>
              <a:spcBef>
                <a:spcPts val="15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400" spc="35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Example:</a:t>
            </a:r>
            <a:r>
              <a:rPr sz="2400" spc="-2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240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collection</a:t>
            </a:r>
            <a:r>
              <a:rPr sz="2400" spc="-2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2400" spc="-2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news</a:t>
            </a:r>
            <a:r>
              <a:rPr sz="2400" spc="-1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documents.</a:t>
            </a:r>
          </a:p>
          <a:p>
            <a:pPr marL="0" marR="0">
              <a:lnSpc>
                <a:spcPts val="3427"/>
              </a:lnSpc>
              <a:spcBef>
                <a:spcPts val="67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8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00"/>
                </a:solidFill>
                <a:latin typeface="Calibri"/>
                <a:cs typeface="Calibri"/>
              </a:rPr>
              <a:t>Lexicon</a:t>
            </a:r>
            <a:r>
              <a:rPr sz="2800" b="1" spc="1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- </a:t>
            </a:r>
            <a:r>
              <a:rPr sz="2800" spc="-37" dirty="0">
                <a:solidFill>
                  <a:srgbClr val="000000"/>
                </a:solidFill>
                <a:latin typeface="Calibri"/>
                <a:cs typeface="Calibri"/>
              </a:rPr>
              <a:t>Words</a:t>
            </a:r>
            <a:r>
              <a:rPr sz="2800" spc="4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sz="2800" spc="3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their meanings.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87094" y="3182436"/>
            <a:ext cx="3818140" cy="4105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400" spc="35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Example:</a:t>
            </a:r>
            <a:r>
              <a:rPr sz="2400" spc="-2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English </a:t>
            </a:r>
            <a:r>
              <a:rPr sz="2400" spc="-12" dirty="0">
                <a:solidFill>
                  <a:srgbClr val="000000"/>
                </a:solidFill>
                <a:latin typeface="Calibri"/>
                <a:cs typeface="Calibri"/>
              </a:rPr>
              <a:t>dictionary.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29944" y="3630178"/>
            <a:ext cx="10303100" cy="473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3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8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1" spc="-58" dirty="0">
                <a:solidFill>
                  <a:srgbClr val="000000"/>
                </a:solidFill>
                <a:latin typeface="Calibri"/>
                <a:cs typeface="Calibri"/>
              </a:rPr>
              <a:t>Token</a:t>
            </a:r>
            <a:r>
              <a:rPr sz="2800" b="1" spc="3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0000"/>
                </a:solidFill>
                <a:latin typeface="Calibri"/>
                <a:cs typeface="Calibri"/>
              </a:rPr>
              <a:t>-</a:t>
            </a:r>
            <a:r>
              <a:rPr sz="2800" b="1" spc="2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7" dirty="0">
                <a:solidFill>
                  <a:srgbClr val="000000"/>
                </a:solidFill>
                <a:latin typeface="Calibri"/>
                <a:cs typeface="Calibri"/>
              </a:rPr>
              <a:t>Each</a:t>
            </a:r>
            <a:r>
              <a:rPr sz="2800" spc="2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"entity" </a:t>
            </a:r>
            <a:r>
              <a:rPr sz="2800" spc="-10" dirty="0">
                <a:solidFill>
                  <a:srgbClr val="000000"/>
                </a:solidFill>
                <a:latin typeface="Calibri"/>
                <a:cs typeface="Calibri"/>
              </a:rPr>
              <a:t>that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 is a part</a:t>
            </a:r>
            <a:r>
              <a:rPr sz="2800" spc="-1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280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00"/>
                </a:solidFill>
                <a:latin typeface="Calibri"/>
                <a:cs typeface="Calibri"/>
              </a:rPr>
              <a:t>whatever</a:t>
            </a:r>
            <a:r>
              <a:rPr sz="2800" spc="-2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was split up</a:t>
            </a:r>
            <a:r>
              <a:rPr sz="2800" spc="1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based 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58544" y="4014770"/>
            <a:ext cx="952870" cy="4734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27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rules.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387094" y="4469200"/>
            <a:ext cx="10032879" cy="1069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400" spc="35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For</a:t>
            </a:r>
            <a:r>
              <a:rPr sz="2400" spc="58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examples,</a:t>
            </a:r>
            <a:r>
              <a:rPr sz="2400" spc="55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each</a:t>
            </a:r>
            <a:r>
              <a:rPr sz="2400" spc="57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Calibri"/>
                <a:cs typeface="Calibri"/>
              </a:rPr>
              <a:t>word</a:t>
            </a:r>
            <a:r>
              <a:rPr sz="2400" spc="59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is</a:t>
            </a:r>
            <a:r>
              <a:rPr sz="2400" spc="53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2400" spc="54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000000"/>
                </a:solidFill>
                <a:latin typeface="Calibri"/>
                <a:cs typeface="Calibri"/>
              </a:rPr>
              <a:t>token</a:t>
            </a:r>
            <a:r>
              <a:rPr sz="2400" spc="57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when</a:t>
            </a:r>
            <a:r>
              <a:rPr sz="2400" spc="55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2400" spc="56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sentence</a:t>
            </a:r>
            <a:r>
              <a:rPr sz="2400" spc="55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is</a:t>
            </a:r>
            <a:r>
              <a:rPr sz="2400" spc="55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14" dirty="0">
                <a:solidFill>
                  <a:srgbClr val="000000"/>
                </a:solidFill>
                <a:latin typeface="Calibri"/>
                <a:cs typeface="Calibri"/>
              </a:rPr>
              <a:t>"tokenized"</a:t>
            </a:r>
            <a:r>
              <a:rPr sz="2400" spc="55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000000"/>
                </a:solidFill>
                <a:latin typeface="Calibri"/>
                <a:cs typeface="Calibri"/>
              </a:rPr>
              <a:t>into</a:t>
            </a:r>
          </a:p>
          <a:p>
            <a:pPr marL="228600" marR="0">
              <a:lnSpc>
                <a:spcPts val="259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words.</a:t>
            </a:r>
            <a:r>
              <a:rPr sz="2400" spc="10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000000"/>
                </a:solidFill>
                <a:latin typeface="Calibri"/>
                <a:cs typeface="Calibri"/>
              </a:rPr>
              <a:t>Each</a:t>
            </a:r>
            <a:r>
              <a:rPr sz="2400" spc="12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sentence</a:t>
            </a:r>
            <a:r>
              <a:rPr sz="2400" spc="1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Calibri"/>
                <a:cs typeface="Calibri"/>
              </a:rPr>
              <a:t>can</a:t>
            </a:r>
            <a:r>
              <a:rPr sz="2400" spc="14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also</a:t>
            </a:r>
            <a:r>
              <a:rPr sz="2400" spc="8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Calibri"/>
                <a:cs typeface="Calibri"/>
              </a:rPr>
              <a:t>be</a:t>
            </a:r>
            <a:r>
              <a:rPr sz="2400" spc="1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2400" spc="8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000000"/>
                </a:solidFill>
                <a:latin typeface="Calibri"/>
                <a:cs typeface="Calibri"/>
              </a:rPr>
              <a:t>token,</a:t>
            </a:r>
            <a:r>
              <a:rPr sz="2400" spc="1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23" dirty="0">
                <a:solidFill>
                  <a:srgbClr val="000000"/>
                </a:solidFill>
                <a:latin typeface="Calibri"/>
                <a:cs typeface="Calibri"/>
              </a:rPr>
              <a:t>if</a:t>
            </a:r>
            <a:r>
              <a:rPr sz="2400" spc="13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000000"/>
                </a:solidFill>
                <a:latin typeface="Calibri"/>
                <a:cs typeface="Calibri"/>
              </a:rPr>
              <a:t>you</a:t>
            </a:r>
            <a:r>
              <a:rPr sz="2400" spc="9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000000"/>
                </a:solidFill>
                <a:latin typeface="Calibri"/>
                <a:cs typeface="Calibri"/>
              </a:rPr>
              <a:t>tokenized</a:t>
            </a:r>
            <a:r>
              <a:rPr sz="2400" spc="10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400" spc="1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sentences</a:t>
            </a:r>
            <a:r>
              <a:rPr sz="2400" spc="9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out</a:t>
            </a:r>
          </a:p>
          <a:p>
            <a:pPr marL="228600" marR="0">
              <a:lnSpc>
                <a:spcPts val="259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of a</a:t>
            </a:r>
            <a:r>
              <a:rPr sz="2400" spc="-1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paragraph.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29944" y="652510"/>
            <a:ext cx="6861697" cy="719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364"/>
              </a:lnSpc>
              <a:spcBef>
                <a:spcPts val="0"/>
              </a:spcBef>
              <a:spcAft>
                <a:spcPts val="0"/>
              </a:spcAft>
            </a:pPr>
            <a:r>
              <a:rPr sz="4400" spc="-76" dirty="0">
                <a:solidFill>
                  <a:srgbClr val="000000"/>
                </a:solidFill>
                <a:latin typeface="Calibri Light"/>
                <a:cs typeface="Calibri Light"/>
              </a:rPr>
              <a:t>NLTK</a:t>
            </a:r>
            <a:r>
              <a:rPr sz="4400" spc="62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dirty="0">
                <a:solidFill>
                  <a:srgbClr val="000000"/>
                </a:solidFill>
                <a:latin typeface="Calibri Light"/>
                <a:cs typeface="Calibri Light"/>
              </a:rPr>
              <a:t>Modules</a:t>
            </a:r>
            <a:r>
              <a:rPr sz="4400" spc="56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dirty="0">
                <a:solidFill>
                  <a:srgbClr val="000000"/>
                </a:solidFill>
                <a:latin typeface="Calibri Light"/>
                <a:cs typeface="Calibri Light"/>
              </a:rPr>
              <a:t>&amp;</a:t>
            </a:r>
            <a:r>
              <a:rPr sz="4400" spc="12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dirty="0">
                <a:solidFill>
                  <a:srgbClr val="000000"/>
                </a:solidFill>
                <a:latin typeface="Calibri Light"/>
                <a:cs typeface="Calibri Light"/>
              </a:rPr>
              <a:t>Functionality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23213" y="360192"/>
            <a:ext cx="3016490" cy="718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361"/>
              </a:lnSpc>
              <a:spcBef>
                <a:spcPts val="0"/>
              </a:spcBef>
              <a:spcAft>
                <a:spcPts val="0"/>
              </a:spcAft>
            </a:pPr>
            <a:r>
              <a:rPr sz="4400" spc="-62" dirty="0">
                <a:solidFill>
                  <a:srgbClr val="000000"/>
                </a:solidFill>
                <a:latin typeface="Calibri Light"/>
                <a:cs typeface="Calibri Light"/>
              </a:rPr>
              <a:t>Tokenization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46759" y="1374948"/>
            <a:ext cx="11038675" cy="4734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27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8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1" spc="-31" dirty="0">
                <a:solidFill>
                  <a:srgbClr val="000000"/>
                </a:solidFill>
                <a:latin typeface="Calibri"/>
                <a:cs typeface="Calibri"/>
              </a:rPr>
              <a:t>Tokenization</a:t>
            </a:r>
            <a:r>
              <a:rPr sz="2800" b="1" spc="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is</a:t>
            </a:r>
            <a:r>
              <a:rPr sz="2800" spc="35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800" spc="3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process</a:t>
            </a:r>
            <a:r>
              <a:rPr sz="2800" spc="37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1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2800" spc="34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breaking</a:t>
            </a:r>
            <a:r>
              <a:rPr sz="2800" spc="33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2800" spc="35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stream</a:t>
            </a:r>
            <a:r>
              <a:rPr sz="2800" spc="34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2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2800" spc="3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23" dirty="0">
                <a:solidFill>
                  <a:srgbClr val="000000"/>
                </a:solidFill>
                <a:latin typeface="Calibri"/>
                <a:cs typeface="Calibri"/>
              </a:rPr>
              <a:t>text</a:t>
            </a:r>
            <a:r>
              <a:rPr sz="2800" spc="37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up</a:t>
            </a:r>
            <a:r>
              <a:rPr sz="2800" spc="35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7" dirty="0">
                <a:solidFill>
                  <a:srgbClr val="000000"/>
                </a:solidFill>
                <a:latin typeface="Calibri"/>
                <a:cs typeface="Calibri"/>
              </a:rPr>
              <a:t>into</a:t>
            </a:r>
            <a:r>
              <a:rPr sz="2800" spc="37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words,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75360" y="1758706"/>
            <a:ext cx="9150916" cy="473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3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phrases, symbols, </a:t>
            </a:r>
            <a:r>
              <a:rPr sz="2800" spc="10" dirty="0">
                <a:solidFill>
                  <a:srgbClr val="000000"/>
                </a:solidFill>
                <a:latin typeface="Calibri"/>
                <a:cs typeface="Calibri"/>
              </a:rPr>
              <a:t>or</a:t>
            </a:r>
            <a:r>
              <a:rPr sz="2800" spc="-3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other meaningful</a:t>
            </a:r>
            <a:r>
              <a:rPr sz="28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elements called </a:t>
            </a:r>
            <a:r>
              <a:rPr sz="2800" spc="-18" dirty="0">
                <a:solidFill>
                  <a:srgbClr val="000000"/>
                </a:solidFill>
                <a:latin typeface="Calibri"/>
                <a:cs typeface="Calibri"/>
              </a:rPr>
              <a:t>tokens.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03960" y="2309741"/>
            <a:ext cx="6835119" cy="287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62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alibri Light"/>
                <a:cs typeface="Calibri Light"/>
              </a:rPr>
              <a:t>&gt;&gt;&gt;</a:t>
            </a:r>
            <a:r>
              <a:rPr sz="1600" spc="191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ED7D31"/>
                </a:solidFill>
                <a:latin typeface="Calibri Light"/>
                <a:cs typeface="Calibri Light"/>
              </a:rPr>
              <a:t>from</a:t>
            </a:r>
            <a:r>
              <a:rPr sz="1600" spc="-10" dirty="0">
                <a:solidFill>
                  <a:srgbClr val="ED7D31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 Light"/>
                <a:cs typeface="Calibri Light"/>
              </a:rPr>
              <a:t>nltk.tokenize</a:t>
            </a:r>
            <a:r>
              <a:rPr sz="1600" spc="-5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ED7D31"/>
                </a:solidFill>
                <a:latin typeface="Calibri Light"/>
                <a:cs typeface="Calibri Light"/>
              </a:rPr>
              <a:t>import</a:t>
            </a:r>
            <a:r>
              <a:rPr sz="1600" spc="-27" dirty="0">
                <a:solidFill>
                  <a:srgbClr val="ED7D31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 Light"/>
                <a:cs typeface="Calibri Light"/>
              </a:rPr>
              <a:t>word_tokenize,</a:t>
            </a:r>
            <a:r>
              <a:rPr sz="1600" spc="-2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 Light"/>
                <a:cs typeface="Calibri Light"/>
              </a:rPr>
              <a:t>wordpunct_tokenize,</a:t>
            </a:r>
            <a:r>
              <a:rPr sz="1600" spc="-77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 Light"/>
                <a:cs typeface="Calibri Light"/>
              </a:rPr>
              <a:t>sent_tokenize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03960" y="2620347"/>
            <a:ext cx="7531655" cy="2877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65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alibri Light"/>
                <a:cs typeface="Calibri Light"/>
              </a:rPr>
              <a:t>&gt;&gt;&gt;</a:t>
            </a:r>
            <a:r>
              <a:rPr sz="1600" spc="23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548235"/>
                </a:solidFill>
                <a:latin typeface="Calibri Light"/>
                <a:cs typeface="Calibri Light"/>
              </a:rPr>
              <a:t>s =</a:t>
            </a:r>
            <a:r>
              <a:rPr sz="1600" spc="11" dirty="0">
                <a:solidFill>
                  <a:srgbClr val="54823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548235"/>
                </a:solidFill>
                <a:latin typeface="Calibri Light"/>
                <a:cs typeface="Calibri Light"/>
              </a:rPr>
              <a:t>'''Good</a:t>
            </a:r>
            <a:r>
              <a:rPr sz="1600" spc="-17" dirty="0">
                <a:solidFill>
                  <a:srgbClr val="54823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548235"/>
                </a:solidFill>
                <a:latin typeface="Calibri Light"/>
                <a:cs typeface="Calibri Light"/>
              </a:rPr>
              <a:t>muffins</a:t>
            </a:r>
            <a:r>
              <a:rPr sz="1600" spc="-21" dirty="0">
                <a:solidFill>
                  <a:srgbClr val="54823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548235"/>
                </a:solidFill>
                <a:latin typeface="Calibri Light"/>
                <a:cs typeface="Calibri Light"/>
              </a:rPr>
              <a:t>cost $3.88\nin</a:t>
            </a:r>
            <a:r>
              <a:rPr sz="1600" spc="-18" dirty="0">
                <a:solidFill>
                  <a:srgbClr val="54823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548235"/>
                </a:solidFill>
                <a:latin typeface="Calibri Light"/>
                <a:cs typeface="Calibri Light"/>
              </a:rPr>
              <a:t>New</a:t>
            </a:r>
            <a:r>
              <a:rPr sz="1600" spc="-43" dirty="0">
                <a:solidFill>
                  <a:srgbClr val="548235"/>
                </a:solidFill>
                <a:latin typeface="Calibri Light"/>
                <a:cs typeface="Calibri Light"/>
              </a:rPr>
              <a:t> </a:t>
            </a:r>
            <a:r>
              <a:rPr sz="1600" spc="-21" dirty="0">
                <a:solidFill>
                  <a:srgbClr val="548235"/>
                </a:solidFill>
                <a:latin typeface="Calibri Light"/>
                <a:cs typeface="Calibri Light"/>
              </a:rPr>
              <a:t>York.</a:t>
            </a:r>
            <a:r>
              <a:rPr sz="1600" spc="15" dirty="0">
                <a:solidFill>
                  <a:srgbClr val="54823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548235"/>
                </a:solidFill>
                <a:latin typeface="Calibri Light"/>
                <a:cs typeface="Calibri Light"/>
              </a:rPr>
              <a:t>Please</a:t>
            </a:r>
            <a:r>
              <a:rPr sz="1600" spc="-28" dirty="0">
                <a:solidFill>
                  <a:srgbClr val="54823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548235"/>
                </a:solidFill>
                <a:latin typeface="Calibri Light"/>
                <a:cs typeface="Calibri Light"/>
              </a:rPr>
              <a:t>buy</a:t>
            </a:r>
            <a:r>
              <a:rPr sz="1600" spc="-20" dirty="0">
                <a:solidFill>
                  <a:srgbClr val="54823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548235"/>
                </a:solidFill>
                <a:latin typeface="Calibri Light"/>
                <a:cs typeface="Calibri Light"/>
              </a:rPr>
              <a:t>me</a:t>
            </a:r>
            <a:r>
              <a:rPr sz="1600" spc="-33" dirty="0">
                <a:solidFill>
                  <a:srgbClr val="54823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548235"/>
                </a:solidFill>
                <a:latin typeface="Calibri Light"/>
                <a:cs typeface="Calibri Light"/>
              </a:rPr>
              <a:t>two</a:t>
            </a:r>
            <a:r>
              <a:rPr sz="1600" spc="12" dirty="0">
                <a:solidFill>
                  <a:srgbClr val="54823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548235"/>
                </a:solidFill>
                <a:latin typeface="Calibri Light"/>
                <a:cs typeface="Calibri Light"/>
              </a:rPr>
              <a:t>of</a:t>
            </a:r>
            <a:r>
              <a:rPr sz="1600" spc="-31" dirty="0">
                <a:solidFill>
                  <a:srgbClr val="54823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548235"/>
                </a:solidFill>
                <a:latin typeface="Calibri Light"/>
                <a:cs typeface="Calibri Light"/>
              </a:rPr>
              <a:t>them.\n\nThanks.''‘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46759" y="2955016"/>
            <a:ext cx="4250249" cy="410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29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400" spc="35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spc="-37" dirty="0">
                <a:solidFill>
                  <a:srgbClr val="000000"/>
                </a:solidFill>
                <a:latin typeface="Calibri"/>
                <a:cs typeface="Calibri"/>
              </a:rPr>
              <a:t>Word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 Punctuation</a:t>
            </a:r>
            <a:r>
              <a:rPr sz="2400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27" dirty="0">
                <a:solidFill>
                  <a:srgbClr val="000000"/>
                </a:solidFill>
                <a:latin typeface="Calibri"/>
                <a:cs typeface="Calibri"/>
              </a:rPr>
              <a:t>Tokenization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545589" y="3443688"/>
            <a:ext cx="2384166" cy="2877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65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alibri Light"/>
                <a:cs typeface="Calibri Light"/>
              </a:rPr>
              <a:t>&gt;&gt;&gt;</a:t>
            </a:r>
            <a:r>
              <a:rPr sz="1600" spc="21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 Light"/>
                <a:cs typeface="Calibri Light"/>
              </a:rPr>
              <a:t>wordpunct_tokenize(s)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847342" y="3752081"/>
            <a:ext cx="9240370" cy="287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62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4472C4"/>
                </a:solidFill>
                <a:latin typeface="Calibri Light"/>
                <a:cs typeface="Calibri Light"/>
              </a:rPr>
              <a:t>['Good', 'muffins',</a:t>
            </a:r>
            <a:r>
              <a:rPr sz="1600" spc="-33" dirty="0">
                <a:solidFill>
                  <a:srgbClr val="4472C4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4472C4"/>
                </a:solidFill>
                <a:latin typeface="Calibri Light"/>
                <a:cs typeface="Calibri Light"/>
              </a:rPr>
              <a:t>'cost', '$', '3', '.',</a:t>
            </a:r>
            <a:r>
              <a:rPr sz="1600" spc="20" dirty="0">
                <a:solidFill>
                  <a:srgbClr val="4472C4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4472C4"/>
                </a:solidFill>
                <a:latin typeface="Calibri Light"/>
                <a:cs typeface="Calibri Light"/>
              </a:rPr>
              <a:t>'88', 'in', 'New',</a:t>
            </a:r>
            <a:r>
              <a:rPr sz="1600" spc="-34" dirty="0">
                <a:solidFill>
                  <a:srgbClr val="4472C4"/>
                </a:solidFill>
                <a:latin typeface="Calibri Light"/>
                <a:cs typeface="Calibri Light"/>
              </a:rPr>
              <a:t> </a:t>
            </a:r>
            <a:r>
              <a:rPr sz="1600" spc="-20" dirty="0">
                <a:solidFill>
                  <a:srgbClr val="4472C4"/>
                </a:solidFill>
                <a:latin typeface="Calibri Light"/>
                <a:cs typeface="Calibri Light"/>
              </a:rPr>
              <a:t>'York',</a:t>
            </a:r>
            <a:r>
              <a:rPr sz="1600" spc="15" dirty="0">
                <a:solidFill>
                  <a:srgbClr val="4472C4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4472C4"/>
                </a:solidFill>
                <a:latin typeface="Calibri Light"/>
                <a:cs typeface="Calibri Light"/>
              </a:rPr>
              <a:t>'.', 'Please',</a:t>
            </a:r>
            <a:r>
              <a:rPr sz="1600" spc="-34" dirty="0">
                <a:solidFill>
                  <a:srgbClr val="4472C4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4472C4"/>
                </a:solidFill>
                <a:latin typeface="Calibri Light"/>
                <a:cs typeface="Calibri Light"/>
              </a:rPr>
              <a:t>'buy',</a:t>
            </a:r>
            <a:r>
              <a:rPr sz="1600" spc="-36" dirty="0">
                <a:solidFill>
                  <a:srgbClr val="4472C4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4472C4"/>
                </a:solidFill>
                <a:latin typeface="Calibri Light"/>
                <a:cs typeface="Calibri Light"/>
              </a:rPr>
              <a:t>'me', 'two', 'of', 'them',</a:t>
            </a:r>
            <a:r>
              <a:rPr sz="1600" spc="-33" dirty="0">
                <a:solidFill>
                  <a:srgbClr val="4472C4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4472C4"/>
                </a:solidFill>
                <a:latin typeface="Calibri Light"/>
                <a:cs typeface="Calibri Light"/>
              </a:rPr>
              <a:t>'.',</a:t>
            </a:r>
            <a:r>
              <a:rPr sz="1600" spc="20" dirty="0">
                <a:solidFill>
                  <a:srgbClr val="4472C4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4472C4"/>
                </a:solidFill>
                <a:latin typeface="Calibri Light"/>
                <a:cs typeface="Calibri Light"/>
              </a:rPr>
              <a:t>'Thanks',</a:t>
            </a:r>
            <a:r>
              <a:rPr sz="1600" spc="-37" dirty="0">
                <a:solidFill>
                  <a:srgbClr val="4472C4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4472C4"/>
                </a:solidFill>
                <a:latin typeface="Calibri Light"/>
                <a:cs typeface="Calibri Light"/>
              </a:rPr>
              <a:t>'.']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46759" y="4085787"/>
            <a:ext cx="3140181" cy="4105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400" spc="35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Sentence</a:t>
            </a:r>
            <a:r>
              <a:rPr sz="2400" spc="-3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Calibri"/>
                <a:cs typeface="Calibri"/>
              </a:rPr>
              <a:t>Tokenization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545589" y="4575422"/>
            <a:ext cx="1839989" cy="287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62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&gt;&gt;&gt;</a:t>
            </a:r>
            <a:r>
              <a:rPr sz="1600" spc="2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spc="-14" dirty="0">
                <a:solidFill>
                  <a:srgbClr val="000000"/>
                </a:solidFill>
                <a:latin typeface="Calibri"/>
                <a:cs typeface="Calibri"/>
              </a:rPr>
              <a:t>sent_tokenize(s)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847342" y="4886027"/>
            <a:ext cx="7039792" cy="2877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65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7BB7"/>
                </a:solidFill>
                <a:latin typeface="Calibri"/>
                <a:cs typeface="Calibri"/>
              </a:rPr>
              <a:t>['Good muffins</a:t>
            </a:r>
            <a:r>
              <a:rPr sz="1600" spc="23" dirty="0">
                <a:solidFill>
                  <a:srgbClr val="007BB7"/>
                </a:solidFill>
                <a:latin typeface="Calibri"/>
                <a:cs typeface="Calibri"/>
              </a:rPr>
              <a:t> </a:t>
            </a:r>
            <a:r>
              <a:rPr sz="1600" spc="-18" dirty="0">
                <a:solidFill>
                  <a:srgbClr val="007BB7"/>
                </a:solidFill>
                <a:latin typeface="Calibri"/>
                <a:cs typeface="Calibri"/>
              </a:rPr>
              <a:t>cost</a:t>
            </a:r>
            <a:r>
              <a:rPr sz="1600" spc="31" dirty="0">
                <a:solidFill>
                  <a:srgbClr val="007BB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7BB7"/>
                </a:solidFill>
                <a:latin typeface="Calibri"/>
                <a:cs typeface="Calibri"/>
              </a:rPr>
              <a:t>$3.88\nin</a:t>
            </a:r>
            <a:r>
              <a:rPr sz="1600" spc="-31" dirty="0">
                <a:solidFill>
                  <a:srgbClr val="007BB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7BB7"/>
                </a:solidFill>
                <a:latin typeface="Calibri"/>
                <a:cs typeface="Calibri"/>
              </a:rPr>
              <a:t>New</a:t>
            </a:r>
            <a:r>
              <a:rPr sz="1600" spc="11" dirty="0">
                <a:solidFill>
                  <a:srgbClr val="007BB7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007BB7"/>
                </a:solidFill>
                <a:latin typeface="Calibri"/>
                <a:cs typeface="Calibri"/>
              </a:rPr>
              <a:t>York.',</a:t>
            </a:r>
            <a:r>
              <a:rPr sz="1600" spc="28" dirty="0">
                <a:solidFill>
                  <a:srgbClr val="007BB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7BB7"/>
                </a:solidFill>
                <a:latin typeface="Calibri"/>
                <a:cs typeface="Calibri"/>
              </a:rPr>
              <a:t>'Please</a:t>
            </a:r>
            <a:r>
              <a:rPr sz="1600" spc="-30" dirty="0">
                <a:solidFill>
                  <a:srgbClr val="007BB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7BB7"/>
                </a:solidFill>
                <a:latin typeface="Calibri"/>
                <a:cs typeface="Calibri"/>
              </a:rPr>
              <a:t>buy me\ntwo</a:t>
            </a:r>
            <a:r>
              <a:rPr sz="1600" spc="23" dirty="0">
                <a:solidFill>
                  <a:srgbClr val="007BB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7BB7"/>
                </a:solidFill>
                <a:latin typeface="Calibri"/>
                <a:cs typeface="Calibri"/>
              </a:rPr>
              <a:t>of</a:t>
            </a:r>
            <a:r>
              <a:rPr sz="1600" spc="15" dirty="0">
                <a:solidFill>
                  <a:srgbClr val="007BB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7BB7"/>
                </a:solidFill>
                <a:latin typeface="Calibri"/>
                <a:cs typeface="Calibri"/>
              </a:rPr>
              <a:t>them.',</a:t>
            </a:r>
            <a:r>
              <a:rPr sz="1600" spc="-44" dirty="0">
                <a:solidFill>
                  <a:srgbClr val="007BB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7BB7"/>
                </a:solidFill>
                <a:latin typeface="Calibri"/>
                <a:cs typeface="Calibri"/>
              </a:rPr>
              <a:t>'Thanks.']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46759" y="5220568"/>
            <a:ext cx="2679006" cy="410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29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400" spc="35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spc="-37" dirty="0">
                <a:solidFill>
                  <a:srgbClr val="000000"/>
                </a:solidFill>
                <a:latin typeface="Calibri"/>
                <a:cs typeface="Calibri"/>
              </a:rPr>
              <a:t>Word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Calibri"/>
                <a:cs typeface="Calibri"/>
              </a:rPr>
              <a:t>Tokenization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545589" y="5706788"/>
            <a:ext cx="4017081" cy="287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62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&gt;&gt;&gt;</a:t>
            </a:r>
            <a:r>
              <a:rPr sz="1600" spc="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spc="-12" dirty="0">
                <a:solidFill>
                  <a:srgbClr val="000000"/>
                </a:solidFill>
                <a:latin typeface="Calibri"/>
                <a:cs typeface="Calibri"/>
              </a:rPr>
              <a:t>[word_tokenize(t)</a:t>
            </a:r>
            <a:r>
              <a:rPr sz="1600" spc="12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spc="-18" dirty="0">
                <a:solidFill>
                  <a:srgbClr val="000000"/>
                </a:solidFill>
                <a:latin typeface="Calibri"/>
                <a:cs typeface="Calibri"/>
              </a:rPr>
              <a:t>for</a:t>
            </a:r>
            <a:r>
              <a:rPr sz="1600" spc="3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t </a:t>
            </a:r>
            <a:r>
              <a:rPr sz="1600" spc="-10" dirty="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sz="1600" spc="1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spc="-12" dirty="0">
                <a:solidFill>
                  <a:srgbClr val="000000"/>
                </a:solidFill>
                <a:latin typeface="Calibri"/>
                <a:cs typeface="Calibri"/>
              </a:rPr>
              <a:t>sent_tokenize(s)]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847342" y="6042068"/>
            <a:ext cx="9371273" cy="287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62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7BB7"/>
                </a:solidFill>
                <a:latin typeface="Calibri"/>
                <a:cs typeface="Calibri"/>
              </a:rPr>
              <a:t>[['Good',</a:t>
            </a:r>
            <a:r>
              <a:rPr sz="1600" spc="-20" dirty="0">
                <a:solidFill>
                  <a:srgbClr val="007BB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7BB7"/>
                </a:solidFill>
                <a:latin typeface="Calibri"/>
                <a:cs typeface="Calibri"/>
              </a:rPr>
              <a:t>'muffins',</a:t>
            </a:r>
            <a:r>
              <a:rPr sz="1600" spc="-10" dirty="0">
                <a:solidFill>
                  <a:srgbClr val="007BB7"/>
                </a:solidFill>
                <a:latin typeface="Calibri"/>
                <a:cs typeface="Calibri"/>
              </a:rPr>
              <a:t> 'cost',</a:t>
            </a:r>
            <a:r>
              <a:rPr sz="1600" spc="43" dirty="0">
                <a:solidFill>
                  <a:srgbClr val="007BB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7BB7"/>
                </a:solidFill>
                <a:latin typeface="Calibri"/>
                <a:cs typeface="Calibri"/>
              </a:rPr>
              <a:t>'$',</a:t>
            </a:r>
            <a:r>
              <a:rPr sz="1600" spc="-40" dirty="0">
                <a:solidFill>
                  <a:srgbClr val="007BB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7BB7"/>
                </a:solidFill>
                <a:latin typeface="Calibri"/>
                <a:cs typeface="Calibri"/>
              </a:rPr>
              <a:t>'3.88',</a:t>
            </a:r>
            <a:r>
              <a:rPr sz="1600" spc="-46" dirty="0">
                <a:solidFill>
                  <a:srgbClr val="007BB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7BB7"/>
                </a:solidFill>
                <a:latin typeface="Calibri"/>
                <a:cs typeface="Calibri"/>
              </a:rPr>
              <a:t>'in',</a:t>
            </a:r>
            <a:r>
              <a:rPr sz="1600" spc="-20" dirty="0">
                <a:solidFill>
                  <a:srgbClr val="007BB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7BB7"/>
                </a:solidFill>
                <a:latin typeface="Calibri"/>
                <a:cs typeface="Calibri"/>
              </a:rPr>
              <a:t>'New', </a:t>
            </a:r>
            <a:r>
              <a:rPr sz="1600" spc="-20" dirty="0">
                <a:solidFill>
                  <a:srgbClr val="007BB7"/>
                </a:solidFill>
                <a:latin typeface="Calibri"/>
                <a:cs typeface="Calibri"/>
              </a:rPr>
              <a:t>'York',</a:t>
            </a:r>
            <a:r>
              <a:rPr sz="1600" dirty="0">
                <a:solidFill>
                  <a:srgbClr val="007BB7"/>
                </a:solidFill>
                <a:latin typeface="Calibri"/>
                <a:cs typeface="Calibri"/>
              </a:rPr>
              <a:t> '.'],</a:t>
            </a:r>
            <a:r>
              <a:rPr sz="1600" spc="-49" dirty="0">
                <a:solidFill>
                  <a:srgbClr val="007BB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7BB7"/>
                </a:solidFill>
                <a:latin typeface="Calibri"/>
                <a:cs typeface="Calibri"/>
              </a:rPr>
              <a:t>['Please',</a:t>
            </a:r>
            <a:r>
              <a:rPr sz="1600" spc="-38" dirty="0">
                <a:solidFill>
                  <a:srgbClr val="007BB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7BB7"/>
                </a:solidFill>
                <a:latin typeface="Calibri"/>
                <a:cs typeface="Calibri"/>
              </a:rPr>
              <a:t>'buy',</a:t>
            </a:r>
            <a:r>
              <a:rPr sz="1600" spc="-14" dirty="0">
                <a:solidFill>
                  <a:srgbClr val="007BB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7BB7"/>
                </a:solidFill>
                <a:latin typeface="Calibri"/>
                <a:cs typeface="Calibri"/>
              </a:rPr>
              <a:t>'me',</a:t>
            </a:r>
            <a:r>
              <a:rPr sz="1600" spc="-43" dirty="0">
                <a:solidFill>
                  <a:srgbClr val="007BB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7BB7"/>
                </a:solidFill>
                <a:latin typeface="Calibri"/>
                <a:cs typeface="Calibri"/>
              </a:rPr>
              <a:t>'two',</a:t>
            </a:r>
            <a:r>
              <a:rPr sz="1600" spc="18" dirty="0">
                <a:solidFill>
                  <a:srgbClr val="007BB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7BB7"/>
                </a:solidFill>
                <a:latin typeface="Calibri"/>
                <a:cs typeface="Calibri"/>
              </a:rPr>
              <a:t>'of','them',</a:t>
            </a:r>
            <a:r>
              <a:rPr sz="1600" spc="-20" dirty="0">
                <a:solidFill>
                  <a:srgbClr val="007BB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7BB7"/>
                </a:solidFill>
                <a:latin typeface="Calibri"/>
                <a:cs typeface="Calibri"/>
              </a:rPr>
              <a:t>'.'],</a:t>
            </a:r>
            <a:r>
              <a:rPr sz="1600" spc="-73" dirty="0">
                <a:solidFill>
                  <a:srgbClr val="007BB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7BB7"/>
                </a:solidFill>
                <a:latin typeface="Calibri"/>
                <a:cs typeface="Calibri"/>
              </a:rPr>
              <a:t>['Thanks',</a:t>
            </a:r>
            <a:r>
              <a:rPr sz="1600" spc="-41" dirty="0">
                <a:solidFill>
                  <a:srgbClr val="007BB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7BB7"/>
                </a:solidFill>
                <a:latin typeface="Calibri"/>
                <a:cs typeface="Calibri"/>
              </a:rPr>
              <a:t>'.']]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29944" y="482711"/>
            <a:ext cx="6590917" cy="719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364"/>
              </a:lnSpc>
              <a:spcBef>
                <a:spcPts val="0"/>
              </a:spcBef>
              <a:spcAft>
                <a:spcPts val="0"/>
              </a:spcAft>
            </a:pPr>
            <a:r>
              <a:rPr sz="4400" spc="-23" dirty="0">
                <a:solidFill>
                  <a:srgbClr val="000000"/>
                </a:solidFill>
                <a:latin typeface="Calibri Light"/>
                <a:cs typeface="Calibri Light"/>
              </a:rPr>
              <a:t>Regular</a:t>
            </a:r>
            <a:r>
              <a:rPr sz="4400" spc="68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spc="-12" dirty="0">
                <a:solidFill>
                  <a:srgbClr val="000000"/>
                </a:solidFill>
                <a:latin typeface="Calibri Light"/>
                <a:cs typeface="Calibri Light"/>
              </a:rPr>
              <a:t>Expression</a:t>
            </a:r>
            <a:r>
              <a:rPr sz="4400" spc="81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spc="-79" dirty="0">
                <a:solidFill>
                  <a:srgbClr val="000000"/>
                </a:solidFill>
                <a:latin typeface="Calibri Light"/>
                <a:cs typeface="Calibri Light"/>
              </a:rPr>
              <a:t>Tokenizer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9944" y="1493463"/>
            <a:ext cx="10489400" cy="10766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400" spc="35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spc="-17" dirty="0">
                <a:solidFill>
                  <a:srgbClr val="000000"/>
                </a:solidFill>
                <a:latin typeface="Calibri"/>
                <a:cs typeface="Calibri"/>
              </a:rPr>
              <a:t>First</a:t>
            </a:r>
            <a:r>
              <a:rPr sz="2400" spc="49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14" dirty="0">
                <a:solidFill>
                  <a:srgbClr val="000000"/>
                </a:solidFill>
                <a:latin typeface="Calibri"/>
                <a:cs typeface="Calibri"/>
              </a:rPr>
              <a:t>you</a:t>
            </a:r>
            <a:r>
              <a:rPr sz="2400" spc="49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need</a:t>
            </a:r>
            <a:r>
              <a:rPr sz="2400" spc="48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36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sz="2400" spc="50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decide</a:t>
            </a:r>
            <a:r>
              <a:rPr sz="2400" spc="50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how</a:t>
            </a:r>
            <a:r>
              <a:rPr sz="2400" spc="49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Calibri"/>
                <a:cs typeface="Calibri"/>
              </a:rPr>
              <a:t>you</a:t>
            </a:r>
            <a:r>
              <a:rPr sz="2400" spc="50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23" dirty="0">
                <a:solidFill>
                  <a:srgbClr val="000000"/>
                </a:solidFill>
                <a:latin typeface="Calibri"/>
                <a:cs typeface="Calibri"/>
              </a:rPr>
              <a:t>want</a:t>
            </a:r>
            <a:r>
              <a:rPr sz="2400" spc="50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11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sz="2400" spc="46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18" dirty="0">
                <a:solidFill>
                  <a:srgbClr val="000000"/>
                </a:solidFill>
                <a:latin typeface="Calibri"/>
                <a:cs typeface="Calibri"/>
              </a:rPr>
              <a:t>tokenize</a:t>
            </a:r>
            <a:r>
              <a:rPr sz="2400" spc="49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2400" spc="46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piece</a:t>
            </a:r>
            <a:r>
              <a:rPr sz="2400" spc="46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2400" spc="44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000000"/>
                </a:solidFill>
                <a:latin typeface="Calibri"/>
                <a:cs typeface="Calibri"/>
              </a:rPr>
              <a:t>text</a:t>
            </a:r>
            <a:r>
              <a:rPr sz="2400" spc="49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then</a:t>
            </a:r>
            <a:r>
              <a:rPr sz="2400" spc="50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23" dirty="0">
                <a:solidFill>
                  <a:srgbClr val="000000"/>
                </a:solidFill>
                <a:latin typeface="Calibri"/>
                <a:cs typeface="Calibri"/>
              </a:rPr>
              <a:t>you</a:t>
            </a:r>
          </a:p>
          <a:p>
            <a:pPr marL="228600" marR="0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construct</a:t>
            </a:r>
            <a:r>
              <a:rPr sz="2400" spc="-3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your regular</a:t>
            </a:r>
            <a:r>
              <a:rPr sz="2400" spc="-2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expression.</a:t>
            </a:r>
            <a:r>
              <a:rPr sz="2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400" spc="-1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choices are:</a:t>
            </a:r>
          </a:p>
          <a:p>
            <a:pPr marL="914730" marR="0">
              <a:lnSpc>
                <a:spcPts val="2431"/>
              </a:lnSpc>
              <a:spcBef>
                <a:spcPts val="268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000" spc="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4" dirty="0">
                <a:solidFill>
                  <a:srgbClr val="000000"/>
                </a:solidFill>
                <a:latin typeface="Calibri"/>
                <a:cs typeface="Calibri"/>
              </a:rPr>
              <a:t>Match</a:t>
            </a:r>
            <a:r>
              <a:rPr sz="2000" spc="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on</a:t>
            </a:r>
            <a:r>
              <a:rPr sz="20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0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spc="-18" dirty="0">
                <a:solidFill>
                  <a:srgbClr val="000000"/>
                </a:solidFill>
                <a:latin typeface="Calibri"/>
                <a:cs typeface="Calibri"/>
              </a:rPr>
              <a:t>tokens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844675" y="2561213"/>
            <a:ext cx="3778898" cy="347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34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000" spc="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2" dirty="0">
                <a:solidFill>
                  <a:srgbClr val="000000"/>
                </a:solidFill>
                <a:latin typeface="Calibri"/>
                <a:cs typeface="Calibri"/>
              </a:rPr>
              <a:t>Match</a:t>
            </a:r>
            <a:r>
              <a:rPr sz="2000" spc="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on the</a:t>
            </a:r>
            <a:r>
              <a:rPr sz="2000" spc="-15" dirty="0">
                <a:solidFill>
                  <a:srgbClr val="000000"/>
                </a:solidFill>
                <a:latin typeface="Calibri"/>
                <a:cs typeface="Calibri"/>
              </a:rPr>
              <a:t> separators,</a:t>
            </a:r>
            <a:r>
              <a:rPr sz="2000" spc="9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"/>
                <a:cs typeface="Calibri"/>
              </a:rPr>
              <a:t>or</a:t>
            </a:r>
            <a:r>
              <a:rPr sz="2000" spc="-1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000000"/>
                </a:solidFill>
                <a:latin typeface="Calibri"/>
                <a:cs typeface="Calibri"/>
              </a:rPr>
              <a:t>gaps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87094" y="3240004"/>
            <a:ext cx="6877498" cy="1247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&gt;&gt;&gt;</a:t>
            </a:r>
            <a:r>
              <a:rPr sz="1800" spc="5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ED7D31"/>
                </a:solidFill>
                <a:latin typeface="Calibri"/>
                <a:cs typeface="Calibri"/>
              </a:rPr>
              <a:t>from</a:t>
            </a:r>
            <a:r>
              <a:rPr sz="1800" spc="-14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000000"/>
                </a:solidFill>
                <a:latin typeface="Calibri"/>
                <a:cs typeface="Calibri"/>
              </a:rPr>
              <a:t>nltk.tokenize</a:t>
            </a:r>
            <a:r>
              <a:rPr sz="1800" spc="6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ED7D31"/>
                </a:solidFill>
                <a:latin typeface="Calibri"/>
                <a:cs typeface="Calibri"/>
              </a:rPr>
              <a:t>import</a:t>
            </a:r>
            <a:r>
              <a:rPr sz="1800" spc="23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1800" spc="-27" dirty="0">
                <a:solidFill>
                  <a:srgbClr val="000000"/>
                </a:solidFill>
                <a:latin typeface="Calibri"/>
                <a:cs typeface="Calibri"/>
              </a:rPr>
              <a:t>RegexpTokenizer</a:t>
            </a:r>
          </a:p>
          <a:p>
            <a:pPr marL="0" marR="0">
              <a:lnSpc>
                <a:spcPts val="2197"/>
              </a:lnSpc>
              <a:spcBef>
                <a:spcPts val="228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&gt;&gt;&gt;</a:t>
            </a:r>
            <a:r>
              <a:rPr sz="1800" spc="4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spc="-17" dirty="0">
                <a:solidFill>
                  <a:srgbClr val="000000"/>
                </a:solidFill>
                <a:latin typeface="Calibri"/>
                <a:cs typeface="Calibri"/>
              </a:rPr>
              <a:t>tokenizer</a:t>
            </a:r>
            <a:r>
              <a:rPr sz="1800" spc="3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=</a:t>
            </a:r>
            <a:r>
              <a:rPr sz="1800" spc="2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spc="-23" dirty="0">
                <a:solidFill>
                  <a:srgbClr val="000000"/>
                </a:solidFill>
                <a:latin typeface="Calibri"/>
                <a:cs typeface="Calibri"/>
              </a:rPr>
              <a:t>RegexpTokenizer(</a:t>
            </a:r>
            <a:r>
              <a:rPr sz="1800" dirty="0">
                <a:solidFill>
                  <a:srgbClr val="70AD47"/>
                </a:solidFill>
                <a:latin typeface="Calibri"/>
                <a:cs typeface="Calibri"/>
              </a:rPr>
              <a:t>"[\w']+"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)</a:t>
            </a:r>
          </a:p>
          <a:p>
            <a:pPr marL="0" marR="0">
              <a:lnSpc>
                <a:spcPts val="2200"/>
              </a:lnSpc>
              <a:spcBef>
                <a:spcPts val="298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&gt;&gt;&gt;</a:t>
            </a:r>
            <a:r>
              <a:rPr sz="1800" spc="5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spc="-27" dirty="0">
                <a:solidFill>
                  <a:srgbClr val="000000"/>
                </a:solidFill>
                <a:latin typeface="Calibri"/>
                <a:cs typeface="Calibri"/>
              </a:rPr>
              <a:t>tokenizer.tokenize(</a:t>
            </a:r>
            <a:r>
              <a:rPr sz="1800" spc="-14" dirty="0">
                <a:solidFill>
                  <a:srgbClr val="70AD47"/>
                </a:solidFill>
                <a:latin typeface="Calibri"/>
                <a:cs typeface="Calibri"/>
              </a:rPr>
              <a:t>"Natural</a:t>
            </a:r>
            <a:r>
              <a:rPr sz="1800" spc="128" dirty="0">
                <a:solidFill>
                  <a:srgbClr val="70AD4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0AD47"/>
                </a:solidFill>
                <a:latin typeface="Calibri"/>
                <a:cs typeface="Calibri"/>
              </a:rPr>
              <a:t>Language</a:t>
            </a:r>
            <a:r>
              <a:rPr sz="1800" spc="46" dirty="0">
                <a:solidFill>
                  <a:srgbClr val="70AD4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0AD47"/>
                </a:solidFill>
                <a:latin typeface="Calibri"/>
                <a:cs typeface="Calibri"/>
              </a:rPr>
              <a:t>Processing</a:t>
            </a:r>
            <a:r>
              <a:rPr sz="1800" spc="21" dirty="0">
                <a:solidFill>
                  <a:srgbClr val="70AD4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0AD47"/>
                </a:solidFill>
                <a:latin typeface="Calibri"/>
                <a:cs typeface="Calibri"/>
              </a:rPr>
              <a:t>is</a:t>
            </a:r>
            <a:r>
              <a:rPr sz="1800" spc="20" dirty="0">
                <a:solidFill>
                  <a:srgbClr val="70AD4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0AD47"/>
                </a:solidFill>
                <a:latin typeface="Calibri"/>
                <a:cs typeface="Calibri"/>
              </a:rPr>
              <a:t>very</a:t>
            </a:r>
            <a:r>
              <a:rPr sz="1800" spc="28" dirty="0">
                <a:solidFill>
                  <a:srgbClr val="70AD47"/>
                </a:solidFill>
                <a:latin typeface="Calibri"/>
                <a:cs typeface="Calibri"/>
              </a:rPr>
              <a:t> </a:t>
            </a:r>
            <a:r>
              <a:rPr sz="1800" spc="-11" dirty="0">
                <a:solidFill>
                  <a:srgbClr val="70AD47"/>
                </a:solidFill>
                <a:latin typeface="Calibri"/>
                <a:cs typeface="Calibri"/>
              </a:rPr>
              <a:t>interesting"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)</a:t>
            </a:r>
          </a:p>
          <a:p>
            <a:pPr marL="421004" marR="0">
              <a:lnSpc>
                <a:spcPts val="2197"/>
              </a:lnSpc>
              <a:spcBef>
                <a:spcPts val="203"/>
              </a:spcBef>
              <a:spcAft>
                <a:spcPts val="0"/>
              </a:spcAft>
            </a:pPr>
            <a:r>
              <a:rPr sz="1800" dirty="0">
                <a:solidFill>
                  <a:srgbClr val="4472C4"/>
                </a:solidFill>
                <a:latin typeface="Calibri"/>
                <a:cs typeface="Calibri"/>
              </a:rPr>
              <a:t>['Natural',</a:t>
            </a:r>
            <a:r>
              <a:rPr sz="1800" spc="36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472C4"/>
                </a:solidFill>
                <a:latin typeface="Calibri"/>
                <a:cs typeface="Calibri"/>
              </a:rPr>
              <a:t>'Language',</a:t>
            </a:r>
            <a:r>
              <a:rPr sz="1800" spc="31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472C4"/>
                </a:solidFill>
                <a:latin typeface="Calibri"/>
                <a:cs typeface="Calibri"/>
              </a:rPr>
              <a:t>'Processing', 'is', 'very', </a:t>
            </a:r>
            <a:r>
              <a:rPr sz="1800" spc="-10" dirty="0">
                <a:solidFill>
                  <a:srgbClr val="4472C4"/>
                </a:solidFill>
                <a:latin typeface="Calibri"/>
                <a:cs typeface="Calibri"/>
              </a:rPr>
              <a:t>'interesting']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29944" y="652510"/>
            <a:ext cx="4434129" cy="719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364"/>
              </a:lnSpc>
              <a:spcBef>
                <a:spcPts val="0"/>
              </a:spcBef>
              <a:spcAft>
                <a:spcPts val="0"/>
              </a:spcAft>
            </a:pPr>
            <a:r>
              <a:rPr sz="4400" spc="-15" dirty="0">
                <a:solidFill>
                  <a:srgbClr val="000000"/>
                </a:solidFill>
                <a:latin typeface="Calibri Light"/>
                <a:cs typeface="Calibri Light"/>
              </a:rPr>
              <a:t>Filtering</a:t>
            </a:r>
            <a:r>
              <a:rPr sz="4400" spc="10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spc="-34" dirty="0">
                <a:solidFill>
                  <a:srgbClr val="000000"/>
                </a:solidFill>
                <a:latin typeface="Calibri Light"/>
                <a:cs typeface="Calibri Light"/>
              </a:rPr>
              <a:t>stopwords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9944" y="1579799"/>
            <a:ext cx="10485321" cy="4734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27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8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000000"/>
                </a:solidFill>
                <a:latin typeface="Calibri"/>
                <a:cs typeface="Calibri"/>
              </a:rPr>
              <a:t>Stopwords</a:t>
            </a:r>
            <a:r>
              <a:rPr sz="2800" spc="6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8" dirty="0">
                <a:solidFill>
                  <a:srgbClr val="000000"/>
                </a:solidFill>
                <a:latin typeface="Calibri"/>
                <a:cs typeface="Calibri"/>
              </a:rPr>
              <a:t>are</a:t>
            </a:r>
            <a:r>
              <a:rPr sz="2800" spc="5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common</a:t>
            </a:r>
            <a:r>
              <a:rPr sz="2800" spc="4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1" dirty="0">
                <a:solidFill>
                  <a:srgbClr val="000000"/>
                </a:solidFill>
                <a:latin typeface="Calibri"/>
                <a:cs typeface="Calibri"/>
              </a:rPr>
              <a:t>words</a:t>
            </a:r>
            <a:r>
              <a:rPr sz="2800" spc="6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00"/>
                </a:solidFill>
                <a:latin typeface="Calibri"/>
                <a:cs typeface="Calibri"/>
              </a:rPr>
              <a:t>that</a:t>
            </a:r>
            <a:r>
              <a:rPr sz="2800" spc="4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generally</a:t>
            </a:r>
            <a:r>
              <a:rPr sz="2800" spc="5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do</a:t>
            </a:r>
            <a:r>
              <a:rPr sz="2800" spc="5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not</a:t>
            </a:r>
            <a:r>
              <a:rPr sz="2800" spc="4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contribute</a:t>
            </a:r>
            <a:r>
              <a:rPr sz="2800" spc="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sz="2800" spc="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58544" y="1963557"/>
            <a:ext cx="3507874" cy="473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3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meaning</a:t>
            </a:r>
            <a:r>
              <a:rPr sz="2800" spc="2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1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2800" spc="-3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a sentence.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29944" y="2476165"/>
            <a:ext cx="10489044" cy="4734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27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8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Most</a:t>
            </a:r>
            <a:r>
              <a:rPr sz="2800" spc="35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search</a:t>
            </a:r>
            <a:r>
              <a:rPr sz="2800" spc="35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engines</a:t>
            </a:r>
            <a:r>
              <a:rPr sz="2800" spc="35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will</a:t>
            </a:r>
            <a:r>
              <a:rPr sz="2800" spc="35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filter</a:t>
            </a:r>
            <a:r>
              <a:rPr sz="2800" spc="33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000000"/>
                </a:solidFill>
                <a:latin typeface="Calibri"/>
                <a:cs typeface="Calibri"/>
              </a:rPr>
              <a:t>stopwords</a:t>
            </a:r>
            <a:r>
              <a:rPr sz="2800" spc="37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out</a:t>
            </a:r>
            <a:r>
              <a:rPr sz="2800" spc="34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1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2800" spc="34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search</a:t>
            </a:r>
            <a:r>
              <a:rPr sz="2800" spc="35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queries</a:t>
            </a:r>
            <a:r>
              <a:rPr sz="2800" spc="3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58544" y="2859923"/>
            <a:ext cx="7068827" cy="473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3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documents</a:t>
            </a:r>
            <a:r>
              <a:rPr sz="2800" spc="4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sz="280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order </a:t>
            </a:r>
            <a:r>
              <a:rPr sz="2800" spc="-23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sz="2800" spc="2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8" dirty="0">
                <a:solidFill>
                  <a:srgbClr val="000000"/>
                </a:solidFill>
                <a:latin typeface="Calibri"/>
                <a:cs typeface="Calibri"/>
              </a:rPr>
              <a:t>save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 space</a:t>
            </a:r>
            <a:r>
              <a:rPr sz="2800" spc="1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sz="2800" spc="-2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their index.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29944" y="3372368"/>
            <a:ext cx="6177802" cy="473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3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8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000000"/>
                </a:solidFill>
                <a:latin typeface="Calibri"/>
                <a:cs typeface="Calibri"/>
              </a:rPr>
              <a:t>Stopwords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2" dirty="0">
                <a:solidFill>
                  <a:srgbClr val="000000"/>
                </a:solidFill>
                <a:latin typeface="Calibri"/>
                <a:cs typeface="Calibri"/>
              </a:rPr>
              <a:t>can</a:t>
            </a:r>
            <a:r>
              <a:rPr sz="2800" spc="1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be</a:t>
            </a:r>
            <a:r>
              <a:rPr sz="28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found in the directory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87094" y="3834297"/>
            <a:ext cx="3627112" cy="3469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31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4472C4"/>
                </a:solidFill>
                <a:latin typeface="Arial"/>
                <a:cs typeface="Arial"/>
              </a:rPr>
              <a:t>•</a:t>
            </a:r>
            <a:r>
              <a:rPr sz="2000" spc="600" dirty="0">
                <a:solidFill>
                  <a:srgbClr val="4472C4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472C4"/>
                </a:solidFill>
                <a:latin typeface="Calibri"/>
                <a:cs typeface="Calibri"/>
              </a:rPr>
              <a:t>nltk_data/corpora/stopwords/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87094" y="4483775"/>
            <a:ext cx="7851957" cy="13592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31"/>
              </a:lnSpc>
              <a:spcBef>
                <a:spcPts val="0"/>
              </a:spcBef>
              <a:spcAft>
                <a:spcPts val="0"/>
              </a:spcAft>
            </a:pPr>
            <a:r>
              <a:rPr sz="2000" spc="-11" dirty="0">
                <a:solidFill>
                  <a:srgbClr val="000000"/>
                </a:solidFill>
                <a:latin typeface="Calibri Light"/>
                <a:cs typeface="Calibri Light"/>
              </a:rPr>
              <a:t>&gt;&gt;&gt;</a:t>
            </a:r>
            <a:r>
              <a:rPr sz="2000" spc="5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000" spc="-14" dirty="0">
                <a:solidFill>
                  <a:srgbClr val="ED7D31"/>
                </a:solidFill>
                <a:latin typeface="Calibri Light"/>
                <a:cs typeface="Calibri Light"/>
              </a:rPr>
              <a:t>from</a:t>
            </a:r>
            <a:r>
              <a:rPr sz="2000" spc="12" dirty="0">
                <a:solidFill>
                  <a:srgbClr val="ED7D31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 Light"/>
                <a:cs typeface="Calibri Light"/>
              </a:rPr>
              <a:t>nltk.corpus</a:t>
            </a:r>
            <a:r>
              <a:rPr sz="2000" spc="52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ED7D31"/>
                </a:solidFill>
                <a:latin typeface="Calibri Light"/>
                <a:cs typeface="Calibri Light"/>
              </a:rPr>
              <a:t>import</a:t>
            </a:r>
            <a:r>
              <a:rPr sz="2000" spc="31" dirty="0">
                <a:solidFill>
                  <a:srgbClr val="ED7D31"/>
                </a:solidFill>
                <a:latin typeface="Calibri Light"/>
                <a:cs typeface="Calibri Light"/>
              </a:rPr>
              <a:t> </a:t>
            </a:r>
            <a:r>
              <a:rPr sz="2000" spc="-18" dirty="0">
                <a:solidFill>
                  <a:srgbClr val="000000"/>
                </a:solidFill>
                <a:latin typeface="Calibri Light"/>
                <a:cs typeface="Calibri Light"/>
              </a:rPr>
              <a:t>stopwords</a:t>
            </a:r>
          </a:p>
          <a:p>
            <a:pPr marL="0" marR="0">
              <a:lnSpc>
                <a:spcPts val="2431"/>
              </a:lnSpc>
              <a:spcBef>
                <a:spcPts val="282"/>
              </a:spcBef>
              <a:spcAft>
                <a:spcPts val="0"/>
              </a:spcAft>
            </a:pPr>
            <a:r>
              <a:rPr sz="2000" spc="-11" dirty="0">
                <a:solidFill>
                  <a:srgbClr val="000000"/>
                </a:solidFill>
                <a:latin typeface="Calibri Light"/>
                <a:cs typeface="Calibri Light"/>
              </a:rPr>
              <a:t>&gt;&gt;&gt;</a:t>
            </a:r>
            <a:r>
              <a:rPr sz="2000" spc="5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000" spc="-10" dirty="0">
                <a:solidFill>
                  <a:srgbClr val="000000"/>
                </a:solidFill>
                <a:latin typeface="Calibri Light"/>
                <a:cs typeface="Calibri Light"/>
              </a:rPr>
              <a:t>english_stops</a:t>
            </a:r>
            <a:r>
              <a:rPr sz="2000" spc="83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 Light"/>
                <a:cs typeface="Calibri Light"/>
              </a:rPr>
              <a:t>= </a:t>
            </a:r>
            <a:r>
              <a:rPr sz="2000" dirty="0">
                <a:solidFill>
                  <a:srgbClr val="4472C4"/>
                </a:solidFill>
                <a:latin typeface="Calibri Light"/>
                <a:cs typeface="Calibri Light"/>
              </a:rPr>
              <a:t>set</a:t>
            </a:r>
            <a:r>
              <a:rPr sz="2000" spc="-11" dirty="0">
                <a:solidFill>
                  <a:srgbClr val="000000"/>
                </a:solidFill>
                <a:latin typeface="Calibri Light"/>
                <a:cs typeface="Calibri Light"/>
              </a:rPr>
              <a:t>(stopwords.words('english'))</a:t>
            </a:r>
          </a:p>
          <a:p>
            <a:pPr marL="0" marR="0">
              <a:lnSpc>
                <a:spcPts val="2431"/>
              </a:lnSpc>
              <a:spcBef>
                <a:spcPts val="285"/>
              </a:spcBef>
              <a:spcAft>
                <a:spcPts val="0"/>
              </a:spcAft>
            </a:pPr>
            <a:r>
              <a:rPr sz="2000" spc="-11" dirty="0">
                <a:solidFill>
                  <a:srgbClr val="000000"/>
                </a:solidFill>
                <a:latin typeface="Calibri Light"/>
                <a:cs typeface="Calibri Light"/>
              </a:rPr>
              <a:t>&gt;&gt;&gt;</a:t>
            </a:r>
            <a:r>
              <a:rPr sz="2000" spc="5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000" spc="-15" dirty="0">
                <a:solidFill>
                  <a:srgbClr val="000000"/>
                </a:solidFill>
                <a:latin typeface="Calibri Light"/>
                <a:cs typeface="Calibri Light"/>
              </a:rPr>
              <a:t>words</a:t>
            </a:r>
            <a:r>
              <a:rPr sz="2000" dirty="0">
                <a:solidFill>
                  <a:srgbClr val="000000"/>
                </a:solidFill>
                <a:latin typeface="Calibri Light"/>
                <a:cs typeface="Calibri Light"/>
              </a:rPr>
              <a:t> =</a:t>
            </a:r>
            <a:r>
              <a:rPr sz="2000" spc="2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70AD47"/>
                </a:solidFill>
                <a:latin typeface="Calibri Light"/>
                <a:cs typeface="Calibri Light"/>
              </a:rPr>
              <a:t>['The', </a:t>
            </a:r>
            <a:r>
              <a:rPr sz="2000" spc="-12" dirty="0">
                <a:solidFill>
                  <a:srgbClr val="70AD47"/>
                </a:solidFill>
                <a:latin typeface="Calibri Light"/>
                <a:cs typeface="Calibri Light"/>
              </a:rPr>
              <a:t>‘natural',</a:t>
            </a:r>
            <a:r>
              <a:rPr sz="2000" spc="36" dirty="0">
                <a:solidFill>
                  <a:srgbClr val="70AD47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70AD47"/>
                </a:solidFill>
                <a:latin typeface="Calibri Light"/>
                <a:cs typeface="Calibri Light"/>
              </a:rPr>
              <a:t>'language',</a:t>
            </a:r>
            <a:r>
              <a:rPr sz="2000" spc="28" dirty="0">
                <a:solidFill>
                  <a:srgbClr val="70AD47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70AD47"/>
                </a:solidFill>
                <a:latin typeface="Calibri Light"/>
                <a:cs typeface="Calibri Light"/>
              </a:rPr>
              <a:t>'processing',</a:t>
            </a:r>
            <a:r>
              <a:rPr sz="2000" spc="52" dirty="0">
                <a:solidFill>
                  <a:srgbClr val="70AD47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70AD47"/>
                </a:solidFill>
                <a:latin typeface="Calibri Light"/>
                <a:cs typeface="Calibri Light"/>
              </a:rPr>
              <a:t>'is', 'very',</a:t>
            </a:r>
            <a:r>
              <a:rPr sz="2000" spc="-21" dirty="0">
                <a:solidFill>
                  <a:srgbClr val="70AD47"/>
                </a:solidFill>
                <a:latin typeface="Calibri Light"/>
                <a:cs typeface="Calibri Light"/>
              </a:rPr>
              <a:t> </a:t>
            </a:r>
            <a:r>
              <a:rPr sz="2000" spc="-11" dirty="0">
                <a:solidFill>
                  <a:srgbClr val="70AD47"/>
                </a:solidFill>
                <a:latin typeface="Calibri Light"/>
                <a:cs typeface="Calibri Light"/>
              </a:rPr>
              <a:t>'interesting']</a:t>
            </a:r>
          </a:p>
          <a:p>
            <a:pPr marL="0" marR="0">
              <a:lnSpc>
                <a:spcPts val="2431"/>
              </a:lnSpc>
              <a:spcBef>
                <a:spcPts val="208"/>
              </a:spcBef>
              <a:spcAft>
                <a:spcPts val="0"/>
              </a:spcAft>
            </a:pPr>
            <a:r>
              <a:rPr sz="2000" spc="-11" dirty="0">
                <a:solidFill>
                  <a:srgbClr val="000000"/>
                </a:solidFill>
                <a:latin typeface="Calibri Light"/>
                <a:cs typeface="Calibri Light"/>
              </a:rPr>
              <a:t>&gt;&gt;&gt;</a:t>
            </a:r>
            <a:r>
              <a:rPr sz="2000" spc="5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000" spc="-14" dirty="0">
                <a:solidFill>
                  <a:srgbClr val="000000"/>
                </a:solidFill>
                <a:latin typeface="Calibri Light"/>
                <a:cs typeface="Calibri Light"/>
              </a:rPr>
              <a:t>[word</a:t>
            </a:r>
            <a:r>
              <a:rPr sz="2000" spc="18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000" spc="-25" dirty="0">
                <a:solidFill>
                  <a:srgbClr val="ED7D31"/>
                </a:solidFill>
                <a:latin typeface="Calibri Light"/>
                <a:cs typeface="Calibri Light"/>
              </a:rPr>
              <a:t>for</a:t>
            </a:r>
            <a:r>
              <a:rPr sz="2000" dirty="0">
                <a:solidFill>
                  <a:srgbClr val="ED7D31"/>
                </a:solidFill>
                <a:latin typeface="Calibri Light"/>
                <a:cs typeface="Calibri Light"/>
              </a:rPr>
              <a:t> </a:t>
            </a:r>
            <a:r>
              <a:rPr sz="2000" spc="-18" dirty="0">
                <a:solidFill>
                  <a:srgbClr val="000000"/>
                </a:solidFill>
                <a:latin typeface="Calibri Light"/>
                <a:cs typeface="Calibri Light"/>
              </a:rPr>
              <a:t>word</a:t>
            </a:r>
            <a:r>
              <a:rPr sz="2000" spc="43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ED7D31"/>
                </a:solidFill>
                <a:latin typeface="Calibri Light"/>
                <a:cs typeface="Calibri Light"/>
              </a:rPr>
              <a:t>in </a:t>
            </a:r>
            <a:r>
              <a:rPr sz="2000" spc="-15" dirty="0">
                <a:solidFill>
                  <a:srgbClr val="000000"/>
                </a:solidFill>
                <a:latin typeface="Calibri Light"/>
                <a:cs typeface="Calibri Light"/>
              </a:rPr>
              <a:t>words</a:t>
            </a:r>
            <a:r>
              <a:rPr sz="2000" spc="12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ED7D31"/>
                </a:solidFill>
                <a:latin typeface="Calibri Light"/>
                <a:cs typeface="Calibri Light"/>
              </a:rPr>
              <a:t>if</a:t>
            </a:r>
            <a:r>
              <a:rPr sz="2000" spc="15" dirty="0">
                <a:solidFill>
                  <a:srgbClr val="ED7D31"/>
                </a:solidFill>
                <a:latin typeface="Calibri Light"/>
                <a:cs typeface="Calibri Light"/>
              </a:rPr>
              <a:t> </a:t>
            </a:r>
            <a:r>
              <a:rPr sz="2000" spc="-10" dirty="0">
                <a:solidFill>
                  <a:srgbClr val="000000"/>
                </a:solidFill>
                <a:latin typeface="Calibri Light"/>
                <a:cs typeface="Calibri Light"/>
              </a:rPr>
              <a:t>word.lower()</a:t>
            </a:r>
            <a:r>
              <a:rPr sz="2000" spc="4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ED7D31"/>
                </a:solidFill>
                <a:latin typeface="Calibri Light"/>
                <a:cs typeface="Calibri Light"/>
              </a:rPr>
              <a:t>not</a:t>
            </a:r>
            <a:r>
              <a:rPr sz="2000" spc="25" dirty="0">
                <a:solidFill>
                  <a:srgbClr val="ED7D31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ED7D31"/>
                </a:solidFill>
                <a:latin typeface="Calibri Light"/>
                <a:cs typeface="Calibri Light"/>
              </a:rPr>
              <a:t>in </a:t>
            </a:r>
            <a:r>
              <a:rPr sz="2000" spc="-10" dirty="0">
                <a:solidFill>
                  <a:srgbClr val="000000"/>
                </a:solidFill>
                <a:latin typeface="Calibri Light"/>
                <a:cs typeface="Calibri Light"/>
              </a:rPr>
              <a:t>english_stops]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875154" y="5899994"/>
            <a:ext cx="4451890" cy="3175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alibri Light"/>
                <a:cs typeface="Calibri Light"/>
              </a:rPr>
              <a:t>[‘natural',</a:t>
            </a:r>
            <a:r>
              <a:rPr sz="1800" spc="2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 Light"/>
                <a:cs typeface="Calibri Light"/>
              </a:rPr>
              <a:t>'language',</a:t>
            </a:r>
            <a:r>
              <a:rPr sz="1800" spc="61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1800" dirty="0">
                <a:solidFill>
                  <a:srgbClr val="000000"/>
                </a:solidFill>
                <a:latin typeface="Calibri Light"/>
                <a:cs typeface="Calibri Light"/>
              </a:rPr>
              <a:t>'processing', 'interesting']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51384" y="116632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29944" y="787511"/>
            <a:ext cx="3052865" cy="719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364"/>
              </a:lnSpc>
              <a:spcBef>
                <a:spcPts val="0"/>
              </a:spcBef>
              <a:spcAft>
                <a:spcPts val="0"/>
              </a:spcAft>
            </a:pPr>
            <a:r>
              <a:rPr sz="4400" spc="-34" dirty="0">
                <a:solidFill>
                  <a:srgbClr val="000000"/>
                </a:solidFill>
                <a:latin typeface="Calibri Light"/>
                <a:cs typeface="Calibri Light"/>
              </a:rPr>
              <a:t>Edit</a:t>
            </a:r>
            <a:r>
              <a:rPr sz="4400" spc="86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spc="-20" dirty="0">
                <a:solidFill>
                  <a:srgbClr val="000000"/>
                </a:solidFill>
                <a:latin typeface="Calibri Light"/>
                <a:cs typeface="Calibri Light"/>
              </a:rPr>
              <a:t>Distance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9944" y="1822369"/>
            <a:ext cx="10489738" cy="4734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27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8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800" spc="44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edit</a:t>
            </a:r>
            <a:r>
              <a:rPr sz="2800" spc="47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distance</a:t>
            </a:r>
            <a:r>
              <a:rPr sz="2800" spc="45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is</a:t>
            </a:r>
            <a:r>
              <a:rPr sz="2800" spc="47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800" spc="44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number</a:t>
            </a:r>
            <a:r>
              <a:rPr sz="2800" spc="4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1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2800" spc="4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character</a:t>
            </a:r>
            <a:r>
              <a:rPr sz="2800" spc="44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changes</a:t>
            </a:r>
            <a:r>
              <a:rPr sz="2800" spc="4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necessary</a:t>
            </a:r>
            <a:r>
              <a:rPr sz="2800" spc="45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58544" y="2206127"/>
            <a:ext cx="7480307" cy="473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30"/>
              </a:lnSpc>
              <a:spcBef>
                <a:spcPts val="0"/>
              </a:spcBef>
              <a:spcAft>
                <a:spcPts val="0"/>
              </a:spcAft>
            </a:pPr>
            <a:r>
              <a:rPr sz="2800" spc="-10" dirty="0">
                <a:solidFill>
                  <a:srgbClr val="000000"/>
                </a:solidFill>
                <a:latin typeface="Calibri"/>
                <a:cs typeface="Calibri"/>
              </a:rPr>
              <a:t>transform</a:t>
            </a:r>
            <a:r>
              <a:rPr sz="2800" spc="-4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800" spc="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given</a:t>
            </a:r>
            <a:r>
              <a:rPr sz="2800" spc="-2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00"/>
                </a:solidFill>
                <a:latin typeface="Calibri"/>
                <a:cs typeface="Calibri"/>
              </a:rPr>
              <a:t>word</a:t>
            </a:r>
            <a:r>
              <a:rPr sz="2800" spc="-3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7" dirty="0">
                <a:solidFill>
                  <a:srgbClr val="000000"/>
                </a:solidFill>
                <a:latin typeface="Calibri"/>
                <a:cs typeface="Calibri"/>
              </a:rPr>
              <a:t>into</a:t>
            </a:r>
            <a:r>
              <a:rPr sz="2800" spc="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800" spc="1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suggested</a:t>
            </a:r>
            <a:r>
              <a:rPr sz="2800" spc="-1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00"/>
                </a:solidFill>
                <a:latin typeface="Calibri"/>
                <a:cs typeface="Calibri"/>
              </a:rPr>
              <a:t>word.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87094" y="2661519"/>
            <a:ext cx="5615673" cy="1166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29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Calibri Light"/>
                <a:cs typeface="Calibri Light"/>
              </a:rPr>
              <a:t>&gt;&gt;&gt;</a:t>
            </a:r>
            <a:r>
              <a:rPr sz="2400" spc="-11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400" spc="-18" dirty="0">
                <a:solidFill>
                  <a:srgbClr val="ED7D31"/>
                </a:solidFill>
                <a:latin typeface="Calibri Light"/>
                <a:cs typeface="Calibri Light"/>
              </a:rPr>
              <a:t>from</a:t>
            </a:r>
            <a:r>
              <a:rPr sz="2400" spc="23" dirty="0">
                <a:solidFill>
                  <a:srgbClr val="ED7D31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 Light"/>
                <a:cs typeface="Calibri Light"/>
              </a:rPr>
              <a:t>nltk.metrics</a:t>
            </a:r>
            <a:r>
              <a:rPr sz="2400" spc="23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ED7D31"/>
                </a:solidFill>
                <a:latin typeface="Calibri Light"/>
                <a:cs typeface="Calibri Light"/>
              </a:rPr>
              <a:t>import</a:t>
            </a:r>
            <a:r>
              <a:rPr sz="2400" spc="-12" dirty="0">
                <a:solidFill>
                  <a:srgbClr val="ED7D31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 Light"/>
                <a:cs typeface="Calibri Light"/>
              </a:rPr>
              <a:t>edit_distance</a:t>
            </a:r>
          </a:p>
          <a:p>
            <a:pPr marL="0" marR="0">
              <a:lnSpc>
                <a:spcPts val="2932"/>
              </a:lnSpc>
              <a:spcBef>
                <a:spcPts val="16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Calibri Light"/>
                <a:cs typeface="Calibri Light"/>
              </a:rPr>
              <a:t>&gt;&gt;&gt;</a:t>
            </a:r>
            <a:r>
              <a:rPr sz="2400" spc="-11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 Light"/>
                <a:cs typeface="Calibri Light"/>
              </a:rPr>
              <a:t>edit_distance(</a:t>
            </a:r>
            <a:r>
              <a:rPr sz="2400" dirty="0">
                <a:solidFill>
                  <a:srgbClr val="70AD47"/>
                </a:solidFill>
                <a:latin typeface="Calibri Light"/>
                <a:cs typeface="Calibri Light"/>
              </a:rPr>
              <a:t>"Birthday"</a:t>
            </a:r>
            <a:r>
              <a:rPr sz="2400" dirty="0">
                <a:solidFill>
                  <a:srgbClr val="000000"/>
                </a:solidFill>
                <a:latin typeface="Calibri Light"/>
                <a:cs typeface="Calibri Light"/>
              </a:rPr>
              <a:t>,</a:t>
            </a:r>
            <a:r>
              <a:rPr sz="2400" spc="-2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70AD47"/>
                </a:solidFill>
                <a:latin typeface="Calibri Light"/>
                <a:cs typeface="Calibri Light"/>
              </a:rPr>
              <a:t>"Bday"</a:t>
            </a:r>
            <a:r>
              <a:rPr sz="2400" dirty="0">
                <a:solidFill>
                  <a:srgbClr val="000000"/>
                </a:solidFill>
                <a:latin typeface="Calibri Light"/>
                <a:cs typeface="Calibri Light"/>
              </a:rPr>
              <a:t>)</a:t>
            </a:r>
          </a:p>
          <a:p>
            <a:pPr marL="0" marR="0">
              <a:lnSpc>
                <a:spcPts val="2929"/>
              </a:lnSpc>
              <a:spcBef>
                <a:spcPts val="167"/>
              </a:spcBef>
              <a:spcAft>
                <a:spcPts val="0"/>
              </a:spcAft>
            </a:pPr>
            <a:r>
              <a:rPr sz="2400" dirty="0" smtClean="0">
                <a:solidFill>
                  <a:srgbClr val="4472C4"/>
                </a:solidFill>
                <a:latin typeface="Calibri Light"/>
                <a:cs typeface="Calibri Light"/>
              </a:rPr>
              <a:t>4</a:t>
            </a:r>
            <a:endParaRPr sz="2400" dirty="0">
              <a:solidFill>
                <a:srgbClr val="4472C4"/>
              </a:solidFill>
              <a:latin typeface="Calibri Light"/>
              <a:cs typeface="Calibri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29944" y="652510"/>
            <a:ext cx="3870171" cy="719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364"/>
              </a:lnSpc>
              <a:spcBef>
                <a:spcPts val="0"/>
              </a:spcBef>
              <a:spcAft>
                <a:spcPts val="0"/>
              </a:spcAft>
            </a:pPr>
            <a:r>
              <a:rPr sz="4400" dirty="0">
                <a:solidFill>
                  <a:srgbClr val="000000"/>
                </a:solidFill>
                <a:latin typeface="Calibri Light"/>
                <a:cs typeface="Calibri Light"/>
              </a:rPr>
              <a:t>Normalizing</a:t>
            </a:r>
            <a:r>
              <a:rPr sz="4400" spc="87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spc="-121" dirty="0">
                <a:solidFill>
                  <a:srgbClr val="000000"/>
                </a:solidFill>
                <a:latin typeface="Calibri Light"/>
                <a:cs typeface="Calibri Light"/>
              </a:rPr>
              <a:t>Text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9944" y="1822369"/>
            <a:ext cx="10491429" cy="1241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27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8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8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goal</a:t>
            </a:r>
            <a:r>
              <a:rPr sz="2800" spc="3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2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2800" spc="3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both </a:t>
            </a:r>
            <a:r>
              <a:rPr sz="2800" spc="-10" dirty="0">
                <a:solidFill>
                  <a:srgbClr val="000000"/>
                </a:solidFill>
                <a:latin typeface="Calibri"/>
                <a:cs typeface="Calibri"/>
              </a:rPr>
              <a:t>stemming</a:t>
            </a:r>
            <a:r>
              <a:rPr sz="2800" spc="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sz="2800" spc="1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lemmatization</a:t>
            </a:r>
            <a:r>
              <a:rPr sz="2800" spc="2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is</a:t>
            </a:r>
            <a:r>
              <a:rPr sz="2800" spc="1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50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sz="2800" spc="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00"/>
                </a:solidFill>
                <a:latin typeface="Calibri"/>
                <a:cs typeface="Calibri"/>
              </a:rPr>
              <a:t>"normalize"</a:t>
            </a:r>
            <a:r>
              <a:rPr sz="2800" spc="3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1" dirty="0">
                <a:solidFill>
                  <a:srgbClr val="000000"/>
                </a:solidFill>
                <a:latin typeface="Calibri"/>
                <a:cs typeface="Calibri"/>
              </a:rPr>
              <a:t>words</a:t>
            </a:r>
          </a:p>
          <a:p>
            <a:pPr marL="228600" marR="0">
              <a:lnSpc>
                <a:spcPts val="3023"/>
              </a:lnSpc>
              <a:spcBef>
                <a:spcPts val="50"/>
              </a:spcBef>
              <a:spcAft>
                <a:spcPts val="0"/>
              </a:spcAft>
            </a:pPr>
            <a:r>
              <a:rPr sz="2800" spc="-25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sz="2800" spc="19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their</a:t>
            </a:r>
            <a:r>
              <a:rPr sz="2800" spc="16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common</a:t>
            </a:r>
            <a:r>
              <a:rPr sz="2800" spc="16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base</a:t>
            </a:r>
            <a:r>
              <a:rPr sz="2800" spc="16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1" dirty="0">
                <a:solidFill>
                  <a:srgbClr val="000000"/>
                </a:solidFill>
                <a:latin typeface="Calibri"/>
                <a:cs typeface="Calibri"/>
              </a:rPr>
              <a:t>form,</a:t>
            </a:r>
            <a:r>
              <a:rPr sz="2800" spc="1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which</a:t>
            </a:r>
            <a:r>
              <a:rPr sz="2800" spc="13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is</a:t>
            </a:r>
            <a:r>
              <a:rPr sz="2800" spc="16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useful</a:t>
            </a:r>
            <a:r>
              <a:rPr sz="2800" spc="17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000000"/>
                </a:solidFill>
                <a:latin typeface="Calibri"/>
                <a:cs typeface="Calibri"/>
              </a:rPr>
              <a:t>for</a:t>
            </a:r>
            <a:r>
              <a:rPr sz="2800" spc="19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8" dirty="0">
                <a:solidFill>
                  <a:srgbClr val="000000"/>
                </a:solidFill>
                <a:latin typeface="Calibri"/>
                <a:cs typeface="Calibri"/>
              </a:rPr>
              <a:t>many</a:t>
            </a:r>
            <a:r>
              <a:rPr sz="2800" spc="18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text-processing</a:t>
            </a:r>
          </a:p>
          <a:p>
            <a:pPr marL="228600" marR="0">
              <a:lnSpc>
                <a:spcPts val="3026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applications.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29944" y="3102620"/>
            <a:ext cx="10483534" cy="473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3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8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00"/>
                </a:solidFill>
                <a:latin typeface="Calibri"/>
                <a:cs typeface="Calibri"/>
              </a:rPr>
              <a:t>Stemming</a:t>
            </a:r>
            <a:r>
              <a:rPr sz="2800" b="1" spc="44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=</a:t>
            </a:r>
            <a:r>
              <a:rPr sz="2800" spc="46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heuristically</a:t>
            </a:r>
            <a:r>
              <a:rPr sz="2800" spc="46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removing</a:t>
            </a:r>
            <a:r>
              <a:rPr sz="2800" spc="45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800" spc="4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8" dirty="0">
                <a:solidFill>
                  <a:srgbClr val="000000"/>
                </a:solidFill>
                <a:latin typeface="Calibri"/>
                <a:cs typeface="Calibri"/>
              </a:rPr>
              <a:t>affixes</a:t>
            </a:r>
            <a:r>
              <a:rPr sz="2800" spc="47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1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2800" spc="4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2800" spc="4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word,</a:t>
            </a:r>
            <a:r>
              <a:rPr sz="2800" spc="44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sz="2800" spc="51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23" dirty="0">
                <a:solidFill>
                  <a:srgbClr val="000000"/>
                </a:solidFill>
                <a:latin typeface="Calibri"/>
                <a:cs typeface="Calibri"/>
              </a:rPr>
              <a:t>get</a:t>
            </a:r>
            <a:r>
              <a:rPr sz="2800" spc="46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11" dirty="0">
                <a:solidFill>
                  <a:srgbClr val="000000"/>
                </a:solidFill>
                <a:latin typeface="Calibri"/>
                <a:cs typeface="Calibri"/>
              </a:rPr>
              <a:t>its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58544" y="3487212"/>
            <a:ext cx="1864290" cy="4734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27"/>
              </a:lnSpc>
              <a:spcBef>
                <a:spcPts val="0"/>
              </a:spcBef>
              <a:spcAft>
                <a:spcPts val="0"/>
              </a:spcAft>
            </a:pPr>
            <a:r>
              <a:rPr sz="2800" spc="-10" dirty="0">
                <a:solidFill>
                  <a:srgbClr val="000000"/>
                </a:solidFill>
                <a:latin typeface="Calibri"/>
                <a:cs typeface="Calibri"/>
              </a:rPr>
              <a:t>stem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 (root).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29944" y="3999530"/>
            <a:ext cx="10491689" cy="1241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27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8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00"/>
                </a:solidFill>
                <a:latin typeface="Calibri"/>
                <a:cs typeface="Calibri"/>
              </a:rPr>
              <a:t>Lemmatization</a:t>
            </a:r>
            <a:r>
              <a:rPr sz="2800" b="1" spc="71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=</a:t>
            </a:r>
            <a:r>
              <a:rPr sz="2800" spc="68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1" dirty="0">
                <a:solidFill>
                  <a:srgbClr val="000000"/>
                </a:solidFill>
                <a:latin typeface="Calibri"/>
                <a:cs typeface="Calibri"/>
              </a:rPr>
              <a:t>Lemmatization</a:t>
            </a:r>
            <a:r>
              <a:rPr sz="2800" spc="70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process</a:t>
            </a:r>
            <a:r>
              <a:rPr sz="2800" spc="7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2" dirty="0">
                <a:solidFill>
                  <a:srgbClr val="000000"/>
                </a:solidFill>
                <a:latin typeface="Calibri"/>
                <a:cs typeface="Calibri"/>
              </a:rPr>
              <a:t>involves</a:t>
            </a:r>
            <a:r>
              <a:rPr sz="2800" spc="70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21" dirty="0">
                <a:solidFill>
                  <a:srgbClr val="000000"/>
                </a:solidFill>
                <a:latin typeface="Calibri"/>
                <a:cs typeface="Calibri"/>
              </a:rPr>
              <a:t>first</a:t>
            </a:r>
            <a:r>
              <a:rPr sz="2800" spc="70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determining</a:t>
            </a:r>
          </a:p>
          <a:p>
            <a:pPr marL="228600" marR="0">
              <a:lnSpc>
                <a:spcPts val="3023"/>
              </a:lnSpc>
              <a:spcBef>
                <a:spcPts val="5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800" spc="47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part</a:t>
            </a:r>
            <a:r>
              <a:rPr sz="2800" spc="46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1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2800" spc="46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speech</a:t>
            </a:r>
            <a:r>
              <a:rPr sz="2800" spc="47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14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2800" spc="46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2800" spc="4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00"/>
                </a:solidFill>
                <a:latin typeface="Calibri"/>
                <a:cs typeface="Calibri"/>
              </a:rPr>
              <a:t>word,</a:t>
            </a:r>
            <a:r>
              <a:rPr sz="2800" spc="47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sz="2800" spc="46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applying</a:t>
            </a:r>
            <a:r>
              <a:rPr sz="2800" spc="45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21" dirty="0">
                <a:solidFill>
                  <a:srgbClr val="000000"/>
                </a:solidFill>
                <a:latin typeface="Calibri"/>
                <a:cs typeface="Calibri"/>
              </a:rPr>
              <a:t>different</a:t>
            </a:r>
            <a:r>
              <a:rPr sz="2800" spc="49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normalization</a:t>
            </a:r>
          </a:p>
          <a:p>
            <a:pPr marL="228600" marR="0">
              <a:lnSpc>
                <a:spcPts val="3026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rules </a:t>
            </a:r>
            <a:r>
              <a:rPr sz="2800" spc="-17" dirty="0">
                <a:solidFill>
                  <a:srgbClr val="000000"/>
                </a:solidFill>
                <a:latin typeface="Calibri"/>
                <a:cs typeface="Calibri"/>
              </a:rPr>
              <a:t>for</a:t>
            </a:r>
            <a:r>
              <a:rPr sz="280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each</a:t>
            </a:r>
            <a:r>
              <a:rPr sz="2800" spc="3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part </a:t>
            </a:r>
            <a:r>
              <a:rPr sz="2800" spc="1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2800" spc="-3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speech.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29944" y="1822369"/>
            <a:ext cx="1523839" cy="4734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27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Consider: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87094" y="2276799"/>
            <a:ext cx="3873364" cy="8040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400" spc="35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I</a:t>
            </a:r>
            <a:r>
              <a:rPr sz="2400" spc="-1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000000"/>
                </a:solidFill>
                <a:latin typeface="Calibri"/>
                <a:cs typeface="Calibri"/>
              </a:rPr>
              <a:t>was</a:t>
            </a:r>
            <a:r>
              <a:rPr sz="2400" spc="1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taking</a:t>
            </a:r>
            <a:r>
              <a:rPr sz="240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2400" spc="-1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ride</a:t>
            </a:r>
            <a:r>
              <a:rPr sz="2400" spc="-1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in the</a:t>
            </a:r>
            <a:r>
              <a:rPr sz="2400" spc="-1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66" dirty="0">
                <a:solidFill>
                  <a:srgbClr val="000000"/>
                </a:solidFill>
                <a:latin typeface="Calibri"/>
                <a:cs typeface="Calibri"/>
              </a:rPr>
              <a:t>car.</a:t>
            </a:r>
          </a:p>
          <a:p>
            <a:pPr marL="0" marR="0">
              <a:lnSpc>
                <a:spcPts val="2929"/>
              </a:lnSpc>
              <a:spcBef>
                <a:spcPts val="168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400" spc="35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I</a:t>
            </a:r>
            <a:r>
              <a:rPr sz="2400" spc="-1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17" dirty="0">
                <a:solidFill>
                  <a:srgbClr val="000000"/>
                </a:solidFill>
                <a:latin typeface="Calibri"/>
                <a:cs typeface="Calibri"/>
              </a:rPr>
              <a:t>was</a:t>
            </a:r>
            <a:r>
              <a:rPr sz="2400" spc="2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riding</a:t>
            </a:r>
            <a:r>
              <a:rPr sz="2400" spc="-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in the</a:t>
            </a:r>
            <a:r>
              <a:rPr sz="2400" spc="-4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66" dirty="0">
                <a:solidFill>
                  <a:srgbClr val="000000"/>
                </a:solidFill>
                <a:latin typeface="Calibri"/>
                <a:cs typeface="Calibri"/>
              </a:rPr>
              <a:t>car.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29944" y="3585317"/>
            <a:ext cx="10486204" cy="410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29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400" spc="35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Imagine</a:t>
            </a:r>
            <a:r>
              <a:rPr sz="2400" spc="28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every</a:t>
            </a:r>
            <a:r>
              <a:rPr sz="2400" spc="29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Calibri"/>
                <a:cs typeface="Calibri"/>
              </a:rPr>
              <a:t>word</a:t>
            </a:r>
            <a:r>
              <a:rPr sz="2400" spc="30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sz="2400" spc="25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400" spc="30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English</a:t>
            </a:r>
            <a:r>
              <a:rPr sz="2400" spc="28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language,</a:t>
            </a:r>
            <a:r>
              <a:rPr sz="2400" spc="26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every</a:t>
            </a:r>
            <a:r>
              <a:rPr sz="2400" spc="29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possible</a:t>
            </a:r>
            <a:r>
              <a:rPr sz="2400" spc="24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tense</a:t>
            </a:r>
            <a:r>
              <a:rPr sz="2400" spc="2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sz="2400" spc="26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affix</a:t>
            </a:r>
            <a:r>
              <a:rPr sz="2400" spc="29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23" dirty="0">
                <a:solidFill>
                  <a:srgbClr val="000000"/>
                </a:solidFill>
                <a:latin typeface="Calibri"/>
                <a:cs typeface="Calibri"/>
              </a:rPr>
              <a:t>you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58544" y="3914211"/>
            <a:ext cx="2464189" cy="4105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400" spc="-14" dirty="0">
                <a:solidFill>
                  <a:srgbClr val="000000"/>
                </a:solidFill>
                <a:latin typeface="Calibri"/>
                <a:cs typeface="Calibri"/>
              </a:rPr>
              <a:t>can</a:t>
            </a:r>
            <a:r>
              <a:rPr sz="240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12" dirty="0">
                <a:solidFill>
                  <a:srgbClr val="000000"/>
                </a:solidFill>
                <a:latin typeface="Calibri"/>
                <a:cs typeface="Calibri"/>
              </a:rPr>
              <a:t>put</a:t>
            </a:r>
            <a:r>
              <a:rPr sz="2400" spc="-4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on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2400" spc="-1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word.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29944" y="4368906"/>
            <a:ext cx="10486204" cy="410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29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400" spc="35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Having</a:t>
            </a:r>
            <a:r>
              <a:rPr sz="2400" spc="30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individual</a:t>
            </a:r>
            <a:r>
              <a:rPr sz="2400" spc="28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dictionary</a:t>
            </a:r>
            <a:r>
              <a:rPr sz="2400" spc="3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entries</a:t>
            </a:r>
            <a:r>
              <a:rPr sz="2400" spc="2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per</a:t>
            </a:r>
            <a:r>
              <a:rPr sz="2400" spc="27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version</a:t>
            </a:r>
            <a:r>
              <a:rPr sz="2400" spc="27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would</a:t>
            </a:r>
            <a:r>
              <a:rPr sz="2400" spc="29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Calibri"/>
                <a:cs typeface="Calibri"/>
              </a:rPr>
              <a:t>be</a:t>
            </a:r>
            <a:r>
              <a:rPr sz="2400" spc="26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highly</a:t>
            </a:r>
            <a:r>
              <a:rPr sz="2400" spc="29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redundant</a:t>
            </a:r>
            <a:r>
              <a:rPr sz="2400" spc="3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58544" y="4697800"/>
            <a:ext cx="1481125" cy="4105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inefficient.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99393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29944" y="652510"/>
            <a:ext cx="2421815" cy="719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364"/>
              </a:lnSpc>
              <a:spcBef>
                <a:spcPts val="0"/>
              </a:spcBef>
              <a:spcAft>
                <a:spcPts val="0"/>
              </a:spcAft>
            </a:pPr>
            <a:r>
              <a:rPr sz="4400" spc="-10" dirty="0">
                <a:solidFill>
                  <a:srgbClr val="000000"/>
                </a:solidFill>
                <a:latin typeface="Calibri Light"/>
                <a:cs typeface="Calibri Light"/>
              </a:rPr>
              <a:t>Stemming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9944" y="1509907"/>
            <a:ext cx="10483995" cy="439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4"/>
              </a:lnSpc>
              <a:spcBef>
                <a:spcPts val="0"/>
              </a:spcBef>
              <a:spcAft>
                <a:spcPts val="0"/>
              </a:spcAft>
            </a:pPr>
            <a:r>
              <a:rPr sz="26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600" spc="2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00000"/>
                </a:solidFill>
                <a:latin typeface="Calibri"/>
                <a:cs typeface="Calibri"/>
              </a:rPr>
              <a:t>One</a:t>
            </a:r>
            <a:r>
              <a:rPr sz="2600" spc="67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2600" spc="66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600" spc="66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0000"/>
                </a:solidFill>
                <a:latin typeface="Calibri"/>
                <a:cs typeface="Calibri"/>
              </a:rPr>
              <a:t>most</a:t>
            </a:r>
            <a:r>
              <a:rPr sz="2600" spc="6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0000"/>
                </a:solidFill>
                <a:latin typeface="Calibri"/>
                <a:cs typeface="Calibri"/>
              </a:rPr>
              <a:t>popular</a:t>
            </a:r>
            <a:r>
              <a:rPr sz="2600" spc="67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600" spc="-11" dirty="0">
                <a:solidFill>
                  <a:srgbClr val="000000"/>
                </a:solidFill>
                <a:latin typeface="Calibri"/>
                <a:cs typeface="Calibri"/>
              </a:rPr>
              <a:t>stemming</a:t>
            </a:r>
            <a:r>
              <a:rPr sz="2600" spc="67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0000"/>
                </a:solidFill>
                <a:latin typeface="Calibri"/>
                <a:cs typeface="Calibri"/>
              </a:rPr>
              <a:t>algorithms</a:t>
            </a:r>
            <a:r>
              <a:rPr sz="2600" spc="66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0000"/>
                </a:solidFill>
                <a:latin typeface="Calibri"/>
                <a:cs typeface="Calibri"/>
              </a:rPr>
              <a:t>is</a:t>
            </a:r>
            <a:r>
              <a:rPr sz="2600" spc="67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600" spc="66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600" spc="-14" dirty="0">
                <a:solidFill>
                  <a:srgbClr val="000000"/>
                </a:solidFill>
                <a:latin typeface="Calibri"/>
                <a:cs typeface="Calibri"/>
              </a:rPr>
              <a:t>Porter</a:t>
            </a:r>
            <a:r>
              <a:rPr sz="2600" spc="6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600" spc="-34" dirty="0">
                <a:solidFill>
                  <a:srgbClr val="000000"/>
                </a:solidFill>
                <a:latin typeface="Calibri"/>
                <a:cs typeface="Calibri"/>
              </a:rPr>
              <a:t>stemmer,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58544" y="1786984"/>
            <a:ext cx="4857563" cy="4403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6"/>
              </a:lnSpc>
              <a:spcBef>
                <a:spcPts val="0"/>
              </a:spcBef>
              <a:spcAft>
                <a:spcPts val="0"/>
              </a:spcAft>
            </a:pPr>
            <a:r>
              <a:rPr sz="2600" dirty="0">
                <a:solidFill>
                  <a:srgbClr val="000000"/>
                </a:solidFill>
                <a:latin typeface="Calibri"/>
                <a:cs typeface="Calibri"/>
              </a:rPr>
              <a:t>which has been</a:t>
            </a:r>
            <a:r>
              <a:rPr sz="260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0000"/>
                </a:solidFill>
                <a:latin typeface="Calibri"/>
                <a:cs typeface="Calibri"/>
              </a:rPr>
              <a:t>around</a:t>
            </a:r>
            <a:r>
              <a:rPr sz="2600" spc="2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0000"/>
                </a:solidFill>
                <a:latin typeface="Calibri"/>
                <a:cs typeface="Calibri"/>
              </a:rPr>
              <a:t>since 1979.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29944" y="2192913"/>
            <a:ext cx="10485339" cy="393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4"/>
              </a:lnSpc>
              <a:spcBef>
                <a:spcPts val="0"/>
              </a:spcBef>
              <a:spcAft>
                <a:spcPts val="0"/>
              </a:spcAft>
            </a:pPr>
            <a:endParaRPr sz="2600" spc="-15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8544" y="2469990"/>
            <a:ext cx="4655986" cy="10340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6"/>
              </a:lnSpc>
              <a:spcBef>
                <a:spcPts val="0"/>
              </a:spcBef>
              <a:spcAft>
                <a:spcPts val="0"/>
              </a:spcAft>
            </a:pPr>
            <a:endParaRPr sz="2600" spc="-37" dirty="0">
              <a:solidFill>
                <a:srgbClr val="000000"/>
              </a:solidFill>
              <a:latin typeface="Calibri"/>
              <a:cs typeface="Calibri"/>
            </a:endParaRPr>
          </a:p>
          <a:p>
            <a:pPr marL="228549" marR="0">
              <a:lnSpc>
                <a:spcPts val="2426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ED7D31"/>
                </a:solidFill>
                <a:latin typeface="Calibri Light"/>
                <a:cs typeface="Calibri Light"/>
              </a:rPr>
              <a:t>from</a:t>
            </a:r>
            <a:r>
              <a:rPr sz="2200" spc="10" dirty="0">
                <a:solidFill>
                  <a:srgbClr val="ED7D31"/>
                </a:solidFill>
                <a:latin typeface="Calibri Light"/>
                <a:cs typeface="Calibri Light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 Light"/>
                <a:cs typeface="Calibri Light"/>
              </a:rPr>
              <a:t>nltk.stem</a:t>
            </a:r>
            <a:r>
              <a:rPr sz="2200" spc="-18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200" dirty="0">
                <a:solidFill>
                  <a:srgbClr val="ED7D31"/>
                </a:solidFill>
                <a:latin typeface="Calibri Light"/>
                <a:cs typeface="Calibri Light"/>
              </a:rPr>
              <a:t>import</a:t>
            </a:r>
            <a:r>
              <a:rPr sz="2200" spc="-20" dirty="0">
                <a:solidFill>
                  <a:srgbClr val="ED7D31"/>
                </a:solidFill>
                <a:latin typeface="Calibri Light"/>
                <a:cs typeface="Calibri Light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 Light"/>
                <a:cs typeface="Calibri Light"/>
              </a:rPr>
              <a:t>PorterStemmer</a:t>
            </a:r>
          </a:p>
          <a:p>
            <a:pPr marL="228549" marR="0">
              <a:lnSpc>
                <a:spcPts val="2352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Calibri Light"/>
                <a:cs typeface="Calibri Light"/>
              </a:rPr>
              <a:t>ps</a:t>
            </a:r>
            <a:r>
              <a:rPr sz="2200" spc="-37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 Light"/>
                <a:cs typeface="Calibri Light"/>
              </a:rPr>
              <a:t>=</a:t>
            </a:r>
            <a:r>
              <a:rPr sz="2200" spc="18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 Light"/>
                <a:cs typeface="Calibri Light"/>
              </a:rPr>
              <a:t>PorterStemmer()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387094" y="3422062"/>
            <a:ext cx="8717433" cy="6796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98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Calibri Light"/>
                <a:cs typeface="Calibri Light"/>
              </a:rPr>
              <a:t>example_words</a:t>
            </a:r>
            <a:r>
              <a:rPr sz="2200" spc="-4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 Light"/>
                <a:cs typeface="Calibri Light"/>
              </a:rPr>
              <a:t>=</a:t>
            </a:r>
            <a:r>
              <a:rPr sz="2200" spc="1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200" dirty="0">
                <a:solidFill>
                  <a:srgbClr val="70AD47"/>
                </a:solidFill>
                <a:latin typeface="Calibri Light"/>
                <a:cs typeface="Calibri Light"/>
              </a:rPr>
              <a:t>["python","pythoner","pythoning","pythoned","pythonly"]</a:t>
            </a:r>
          </a:p>
          <a:p>
            <a:pPr marL="0" marR="0">
              <a:lnSpc>
                <a:spcPts val="2353"/>
              </a:lnSpc>
              <a:spcBef>
                <a:spcPts val="0"/>
              </a:spcBef>
              <a:spcAft>
                <a:spcPts val="0"/>
              </a:spcAft>
            </a:pPr>
            <a:r>
              <a:rPr sz="2200" spc="-15" dirty="0">
                <a:solidFill>
                  <a:srgbClr val="ED7D31"/>
                </a:solidFill>
                <a:latin typeface="Calibri Light"/>
                <a:cs typeface="Calibri Light"/>
              </a:rPr>
              <a:t>for</a:t>
            </a:r>
            <a:r>
              <a:rPr sz="2200" dirty="0">
                <a:solidFill>
                  <a:srgbClr val="ED7D31"/>
                </a:solidFill>
                <a:latin typeface="Calibri Light"/>
                <a:cs typeface="Calibri Light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 Light"/>
                <a:cs typeface="Calibri Light"/>
              </a:rPr>
              <a:t>w </a:t>
            </a:r>
            <a:r>
              <a:rPr sz="2200" dirty="0">
                <a:solidFill>
                  <a:srgbClr val="ED7D31"/>
                </a:solidFill>
                <a:latin typeface="Calibri Light"/>
                <a:cs typeface="Calibri Light"/>
              </a:rPr>
              <a:t>in </a:t>
            </a:r>
            <a:r>
              <a:rPr sz="2200" dirty="0">
                <a:solidFill>
                  <a:srgbClr val="000000"/>
                </a:solidFill>
                <a:latin typeface="Calibri Light"/>
                <a:cs typeface="Calibri Light"/>
              </a:rPr>
              <a:t>example_words: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844675" y="4019724"/>
            <a:ext cx="2111414" cy="3807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98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Calibri Light"/>
                <a:cs typeface="Calibri Light"/>
              </a:rPr>
              <a:t>print(ps.stem(w))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29944" y="4375003"/>
            <a:ext cx="1439514" cy="17898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29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000000"/>
                </a:solidFill>
                <a:latin typeface="Calibri"/>
                <a:cs typeface="Calibri"/>
              </a:rPr>
              <a:t>Output:</a:t>
            </a:r>
          </a:p>
          <a:p>
            <a:pPr marL="457149" marR="0">
              <a:lnSpc>
                <a:spcPts val="2255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4472C4"/>
                </a:solidFill>
                <a:latin typeface="Calibri Light"/>
                <a:cs typeface="Calibri Light"/>
              </a:rPr>
              <a:t>python</a:t>
            </a:r>
          </a:p>
          <a:p>
            <a:pPr marL="457149" marR="0">
              <a:lnSpc>
                <a:spcPts val="2183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4472C4"/>
                </a:solidFill>
                <a:latin typeface="Calibri Light"/>
                <a:cs typeface="Calibri Light"/>
              </a:rPr>
              <a:t>python</a:t>
            </a:r>
          </a:p>
          <a:p>
            <a:pPr marL="457149" marR="0">
              <a:lnSpc>
                <a:spcPts val="2186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4472C4"/>
                </a:solidFill>
                <a:latin typeface="Calibri Light"/>
                <a:cs typeface="Calibri Light"/>
              </a:rPr>
              <a:t>python</a:t>
            </a:r>
          </a:p>
          <a:p>
            <a:pPr marL="457149" marR="0">
              <a:lnSpc>
                <a:spcPts val="2159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4472C4"/>
                </a:solidFill>
                <a:latin typeface="Calibri Light"/>
                <a:cs typeface="Calibri Light"/>
              </a:rPr>
              <a:t>python</a:t>
            </a:r>
          </a:p>
          <a:p>
            <a:pPr marL="457149" marR="0">
              <a:lnSpc>
                <a:spcPts val="2186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4472C4"/>
                </a:solidFill>
                <a:latin typeface="Calibri Light"/>
                <a:cs typeface="Calibri Light"/>
              </a:rPr>
              <a:t>pythonli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29944" y="652510"/>
            <a:ext cx="3484037" cy="719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364"/>
              </a:lnSpc>
              <a:spcBef>
                <a:spcPts val="0"/>
              </a:spcBef>
              <a:spcAft>
                <a:spcPts val="0"/>
              </a:spcAft>
            </a:pPr>
            <a:r>
              <a:rPr sz="4400" spc="-21" dirty="0">
                <a:solidFill>
                  <a:srgbClr val="000000"/>
                </a:solidFill>
                <a:latin typeface="Calibri Light"/>
                <a:cs typeface="Calibri Light"/>
              </a:rPr>
              <a:t>Lemmatization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9944" y="1822369"/>
            <a:ext cx="10064021" cy="8575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27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8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spc="-12" dirty="0">
                <a:solidFill>
                  <a:srgbClr val="000000"/>
                </a:solidFill>
                <a:latin typeface="Calibri"/>
                <a:cs typeface="Calibri"/>
              </a:rPr>
              <a:t>Lemmatize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28" dirty="0">
                <a:solidFill>
                  <a:srgbClr val="000000"/>
                </a:solidFill>
                <a:latin typeface="Calibri"/>
                <a:cs typeface="Calibri"/>
              </a:rPr>
              <a:t>takes</a:t>
            </a:r>
            <a:r>
              <a:rPr sz="2800" spc="2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a part</a:t>
            </a:r>
            <a:r>
              <a:rPr sz="2800" spc="1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2800" spc="-1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speech</a:t>
            </a:r>
            <a:r>
              <a:rPr sz="2800" spc="2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33" dirty="0">
                <a:solidFill>
                  <a:srgbClr val="000000"/>
                </a:solidFill>
                <a:latin typeface="Calibri"/>
                <a:cs typeface="Calibri"/>
              </a:rPr>
              <a:t>parameter,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 "pos." If</a:t>
            </a:r>
            <a:r>
              <a:rPr sz="2800" spc="1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not</a:t>
            </a:r>
            <a:r>
              <a:rPr sz="2800" spc="2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supplied,</a:t>
            </a:r>
          </a:p>
          <a:p>
            <a:pPr marL="228600" marR="0">
              <a:lnSpc>
                <a:spcPts val="3023"/>
              </a:lnSpc>
              <a:spcBef>
                <a:spcPts val="5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800" spc="1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00"/>
                </a:solidFill>
                <a:latin typeface="Calibri"/>
                <a:cs typeface="Calibri"/>
              </a:rPr>
              <a:t>default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 is "noun".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87094" y="2661519"/>
            <a:ext cx="5994825" cy="2376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29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Calibri Light"/>
                <a:cs typeface="Calibri Light"/>
              </a:rPr>
              <a:t>&gt;&gt;&gt;</a:t>
            </a:r>
            <a:r>
              <a:rPr sz="2400" spc="-11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400" spc="-18" dirty="0">
                <a:solidFill>
                  <a:srgbClr val="ED7D31"/>
                </a:solidFill>
                <a:latin typeface="Calibri Light"/>
                <a:cs typeface="Calibri Light"/>
              </a:rPr>
              <a:t>from</a:t>
            </a:r>
            <a:r>
              <a:rPr sz="2400" spc="23" dirty="0">
                <a:solidFill>
                  <a:srgbClr val="ED7D31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 Light"/>
                <a:cs typeface="Calibri Light"/>
              </a:rPr>
              <a:t>nltk.stem</a:t>
            </a:r>
            <a:r>
              <a:rPr sz="2400" spc="1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ED7D31"/>
                </a:solidFill>
                <a:latin typeface="Calibri Light"/>
                <a:cs typeface="Calibri Light"/>
              </a:rPr>
              <a:t>import</a:t>
            </a:r>
            <a:r>
              <a:rPr sz="2400" spc="18" dirty="0">
                <a:solidFill>
                  <a:srgbClr val="ED7D31"/>
                </a:solidFill>
                <a:latin typeface="Calibri Light"/>
                <a:cs typeface="Calibri Light"/>
              </a:rPr>
              <a:t> </a:t>
            </a:r>
            <a:r>
              <a:rPr sz="2400" spc="-15" dirty="0">
                <a:solidFill>
                  <a:srgbClr val="000000"/>
                </a:solidFill>
                <a:latin typeface="Calibri Light"/>
                <a:cs typeface="Calibri Light"/>
              </a:rPr>
              <a:t>WordNetLemmatizer</a:t>
            </a:r>
          </a:p>
          <a:p>
            <a:pPr marL="0" marR="0">
              <a:lnSpc>
                <a:spcPts val="2932"/>
              </a:lnSpc>
              <a:spcBef>
                <a:spcPts val="16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Calibri Light"/>
                <a:cs typeface="Calibri Light"/>
              </a:rPr>
              <a:t>&gt;&gt;&gt;</a:t>
            </a:r>
            <a:r>
              <a:rPr sz="2400" spc="-11" dirty="0">
                <a:solidFill>
                  <a:srgbClr val="000000"/>
                </a:solidFill>
                <a:latin typeface="Calibri Light"/>
                <a:cs typeface="Calibri Light"/>
              </a:rPr>
              <a:t> lemmatizer</a:t>
            </a:r>
            <a:r>
              <a:rPr sz="2400" spc="36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 Light"/>
                <a:cs typeface="Calibri Light"/>
              </a:rPr>
              <a:t>=</a:t>
            </a:r>
            <a:r>
              <a:rPr sz="2400" spc="-1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400" spc="-14" dirty="0">
                <a:solidFill>
                  <a:srgbClr val="000000"/>
                </a:solidFill>
                <a:latin typeface="Calibri Light"/>
                <a:cs typeface="Calibri Light"/>
              </a:rPr>
              <a:t>WordNetLemmatizer()</a:t>
            </a:r>
          </a:p>
          <a:p>
            <a:pPr marL="0" marR="0">
              <a:lnSpc>
                <a:spcPts val="2929"/>
              </a:lnSpc>
              <a:spcBef>
                <a:spcPts val="167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Calibri Light"/>
                <a:cs typeface="Calibri Light"/>
              </a:rPr>
              <a:t>&gt;&gt;&gt;</a:t>
            </a:r>
            <a:r>
              <a:rPr sz="2400" spc="-11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400" spc="-23" dirty="0">
                <a:solidFill>
                  <a:srgbClr val="000000"/>
                </a:solidFill>
                <a:latin typeface="Calibri Light"/>
                <a:cs typeface="Calibri Light"/>
              </a:rPr>
              <a:t>lemmatizer.lemmatize(</a:t>
            </a:r>
            <a:r>
              <a:rPr sz="2400" dirty="0">
                <a:solidFill>
                  <a:srgbClr val="70AD47"/>
                </a:solidFill>
                <a:latin typeface="Calibri Light"/>
                <a:cs typeface="Calibri Light"/>
              </a:rPr>
              <a:t>'cooking'</a:t>
            </a:r>
            <a:r>
              <a:rPr sz="2400" dirty="0">
                <a:solidFill>
                  <a:srgbClr val="000000"/>
                </a:solidFill>
                <a:latin typeface="Calibri Light"/>
                <a:cs typeface="Calibri Light"/>
              </a:rPr>
              <a:t>)</a:t>
            </a:r>
          </a:p>
          <a:p>
            <a:pPr marL="0" marR="0">
              <a:lnSpc>
                <a:spcPts val="2932"/>
              </a:lnSpc>
              <a:spcBef>
                <a:spcPts val="164"/>
              </a:spcBef>
              <a:spcAft>
                <a:spcPts val="0"/>
              </a:spcAft>
            </a:pPr>
            <a:r>
              <a:rPr sz="2400" dirty="0">
                <a:solidFill>
                  <a:srgbClr val="4472C4"/>
                </a:solidFill>
                <a:latin typeface="Calibri Light"/>
                <a:cs typeface="Calibri Light"/>
              </a:rPr>
              <a:t>'cooking'</a:t>
            </a:r>
          </a:p>
          <a:p>
            <a:pPr marL="0" marR="0">
              <a:lnSpc>
                <a:spcPts val="2929"/>
              </a:lnSpc>
              <a:spcBef>
                <a:spcPts val="167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Calibri Light"/>
                <a:cs typeface="Calibri Light"/>
              </a:rPr>
              <a:t>&gt;&gt;&gt;</a:t>
            </a:r>
            <a:r>
              <a:rPr sz="2400" spc="-11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400" spc="-23" dirty="0">
                <a:solidFill>
                  <a:srgbClr val="000000"/>
                </a:solidFill>
                <a:latin typeface="Calibri Light"/>
                <a:cs typeface="Calibri Light"/>
              </a:rPr>
              <a:t>lemmatizer.lemmatize(</a:t>
            </a:r>
            <a:r>
              <a:rPr sz="2400" dirty="0">
                <a:solidFill>
                  <a:srgbClr val="70AD47"/>
                </a:solidFill>
                <a:latin typeface="Calibri Light"/>
                <a:cs typeface="Calibri Light"/>
              </a:rPr>
              <a:t>'cooking',</a:t>
            </a:r>
            <a:r>
              <a:rPr sz="2400" spc="100" dirty="0">
                <a:solidFill>
                  <a:srgbClr val="70AD47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70AD47"/>
                </a:solidFill>
                <a:latin typeface="Calibri Light"/>
                <a:cs typeface="Calibri Light"/>
              </a:rPr>
              <a:t>pos='v'</a:t>
            </a:r>
            <a:r>
              <a:rPr sz="2400" dirty="0">
                <a:solidFill>
                  <a:srgbClr val="000000"/>
                </a:solidFill>
                <a:latin typeface="Calibri Light"/>
                <a:cs typeface="Calibri Light"/>
              </a:rPr>
              <a:t>)</a:t>
            </a:r>
          </a:p>
          <a:p>
            <a:pPr marL="0" marR="0">
              <a:lnSpc>
                <a:spcPts val="2932"/>
              </a:lnSpc>
              <a:spcBef>
                <a:spcPts val="164"/>
              </a:spcBef>
              <a:spcAft>
                <a:spcPts val="0"/>
              </a:spcAft>
            </a:pPr>
            <a:r>
              <a:rPr sz="2400" dirty="0">
                <a:solidFill>
                  <a:srgbClr val="4472C4"/>
                </a:solidFill>
                <a:latin typeface="Calibri Light"/>
                <a:cs typeface="Calibri Light"/>
              </a:rPr>
              <a:t>'cook'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29944" y="683704"/>
            <a:ext cx="10144129" cy="659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895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000000"/>
                </a:solidFill>
                <a:latin typeface="Calibri Light"/>
                <a:cs typeface="Calibri Light"/>
              </a:rPr>
              <a:t>Comparison</a:t>
            </a:r>
            <a:r>
              <a:rPr sz="4000" spc="-51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000" dirty="0">
                <a:solidFill>
                  <a:srgbClr val="000000"/>
                </a:solidFill>
                <a:latin typeface="Calibri Light"/>
                <a:cs typeface="Calibri Light"/>
              </a:rPr>
              <a:t>between</a:t>
            </a:r>
            <a:r>
              <a:rPr sz="4000" spc="-79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000" dirty="0">
                <a:solidFill>
                  <a:srgbClr val="000000"/>
                </a:solidFill>
                <a:latin typeface="Calibri Light"/>
                <a:cs typeface="Calibri Light"/>
              </a:rPr>
              <a:t>stemming</a:t>
            </a:r>
            <a:r>
              <a:rPr sz="4000" spc="-54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000" dirty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sz="4000" spc="-33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000" dirty="0">
                <a:solidFill>
                  <a:srgbClr val="000000"/>
                </a:solidFill>
                <a:latin typeface="Calibri Light"/>
                <a:cs typeface="Calibri Light"/>
              </a:rPr>
              <a:t>lemmatizing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9944" y="1822369"/>
            <a:ext cx="10488710" cy="4734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27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8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800" spc="18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major</a:t>
            </a:r>
            <a:r>
              <a:rPr sz="2800" spc="19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000000"/>
                </a:solidFill>
                <a:latin typeface="Calibri"/>
                <a:cs typeface="Calibri"/>
              </a:rPr>
              <a:t>difference</a:t>
            </a:r>
            <a:r>
              <a:rPr sz="2800" spc="20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between</a:t>
            </a:r>
            <a:r>
              <a:rPr sz="2800" spc="18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these</a:t>
            </a:r>
            <a:r>
              <a:rPr sz="2800" spc="17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is,</a:t>
            </a:r>
            <a:r>
              <a:rPr sz="2800" spc="17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as</a:t>
            </a:r>
            <a:r>
              <a:rPr sz="2800" spc="21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you</a:t>
            </a:r>
            <a:r>
              <a:rPr sz="2800" spc="19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saw</a:t>
            </a:r>
            <a:r>
              <a:rPr sz="2800" spc="20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30" dirty="0">
                <a:solidFill>
                  <a:srgbClr val="000000"/>
                </a:solidFill>
                <a:latin typeface="Calibri"/>
                <a:cs typeface="Calibri"/>
              </a:rPr>
              <a:t>earlier,</a:t>
            </a:r>
            <a:r>
              <a:rPr sz="2800" spc="21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00"/>
                </a:solidFill>
                <a:latin typeface="Calibri"/>
                <a:cs typeface="Calibri"/>
              </a:rPr>
              <a:t>stemming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58544" y="2206127"/>
            <a:ext cx="10259028" cy="473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30"/>
              </a:lnSpc>
              <a:spcBef>
                <a:spcPts val="0"/>
              </a:spcBef>
              <a:spcAft>
                <a:spcPts val="0"/>
              </a:spcAft>
            </a:pPr>
            <a:r>
              <a:rPr sz="2800" spc="-12" dirty="0">
                <a:solidFill>
                  <a:srgbClr val="000000"/>
                </a:solidFill>
                <a:latin typeface="Calibri"/>
                <a:cs typeface="Calibri"/>
              </a:rPr>
              <a:t>can</a:t>
            </a:r>
            <a:r>
              <a:rPr sz="2800" spc="78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often</a:t>
            </a:r>
            <a:r>
              <a:rPr sz="2800" spc="7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8" dirty="0">
                <a:solidFill>
                  <a:srgbClr val="000000"/>
                </a:solidFill>
                <a:latin typeface="Calibri"/>
                <a:cs typeface="Calibri"/>
              </a:rPr>
              <a:t>create</a:t>
            </a:r>
            <a:r>
              <a:rPr sz="2800" spc="80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non-existent</a:t>
            </a:r>
            <a:r>
              <a:rPr sz="2800" spc="77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words,</a:t>
            </a:r>
            <a:r>
              <a:rPr sz="2800" spc="76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whereas</a:t>
            </a:r>
            <a:r>
              <a:rPr sz="2800" spc="77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lemmas</a:t>
            </a:r>
            <a:r>
              <a:rPr sz="2800" spc="76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8" dirty="0">
                <a:solidFill>
                  <a:srgbClr val="000000"/>
                </a:solidFill>
                <a:latin typeface="Calibri"/>
                <a:cs typeface="Calibri"/>
              </a:rPr>
              <a:t>are</a:t>
            </a:r>
            <a:r>
              <a:rPr sz="2800" spc="82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actual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58544" y="2590846"/>
            <a:ext cx="7571671" cy="4734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27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words, you</a:t>
            </a:r>
            <a:r>
              <a:rPr sz="2800" spc="-2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4" dirty="0">
                <a:solidFill>
                  <a:srgbClr val="000000"/>
                </a:solidFill>
                <a:latin typeface="Calibri"/>
                <a:cs typeface="Calibri"/>
              </a:rPr>
              <a:t>can</a:t>
            </a:r>
            <a:r>
              <a:rPr sz="2800" spc="4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just </a:t>
            </a:r>
            <a:r>
              <a:rPr sz="2800" spc="10" dirty="0">
                <a:solidFill>
                  <a:srgbClr val="000000"/>
                </a:solidFill>
                <a:latin typeface="Calibri"/>
                <a:cs typeface="Calibri"/>
              </a:rPr>
              <a:t>look</a:t>
            </a:r>
            <a:r>
              <a:rPr sz="2800" spc="-1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up</a:t>
            </a:r>
            <a:r>
              <a:rPr sz="28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in an</a:t>
            </a:r>
            <a:r>
              <a:rPr sz="2800" spc="-1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English </a:t>
            </a:r>
            <a:r>
              <a:rPr sz="2800" spc="-14" dirty="0">
                <a:solidFill>
                  <a:srgbClr val="000000"/>
                </a:solidFill>
                <a:latin typeface="Calibri"/>
                <a:cs typeface="Calibri"/>
              </a:rPr>
              <a:t>dictionary.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87094" y="3045276"/>
            <a:ext cx="4664316" cy="15905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Calibri Light"/>
                <a:cs typeface="Calibri Light"/>
              </a:rPr>
              <a:t>&gt;&gt;&gt;</a:t>
            </a:r>
            <a:r>
              <a:rPr sz="2400" spc="-11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400" spc="-30" dirty="0">
                <a:solidFill>
                  <a:srgbClr val="000000"/>
                </a:solidFill>
                <a:latin typeface="Calibri Light"/>
                <a:cs typeface="Calibri Light"/>
              </a:rPr>
              <a:t>stemmer.stem(</a:t>
            </a:r>
            <a:r>
              <a:rPr sz="2400" dirty="0">
                <a:solidFill>
                  <a:srgbClr val="70AD47"/>
                </a:solidFill>
                <a:latin typeface="Calibri Light"/>
                <a:cs typeface="Calibri Light"/>
              </a:rPr>
              <a:t>'believes'</a:t>
            </a:r>
            <a:r>
              <a:rPr sz="2400" dirty="0">
                <a:solidFill>
                  <a:srgbClr val="000000"/>
                </a:solidFill>
                <a:latin typeface="Calibri Light"/>
                <a:cs typeface="Calibri Light"/>
              </a:rPr>
              <a:t>)</a:t>
            </a:r>
          </a:p>
          <a:p>
            <a:pPr marL="0" marR="0">
              <a:lnSpc>
                <a:spcPts val="2929"/>
              </a:lnSpc>
              <a:spcBef>
                <a:spcPts val="167"/>
              </a:spcBef>
              <a:spcAft>
                <a:spcPts val="0"/>
              </a:spcAft>
            </a:pPr>
            <a:r>
              <a:rPr sz="2400" dirty="0">
                <a:solidFill>
                  <a:srgbClr val="4472C4"/>
                </a:solidFill>
                <a:latin typeface="Calibri Light"/>
                <a:cs typeface="Calibri Light"/>
              </a:rPr>
              <a:t>'believ'</a:t>
            </a:r>
          </a:p>
          <a:p>
            <a:pPr marL="0" marR="0">
              <a:lnSpc>
                <a:spcPts val="2932"/>
              </a:lnSpc>
              <a:spcBef>
                <a:spcPts val="16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Calibri Light"/>
                <a:cs typeface="Calibri Light"/>
              </a:rPr>
              <a:t>&gt;&gt;&gt;</a:t>
            </a:r>
            <a:r>
              <a:rPr sz="2400" spc="-11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400" spc="-23" dirty="0">
                <a:solidFill>
                  <a:srgbClr val="000000"/>
                </a:solidFill>
                <a:latin typeface="Calibri Light"/>
                <a:cs typeface="Calibri Light"/>
              </a:rPr>
              <a:t>lemmatizer.lemmatize(</a:t>
            </a:r>
            <a:r>
              <a:rPr sz="2400" dirty="0">
                <a:solidFill>
                  <a:srgbClr val="70AD47"/>
                </a:solidFill>
                <a:latin typeface="Calibri Light"/>
                <a:cs typeface="Calibri Light"/>
              </a:rPr>
              <a:t>'believes'</a:t>
            </a:r>
            <a:r>
              <a:rPr sz="2400" dirty="0">
                <a:solidFill>
                  <a:srgbClr val="000000"/>
                </a:solidFill>
                <a:latin typeface="Calibri Light"/>
                <a:cs typeface="Calibri Light"/>
              </a:rPr>
              <a:t>)</a:t>
            </a:r>
          </a:p>
          <a:p>
            <a:pPr marL="0" marR="0">
              <a:lnSpc>
                <a:spcPts val="2929"/>
              </a:lnSpc>
              <a:spcBef>
                <a:spcPts val="167"/>
              </a:spcBef>
              <a:spcAft>
                <a:spcPts val="0"/>
              </a:spcAft>
            </a:pPr>
            <a:r>
              <a:rPr sz="2400" dirty="0">
                <a:solidFill>
                  <a:srgbClr val="4472C4"/>
                </a:solidFill>
                <a:latin typeface="Calibri Light"/>
                <a:cs typeface="Calibri Light"/>
              </a:rPr>
              <a:t>'belief'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29944" y="652510"/>
            <a:ext cx="5271625" cy="719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364"/>
              </a:lnSpc>
              <a:spcBef>
                <a:spcPts val="0"/>
              </a:spcBef>
              <a:spcAft>
                <a:spcPts val="0"/>
              </a:spcAft>
            </a:pPr>
            <a:r>
              <a:rPr sz="4400" spc="-12" dirty="0">
                <a:solidFill>
                  <a:srgbClr val="000000"/>
                </a:solidFill>
                <a:latin typeface="Calibri Light"/>
                <a:cs typeface="Calibri Light"/>
              </a:rPr>
              <a:t>Part-of-speech</a:t>
            </a:r>
            <a:r>
              <a:rPr sz="4400" spc="11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spc="-46" dirty="0">
                <a:solidFill>
                  <a:srgbClr val="000000"/>
                </a:solidFill>
                <a:latin typeface="Calibri Light"/>
                <a:cs typeface="Calibri Light"/>
              </a:rPr>
              <a:t>Tagging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9944" y="1579799"/>
            <a:ext cx="10484315" cy="12491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27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8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Part-of-speech</a:t>
            </a:r>
            <a:r>
              <a:rPr sz="2800" spc="22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30" dirty="0">
                <a:solidFill>
                  <a:srgbClr val="000000"/>
                </a:solidFill>
                <a:latin typeface="Calibri"/>
                <a:cs typeface="Calibri"/>
              </a:rPr>
              <a:t>Tagging</a:t>
            </a:r>
            <a:r>
              <a:rPr sz="2800" spc="27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is</a:t>
            </a:r>
            <a:r>
              <a:rPr sz="2800" spc="23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800" spc="25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process</a:t>
            </a:r>
            <a:r>
              <a:rPr sz="2800" spc="25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1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2800" spc="22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marking</a:t>
            </a:r>
            <a:r>
              <a:rPr sz="2800" spc="2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up</a:t>
            </a:r>
            <a:r>
              <a:rPr sz="2800" spc="2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2800" spc="25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2" dirty="0">
                <a:solidFill>
                  <a:srgbClr val="000000"/>
                </a:solidFill>
                <a:latin typeface="Calibri"/>
                <a:cs typeface="Calibri"/>
              </a:rPr>
              <a:t>word</a:t>
            </a:r>
            <a:r>
              <a:rPr sz="2800" spc="23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sz="2800" spc="22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2800" spc="23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23" dirty="0">
                <a:solidFill>
                  <a:srgbClr val="000000"/>
                </a:solidFill>
                <a:latin typeface="Calibri"/>
                <a:cs typeface="Calibri"/>
              </a:rPr>
              <a:t>text</a:t>
            </a:r>
          </a:p>
          <a:p>
            <a:pPr marL="228600" marR="0">
              <a:lnSpc>
                <a:spcPts val="3023"/>
              </a:lnSpc>
              <a:spcBef>
                <a:spcPts val="5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(corpus)</a:t>
            </a:r>
            <a:r>
              <a:rPr sz="2800" spc="4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as corresponding </a:t>
            </a:r>
            <a:r>
              <a:rPr sz="2800" spc="-25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sz="2800" spc="2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2800" spc="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particular</a:t>
            </a:r>
            <a:r>
              <a:rPr sz="2800" spc="-2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part</a:t>
            </a:r>
            <a:r>
              <a:rPr sz="2800" spc="1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14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2800" spc="-3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speech.</a:t>
            </a:r>
          </a:p>
          <a:p>
            <a:pPr marL="457149" marR="0">
              <a:lnSpc>
                <a:spcPts val="2929"/>
              </a:lnSpc>
              <a:spcBef>
                <a:spcPts val="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Calibri Light"/>
                <a:cs typeface="Calibri Light"/>
              </a:rPr>
              <a:t>&gt;&gt;&gt;</a:t>
            </a:r>
            <a:r>
              <a:rPr sz="2400" spc="-11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400" spc="-18" dirty="0">
                <a:solidFill>
                  <a:srgbClr val="ED7D31"/>
                </a:solidFill>
                <a:latin typeface="Calibri Light"/>
                <a:cs typeface="Calibri Light"/>
              </a:rPr>
              <a:t>from</a:t>
            </a:r>
            <a:r>
              <a:rPr sz="2400" spc="23" dirty="0">
                <a:solidFill>
                  <a:srgbClr val="ED7D31"/>
                </a:solidFill>
                <a:latin typeface="Calibri Light"/>
                <a:cs typeface="Calibri Light"/>
              </a:rPr>
              <a:t> </a:t>
            </a:r>
            <a:r>
              <a:rPr sz="2400" spc="-18" dirty="0">
                <a:solidFill>
                  <a:srgbClr val="000000"/>
                </a:solidFill>
                <a:latin typeface="Calibri Light"/>
                <a:cs typeface="Calibri Light"/>
              </a:rPr>
              <a:t>nltk.tokenize</a:t>
            </a:r>
            <a:r>
              <a:rPr sz="2400" spc="43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ED7D31"/>
                </a:solidFill>
                <a:latin typeface="Calibri Light"/>
                <a:cs typeface="Calibri Light"/>
              </a:rPr>
              <a:t>import </a:t>
            </a:r>
            <a:r>
              <a:rPr sz="2400" spc="-18" dirty="0">
                <a:solidFill>
                  <a:srgbClr val="000000"/>
                </a:solidFill>
                <a:latin typeface="Calibri Light"/>
                <a:cs typeface="Calibri Light"/>
              </a:rPr>
              <a:t>word_tokenize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87094" y="2811723"/>
            <a:ext cx="9228478" cy="11973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Calibri Light"/>
                <a:cs typeface="Calibri Light"/>
              </a:rPr>
              <a:t>&gt;&gt;&gt;</a:t>
            </a:r>
            <a:r>
              <a:rPr sz="2400" spc="-11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400" spc="-18" dirty="0">
                <a:solidFill>
                  <a:srgbClr val="ED7D31"/>
                </a:solidFill>
                <a:latin typeface="Calibri Light"/>
                <a:cs typeface="Calibri Light"/>
              </a:rPr>
              <a:t>from</a:t>
            </a:r>
            <a:r>
              <a:rPr sz="2400" spc="23" dirty="0">
                <a:solidFill>
                  <a:srgbClr val="ED7D31"/>
                </a:solidFill>
                <a:latin typeface="Calibri Light"/>
                <a:cs typeface="Calibri Light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Calibri Light"/>
                <a:cs typeface="Calibri Light"/>
              </a:rPr>
              <a:t>nltk.tag</a:t>
            </a:r>
            <a:r>
              <a:rPr sz="240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ED7D31"/>
                </a:solidFill>
                <a:latin typeface="Calibri Light"/>
                <a:cs typeface="Calibri Light"/>
              </a:rPr>
              <a:t>import</a:t>
            </a:r>
            <a:r>
              <a:rPr sz="2400" spc="18" dirty="0">
                <a:solidFill>
                  <a:srgbClr val="ED7D31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 Light"/>
                <a:cs typeface="Calibri Light"/>
              </a:rPr>
              <a:t>pos_tag</a:t>
            </a:r>
          </a:p>
          <a:p>
            <a:pPr marL="0" marR="0">
              <a:lnSpc>
                <a:spcPts val="2929"/>
              </a:lnSpc>
              <a:spcBef>
                <a:spcPts val="168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Calibri Light"/>
                <a:cs typeface="Calibri Light"/>
              </a:rPr>
              <a:t>&gt;&gt;&gt;</a:t>
            </a:r>
            <a:r>
              <a:rPr sz="2400" spc="-12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400" spc="-15" dirty="0">
                <a:solidFill>
                  <a:srgbClr val="000000"/>
                </a:solidFill>
                <a:latin typeface="Calibri Light"/>
                <a:cs typeface="Calibri Light"/>
              </a:rPr>
              <a:t>words</a:t>
            </a:r>
            <a:r>
              <a:rPr sz="2400" dirty="0">
                <a:solidFill>
                  <a:srgbClr val="000000"/>
                </a:solidFill>
                <a:latin typeface="Calibri Light"/>
                <a:cs typeface="Calibri Light"/>
              </a:rPr>
              <a:t> =</a:t>
            </a:r>
            <a:r>
              <a:rPr sz="2400" spc="21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400" spc="-15" dirty="0">
                <a:solidFill>
                  <a:srgbClr val="000000"/>
                </a:solidFill>
                <a:latin typeface="Calibri Light"/>
                <a:cs typeface="Calibri Light"/>
              </a:rPr>
              <a:t>word_tokenize(</a:t>
            </a:r>
            <a:r>
              <a:rPr sz="2400" dirty="0">
                <a:solidFill>
                  <a:srgbClr val="70AD47"/>
                </a:solidFill>
                <a:latin typeface="Calibri Light"/>
                <a:cs typeface="Calibri Light"/>
              </a:rPr>
              <a:t>'And</a:t>
            </a:r>
            <a:r>
              <a:rPr sz="2400" spc="14" dirty="0">
                <a:solidFill>
                  <a:srgbClr val="70AD47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70AD47"/>
                </a:solidFill>
                <a:latin typeface="Calibri Light"/>
                <a:cs typeface="Calibri Light"/>
              </a:rPr>
              <a:t>now</a:t>
            </a:r>
            <a:r>
              <a:rPr sz="2400" spc="-14" dirty="0">
                <a:solidFill>
                  <a:srgbClr val="70AD47"/>
                </a:solidFill>
                <a:latin typeface="Calibri Light"/>
                <a:cs typeface="Calibri Light"/>
              </a:rPr>
              <a:t> </a:t>
            </a:r>
            <a:r>
              <a:rPr sz="2400" spc="-23" dirty="0">
                <a:solidFill>
                  <a:srgbClr val="70AD47"/>
                </a:solidFill>
                <a:latin typeface="Calibri Light"/>
                <a:cs typeface="Calibri Light"/>
              </a:rPr>
              <a:t>for</a:t>
            </a:r>
            <a:r>
              <a:rPr sz="2400" dirty="0">
                <a:solidFill>
                  <a:srgbClr val="70AD47"/>
                </a:solidFill>
                <a:latin typeface="Calibri Light"/>
                <a:cs typeface="Calibri Light"/>
              </a:rPr>
              <a:t> something</a:t>
            </a:r>
            <a:r>
              <a:rPr sz="2400" spc="-10" dirty="0">
                <a:solidFill>
                  <a:srgbClr val="70AD47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70AD47"/>
                </a:solidFill>
                <a:latin typeface="Calibri Light"/>
                <a:cs typeface="Calibri Light"/>
              </a:rPr>
              <a:t>completely </a:t>
            </a:r>
            <a:r>
              <a:rPr sz="2400" spc="-15" dirty="0">
                <a:solidFill>
                  <a:srgbClr val="70AD47"/>
                </a:solidFill>
                <a:latin typeface="Calibri Light"/>
                <a:cs typeface="Calibri Light"/>
              </a:rPr>
              <a:t>different'</a:t>
            </a:r>
            <a:r>
              <a:rPr sz="2400" dirty="0">
                <a:solidFill>
                  <a:srgbClr val="000000"/>
                </a:solidFill>
                <a:latin typeface="Calibri Light"/>
                <a:cs typeface="Calibri Light"/>
              </a:rPr>
              <a:t>)</a:t>
            </a:r>
          </a:p>
          <a:p>
            <a:pPr marL="0" marR="0">
              <a:lnSpc>
                <a:spcPts val="2932"/>
              </a:lnSpc>
              <a:spcBef>
                <a:spcPts val="16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Calibri Light"/>
                <a:cs typeface="Calibri Light"/>
              </a:rPr>
              <a:t>&gt;&gt;&gt;</a:t>
            </a:r>
            <a:r>
              <a:rPr sz="2400" spc="-11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 Light"/>
                <a:cs typeface="Calibri Light"/>
              </a:rPr>
              <a:t>pos_tag(words)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502917" y="4062897"/>
            <a:ext cx="9656647" cy="3469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31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4472C4"/>
                </a:solidFill>
                <a:latin typeface="Calibri"/>
                <a:cs typeface="Calibri"/>
              </a:rPr>
              <a:t>[('And',</a:t>
            </a:r>
            <a:r>
              <a:rPr sz="2000" spc="34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472C4"/>
                </a:solidFill>
                <a:latin typeface="Calibri"/>
                <a:cs typeface="Calibri"/>
              </a:rPr>
              <a:t>'CC'),</a:t>
            </a:r>
            <a:r>
              <a:rPr sz="2000" spc="34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472C4"/>
                </a:solidFill>
                <a:latin typeface="Calibri"/>
                <a:cs typeface="Calibri"/>
              </a:rPr>
              <a:t>('now', 'RB'),</a:t>
            </a:r>
            <a:r>
              <a:rPr sz="2000" spc="33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2000" spc="-14" dirty="0">
                <a:solidFill>
                  <a:srgbClr val="4472C4"/>
                </a:solidFill>
                <a:latin typeface="Calibri"/>
                <a:cs typeface="Calibri"/>
              </a:rPr>
              <a:t>('for',</a:t>
            </a:r>
            <a:r>
              <a:rPr sz="2000" spc="43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472C4"/>
                </a:solidFill>
                <a:latin typeface="Calibri"/>
                <a:cs typeface="Calibri"/>
              </a:rPr>
              <a:t>'IN'), ('something',</a:t>
            </a:r>
            <a:r>
              <a:rPr sz="2000" spc="57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472C4"/>
                </a:solidFill>
                <a:latin typeface="Calibri"/>
                <a:cs typeface="Calibri"/>
              </a:rPr>
              <a:t>'NN'), ('completely',</a:t>
            </a:r>
            <a:r>
              <a:rPr sz="2000" spc="85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472C4"/>
                </a:solidFill>
                <a:latin typeface="Calibri"/>
                <a:cs typeface="Calibri"/>
              </a:rPr>
              <a:t>'RB'),</a:t>
            </a:r>
            <a:r>
              <a:rPr sz="2000" spc="34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472C4"/>
                </a:solidFill>
                <a:latin typeface="Calibri"/>
                <a:cs typeface="Calibri"/>
              </a:rPr>
              <a:t>('different','JJ')]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29944" y="4863808"/>
            <a:ext cx="8839391" cy="3469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41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Arial"/>
                <a:cs typeface="Arial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•</a:t>
            </a:r>
            <a:r>
              <a:rPr sz="2000" spc="600" dirty="0">
                <a:solidFill>
                  <a:srgbClr val="000000"/>
                </a:solidFill>
                <a:latin typeface="Times New Roman"/>
                <a:cs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</a:t>
            </a:r>
            <a:r>
              <a:rPr sz="2000" u="sng" dirty="0">
                <a:solidFill>
                  <a:srgbClr val="0563C1"/>
                </a:solidFill>
                <a:latin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https://www.ling.upenn.edu/courses/Fall_2003/ling001/penn_treebank_pos.html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29944" y="652510"/>
            <a:ext cx="7066865" cy="719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364"/>
              </a:lnSpc>
              <a:spcBef>
                <a:spcPts val="0"/>
              </a:spcBef>
              <a:spcAft>
                <a:spcPts val="0"/>
              </a:spcAft>
            </a:pPr>
            <a:r>
              <a:rPr sz="4400" spc="-40" dirty="0">
                <a:solidFill>
                  <a:srgbClr val="000000"/>
                </a:solidFill>
                <a:latin typeface="Calibri Light"/>
                <a:cs typeface="Calibri Light"/>
              </a:rPr>
              <a:t>Penn</a:t>
            </a:r>
            <a:r>
              <a:rPr sz="4400" spc="68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dirty="0">
                <a:solidFill>
                  <a:srgbClr val="000000"/>
                </a:solidFill>
                <a:latin typeface="Calibri Light"/>
                <a:cs typeface="Calibri Light"/>
              </a:rPr>
              <a:t>Bank </a:t>
            </a:r>
            <a:r>
              <a:rPr sz="4400" spc="-10" dirty="0">
                <a:solidFill>
                  <a:srgbClr val="000000"/>
                </a:solidFill>
                <a:latin typeface="Calibri Light"/>
                <a:cs typeface="Calibri Light"/>
              </a:rPr>
              <a:t>Part-of-Speech</a:t>
            </a:r>
            <a:r>
              <a:rPr sz="4400" spc="117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spc="-88" dirty="0">
                <a:solidFill>
                  <a:srgbClr val="000000"/>
                </a:solidFill>
                <a:latin typeface="Calibri Light"/>
                <a:cs typeface="Calibri Light"/>
              </a:rPr>
              <a:t>Tags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29944" y="537194"/>
            <a:ext cx="6019556" cy="719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364"/>
              </a:lnSpc>
              <a:spcBef>
                <a:spcPts val="0"/>
              </a:spcBef>
              <a:spcAft>
                <a:spcPts val="0"/>
              </a:spcAft>
            </a:pPr>
            <a:r>
              <a:rPr sz="4400" spc="-10" dirty="0">
                <a:solidFill>
                  <a:srgbClr val="000000"/>
                </a:solidFill>
                <a:latin typeface="Calibri Light"/>
                <a:cs typeface="Calibri Light"/>
              </a:rPr>
              <a:t>Named-entity</a:t>
            </a:r>
            <a:r>
              <a:rPr sz="4400" spc="112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spc="-21" dirty="0">
                <a:solidFill>
                  <a:srgbClr val="000000"/>
                </a:solidFill>
                <a:latin typeface="Calibri Light"/>
                <a:cs typeface="Calibri Light"/>
              </a:rPr>
              <a:t>Recognition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9944" y="1579799"/>
            <a:ext cx="10487590" cy="1625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27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8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Named-entity</a:t>
            </a:r>
            <a:r>
              <a:rPr sz="2800" spc="27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recognition</a:t>
            </a:r>
            <a:r>
              <a:rPr sz="2800" spc="29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is</a:t>
            </a:r>
            <a:r>
              <a:rPr sz="2800" spc="25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2800" spc="28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subtask</a:t>
            </a:r>
            <a:r>
              <a:rPr sz="2800" spc="29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1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2800" spc="27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00"/>
                </a:solidFill>
                <a:latin typeface="Calibri"/>
                <a:cs typeface="Calibri"/>
              </a:rPr>
              <a:t>information</a:t>
            </a:r>
            <a:r>
              <a:rPr sz="2800" spc="29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2" dirty="0">
                <a:solidFill>
                  <a:srgbClr val="000000"/>
                </a:solidFill>
                <a:latin typeface="Calibri"/>
                <a:cs typeface="Calibri"/>
              </a:rPr>
              <a:t>extraction</a:t>
            </a:r>
            <a:r>
              <a:rPr sz="2800" spc="29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00"/>
                </a:solidFill>
                <a:latin typeface="Calibri"/>
                <a:cs typeface="Calibri"/>
              </a:rPr>
              <a:t>that</a:t>
            </a:r>
          </a:p>
          <a:p>
            <a:pPr marL="228600" marR="0">
              <a:lnSpc>
                <a:spcPts val="3023"/>
              </a:lnSpc>
              <a:spcBef>
                <a:spcPts val="5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seeks</a:t>
            </a:r>
            <a:r>
              <a:rPr sz="2800" spc="123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sz="2800" spc="125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2" dirty="0">
                <a:solidFill>
                  <a:srgbClr val="000000"/>
                </a:solidFill>
                <a:latin typeface="Calibri"/>
                <a:cs typeface="Calibri"/>
              </a:rPr>
              <a:t>locate</a:t>
            </a:r>
            <a:r>
              <a:rPr sz="2800" spc="122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sz="2800" spc="123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classify</a:t>
            </a:r>
            <a:r>
              <a:rPr sz="2800" spc="122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elements</a:t>
            </a:r>
            <a:r>
              <a:rPr sz="2800" spc="120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sz="2800" spc="122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23" dirty="0">
                <a:solidFill>
                  <a:srgbClr val="000000"/>
                </a:solidFill>
                <a:latin typeface="Calibri"/>
                <a:cs typeface="Calibri"/>
              </a:rPr>
              <a:t>text</a:t>
            </a:r>
            <a:r>
              <a:rPr sz="2800" spc="124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7" dirty="0">
                <a:solidFill>
                  <a:srgbClr val="000000"/>
                </a:solidFill>
                <a:latin typeface="Calibri"/>
                <a:cs typeface="Calibri"/>
              </a:rPr>
              <a:t>into</a:t>
            </a:r>
            <a:r>
              <a:rPr sz="2800" spc="126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pre-defined</a:t>
            </a:r>
          </a:p>
          <a:p>
            <a:pPr marL="228600" marR="0">
              <a:lnSpc>
                <a:spcPts val="3026"/>
              </a:lnSpc>
              <a:spcBef>
                <a:spcPts val="0"/>
              </a:spcBef>
              <a:spcAft>
                <a:spcPts val="0"/>
              </a:spcAft>
            </a:pPr>
            <a:r>
              <a:rPr sz="2800" spc="-10" dirty="0">
                <a:solidFill>
                  <a:srgbClr val="000000"/>
                </a:solidFill>
                <a:latin typeface="Calibri"/>
                <a:cs typeface="Calibri"/>
              </a:rPr>
              <a:t>categories</a:t>
            </a:r>
            <a:r>
              <a:rPr sz="2800" spc="65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such</a:t>
            </a:r>
            <a:r>
              <a:rPr sz="2800" spc="63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as</a:t>
            </a:r>
            <a:r>
              <a:rPr sz="2800" spc="6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800" spc="6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names</a:t>
            </a:r>
            <a:r>
              <a:rPr sz="2800" spc="6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1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2800" spc="63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persons,</a:t>
            </a:r>
            <a:r>
              <a:rPr sz="2800" spc="65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00"/>
                </a:solidFill>
                <a:latin typeface="Calibri"/>
                <a:cs typeface="Calibri"/>
              </a:rPr>
              <a:t>organizations,</a:t>
            </a:r>
            <a:r>
              <a:rPr sz="2800" spc="62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locations,</a:t>
            </a:r>
          </a:p>
          <a:p>
            <a:pPr marL="228600" marR="0">
              <a:lnSpc>
                <a:spcPts val="302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expressions</a:t>
            </a:r>
            <a:r>
              <a:rPr sz="28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14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2800" spc="-1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times,</a:t>
            </a:r>
            <a:r>
              <a:rPr sz="2800" spc="-1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quantities,</a:t>
            </a:r>
            <a:r>
              <a:rPr sz="2800" spc="1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monetary</a:t>
            </a:r>
            <a:r>
              <a:rPr sz="2800" spc="-2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values, </a:t>
            </a:r>
            <a:r>
              <a:rPr sz="2800" spc="-10" dirty="0">
                <a:solidFill>
                  <a:srgbClr val="000000"/>
                </a:solidFill>
                <a:latin typeface="Calibri"/>
                <a:cs typeface="Calibri"/>
              </a:rPr>
              <a:t>percentages,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000000"/>
                </a:solidFill>
                <a:latin typeface="Calibri"/>
                <a:cs typeface="Calibri"/>
              </a:rPr>
              <a:t>etc.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87094" y="3535049"/>
            <a:ext cx="4252452" cy="347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34"/>
              </a:lnSpc>
              <a:spcBef>
                <a:spcPts val="0"/>
              </a:spcBef>
              <a:spcAft>
                <a:spcPts val="0"/>
              </a:spcAft>
            </a:pPr>
            <a:r>
              <a:rPr sz="2000" spc="-11" dirty="0">
                <a:solidFill>
                  <a:srgbClr val="000000"/>
                </a:solidFill>
                <a:latin typeface="Calibri Light"/>
                <a:cs typeface="Calibri Light"/>
              </a:rPr>
              <a:t>&gt;&gt;&gt;</a:t>
            </a:r>
            <a:r>
              <a:rPr sz="2000" spc="5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000" spc="-17" dirty="0">
                <a:solidFill>
                  <a:srgbClr val="ED7D31"/>
                </a:solidFill>
                <a:latin typeface="Calibri Light"/>
                <a:cs typeface="Calibri Light"/>
              </a:rPr>
              <a:t>from</a:t>
            </a:r>
            <a:r>
              <a:rPr sz="2000" spc="23" dirty="0">
                <a:solidFill>
                  <a:srgbClr val="ED7D31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 Light"/>
                <a:cs typeface="Calibri Light"/>
              </a:rPr>
              <a:t>nltk</a:t>
            </a:r>
            <a:r>
              <a:rPr sz="2000" spc="41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ED7D31"/>
                </a:solidFill>
                <a:latin typeface="Calibri Light"/>
                <a:cs typeface="Calibri Light"/>
              </a:rPr>
              <a:t>import</a:t>
            </a:r>
            <a:r>
              <a:rPr sz="2000" spc="25" dirty="0">
                <a:solidFill>
                  <a:srgbClr val="ED7D31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 Light"/>
                <a:cs typeface="Calibri Light"/>
              </a:rPr>
              <a:t>pos_tag,</a:t>
            </a:r>
            <a:r>
              <a:rPr sz="2000" spc="2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 Light"/>
                <a:cs typeface="Calibri Light"/>
              </a:rPr>
              <a:t>ne_chunk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87094" y="3873921"/>
            <a:ext cx="9944558" cy="1633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31"/>
              </a:lnSpc>
              <a:spcBef>
                <a:spcPts val="0"/>
              </a:spcBef>
              <a:spcAft>
                <a:spcPts val="0"/>
              </a:spcAft>
            </a:pPr>
            <a:r>
              <a:rPr sz="2000" spc="-11" dirty="0">
                <a:solidFill>
                  <a:srgbClr val="000000"/>
                </a:solidFill>
                <a:latin typeface="Calibri Light"/>
                <a:cs typeface="Calibri Light"/>
              </a:rPr>
              <a:t>&gt;&gt;&gt;</a:t>
            </a:r>
            <a:r>
              <a:rPr sz="2000" spc="5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000" spc="-14" dirty="0">
                <a:solidFill>
                  <a:srgbClr val="ED7D31"/>
                </a:solidFill>
                <a:latin typeface="Calibri Light"/>
                <a:cs typeface="Calibri Light"/>
              </a:rPr>
              <a:t>from</a:t>
            </a:r>
            <a:r>
              <a:rPr sz="2000" spc="12" dirty="0">
                <a:solidFill>
                  <a:srgbClr val="ED7D31"/>
                </a:solidFill>
                <a:latin typeface="Calibri Light"/>
                <a:cs typeface="Calibri Light"/>
              </a:rPr>
              <a:t> </a:t>
            </a:r>
            <a:r>
              <a:rPr sz="2000" spc="-20" dirty="0">
                <a:solidFill>
                  <a:srgbClr val="000000"/>
                </a:solidFill>
                <a:latin typeface="Calibri Light"/>
                <a:cs typeface="Calibri Light"/>
              </a:rPr>
              <a:t>nltk.tokenize</a:t>
            </a:r>
            <a:r>
              <a:rPr sz="2000" spc="97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ED7D31"/>
                </a:solidFill>
                <a:latin typeface="Calibri Light"/>
                <a:cs typeface="Calibri Light"/>
              </a:rPr>
              <a:t>import</a:t>
            </a:r>
            <a:r>
              <a:rPr sz="2000" spc="31" dirty="0">
                <a:solidFill>
                  <a:srgbClr val="ED7D31"/>
                </a:solidFill>
                <a:latin typeface="Calibri Light"/>
                <a:cs typeface="Calibri Light"/>
              </a:rPr>
              <a:t> </a:t>
            </a:r>
            <a:r>
              <a:rPr sz="2000" spc="-17" dirty="0">
                <a:solidFill>
                  <a:srgbClr val="000000"/>
                </a:solidFill>
                <a:latin typeface="Calibri Light"/>
                <a:cs typeface="Calibri Light"/>
              </a:rPr>
              <a:t>wordpunct_tokenize</a:t>
            </a:r>
          </a:p>
          <a:p>
            <a:pPr marL="0" marR="0">
              <a:lnSpc>
                <a:spcPts val="2434"/>
              </a:lnSpc>
              <a:spcBef>
                <a:spcPts val="256"/>
              </a:spcBef>
              <a:spcAft>
                <a:spcPts val="0"/>
              </a:spcAft>
            </a:pPr>
            <a:r>
              <a:rPr sz="2000" spc="-12" dirty="0">
                <a:solidFill>
                  <a:srgbClr val="000000"/>
                </a:solidFill>
                <a:latin typeface="Calibri Light"/>
                <a:cs typeface="Calibri Light"/>
              </a:rPr>
              <a:t>&gt;&gt;&gt;</a:t>
            </a:r>
            <a:r>
              <a:rPr sz="2000" spc="5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000" spc="-14" dirty="0">
                <a:solidFill>
                  <a:srgbClr val="000000"/>
                </a:solidFill>
                <a:latin typeface="Calibri Light"/>
                <a:cs typeface="Calibri Light"/>
              </a:rPr>
              <a:t>sent</a:t>
            </a:r>
            <a:r>
              <a:rPr sz="2000" spc="31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 Light"/>
                <a:cs typeface="Calibri Light"/>
              </a:rPr>
              <a:t>= </a:t>
            </a:r>
            <a:r>
              <a:rPr sz="2000" dirty="0">
                <a:solidFill>
                  <a:srgbClr val="70AD47"/>
                </a:solidFill>
                <a:latin typeface="Calibri Light"/>
                <a:cs typeface="Calibri Light"/>
              </a:rPr>
              <a:t>'Jim </a:t>
            </a:r>
            <a:r>
              <a:rPr sz="2000" spc="-11" dirty="0">
                <a:solidFill>
                  <a:srgbClr val="70AD47"/>
                </a:solidFill>
                <a:latin typeface="Calibri Light"/>
                <a:cs typeface="Calibri Light"/>
              </a:rPr>
              <a:t>bought</a:t>
            </a:r>
            <a:r>
              <a:rPr sz="2000" spc="52" dirty="0">
                <a:solidFill>
                  <a:srgbClr val="70AD47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70AD47"/>
                </a:solidFill>
                <a:latin typeface="Calibri Light"/>
                <a:cs typeface="Calibri Light"/>
              </a:rPr>
              <a:t>300 shares </a:t>
            </a:r>
            <a:r>
              <a:rPr sz="2000" spc="-10" dirty="0">
                <a:solidFill>
                  <a:srgbClr val="70AD47"/>
                </a:solidFill>
                <a:latin typeface="Calibri Light"/>
                <a:cs typeface="Calibri Light"/>
              </a:rPr>
              <a:t>of</a:t>
            </a:r>
            <a:r>
              <a:rPr sz="2000" spc="12" dirty="0">
                <a:solidFill>
                  <a:srgbClr val="70AD47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70AD47"/>
                </a:solidFill>
                <a:latin typeface="Calibri Light"/>
                <a:cs typeface="Calibri Light"/>
              </a:rPr>
              <a:t>Acme</a:t>
            </a:r>
            <a:r>
              <a:rPr sz="2000" spc="28" dirty="0">
                <a:solidFill>
                  <a:srgbClr val="70AD47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70AD47"/>
                </a:solidFill>
                <a:latin typeface="Calibri Light"/>
                <a:cs typeface="Calibri Light"/>
              </a:rPr>
              <a:t>Corp.</a:t>
            </a:r>
            <a:r>
              <a:rPr sz="2000" spc="18" dirty="0">
                <a:solidFill>
                  <a:srgbClr val="70AD47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70AD47"/>
                </a:solidFill>
                <a:latin typeface="Calibri Light"/>
                <a:cs typeface="Calibri Light"/>
              </a:rPr>
              <a:t>in 2006.'</a:t>
            </a:r>
          </a:p>
          <a:p>
            <a:pPr marL="0" marR="0">
              <a:lnSpc>
                <a:spcPts val="2431"/>
              </a:lnSpc>
              <a:spcBef>
                <a:spcPts val="233"/>
              </a:spcBef>
              <a:spcAft>
                <a:spcPts val="0"/>
              </a:spcAft>
            </a:pPr>
            <a:r>
              <a:rPr sz="2000" spc="-11" dirty="0">
                <a:solidFill>
                  <a:srgbClr val="000000"/>
                </a:solidFill>
                <a:latin typeface="Calibri Light"/>
                <a:cs typeface="Calibri Light"/>
              </a:rPr>
              <a:t>&gt;&gt;&gt;</a:t>
            </a:r>
            <a:r>
              <a:rPr sz="2000" spc="5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 Light"/>
                <a:cs typeface="Calibri Light"/>
              </a:rPr>
              <a:t>ne_chunk(pos_tag(wordpunct_tokenize(sent)))</a:t>
            </a:r>
          </a:p>
          <a:p>
            <a:pPr marL="0" marR="0">
              <a:lnSpc>
                <a:spcPts val="2431"/>
              </a:lnSpc>
              <a:spcBef>
                <a:spcPts val="282"/>
              </a:spcBef>
              <a:spcAft>
                <a:spcPts val="0"/>
              </a:spcAft>
            </a:pPr>
            <a:r>
              <a:rPr sz="2000" spc="-20" dirty="0">
                <a:solidFill>
                  <a:srgbClr val="4472C4"/>
                </a:solidFill>
                <a:latin typeface="Calibri Light"/>
                <a:cs typeface="Calibri Light"/>
              </a:rPr>
              <a:t>Tree('S',</a:t>
            </a:r>
            <a:r>
              <a:rPr sz="2000" dirty="0">
                <a:solidFill>
                  <a:srgbClr val="4472C4"/>
                </a:solidFill>
                <a:latin typeface="Calibri Light"/>
                <a:cs typeface="Calibri Light"/>
              </a:rPr>
              <a:t> </a:t>
            </a:r>
            <a:r>
              <a:rPr sz="2000" spc="-15" dirty="0">
                <a:solidFill>
                  <a:srgbClr val="4472C4"/>
                </a:solidFill>
                <a:latin typeface="Calibri Light"/>
                <a:cs typeface="Calibri Light"/>
              </a:rPr>
              <a:t>[Tree('PERSON',</a:t>
            </a:r>
            <a:r>
              <a:rPr sz="2000" dirty="0">
                <a:solidFill>
                  <a:srgbClr val="4472C4"/>
                </a:solidFill>
                <a:latin typeface="Calibri Light"/>
                <a:cs typeface="Calibri Light"/>
              </a:rPr>
              <a:t> [('Jim', 'NNP')]), ('bought',</a:t>
            </a:r>
            <a:r>
              <a:rPr sz="2000" spc="30" dirty="0">
                <a:solidFill>
                  <a:srgbClr val="4472C4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4472C4"/>
                </a:solidFill>
                <a:latin typeface="Calibri Light"/>
                <a:cs typeface="Calibri Light"/>
              </a:rPr>
              <a:t>'VBD'),</a:t>
            </a:r>
            <a:r>
              <a:rPr sz="2000" spc="20" dirty="0">
                <a:solidFill>
                  <a:srgbClr val="4472C4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4472C4"/>
                </a:solidFill>
                <a:latin typeface="Calibri Light"/>
                <a:cs typeface="Calibri Light"/>
              </a:rPr>
              <a:t>('300',</a:t>
            </a:r>
            <a:r>
              <a:rPr sz="2000" spc="-10" dirty="0">
                <a:solidFill>
                  <a:srgbClr val="4472C4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4472C4"/>
                </a:solidFill>
                <a:latin typeface="Calibri Light"/>
                <a:cs typeface="Calibri Light"/>
              </a:rPr>
              <a:t>'CD'),</a:t>
            </a:r>
            <a:r>
              <a:rPr sz="2000" spc="20" dirty="0">
                <a:solidFill>
                  <a:srgbClr val="4472C4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4472C4"/>
                </a:solidFill>
                <a:latin typeface="Calibri Light"/>
                <a:cs typeface="Calibri Light"/>
              </a:rPr>
              <a:t>('shares', 'NNS'),('of',</a:t>
            </a:r>
            <a:r>
              <a:rPr sz="2000" spc="-23" dirty="0">
                <a:solidFill>
                  <a:srgbClr val="4472C4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4472C4"/>
                </a:solidFill>
                <a:latin typeface="Calibri Light"/>
                <a:cs typeface="Calibri Light"/>
              </a:rPr>
              <a:t>'IN'),</a:t>
            </a:r>
          </a:p>
          <a:p>
            <a:pPr marL="0" marR="0">
              <a:lnSpc>
                <a:spcPts val="2163"/>
              </a:lnSpc>
              <a:spcBef>
                <a:spcPts val="0"/>
              </a:spcBef>
              <a:spcAft>
                <a:spcPts val="0"/>
              </a:spcAft>
            </a:pPr>
            <a:r>
              <a:rPr sz="2000" spc="-23" dirty="0">
                <a:solidFill>
                  <a:srgbClr val="4472C4"/>
                </a:solidFill>
                <a:latin typeface="Calibri Light"/>
                <a:cs typeface="Calibri Light"/>
              </a:rPr>
              <a:t>Tree('ORGANIZATION',</a:t>
            </a:r>
            <a:r>
              <a:rPr sz="2000" spc="87" dirty="0">
                <a:solidFill>
                  <a:srgbClr val="4472C4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4472C4"/>
                </a:solidFill>
                <a:latin typeface="Calibri Light"/>
                <a:cs typeface="Calibri Light"/>
              </a:rPr>
              <a:t>[('Acme', 'NNP'),</a:t>
            </a:r>
            <a:r>
              <a:rPr sz="2000" spc="-10" dirty="0">
                <a:solidFill>
                  <a:srgbClr val="4472C4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4472C4"/>
                </a:solidFill>
                <a:latin typeface="Calibri Light"/>
                <a:cs typeface="Calibri Light"/>
              </a:rPr>
              <a:t>('Corp', 'NNP')]), ('.', '.'),</a:t>
            </a:r>
            <a:r>
              <a:rPr sz="2000" spc="-10" dirty="0">
                <a:solidFill>
                  <a:srgbClr val="4472C4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4472C4"/>
                </a:solidFill>
                <a:latin typeface="Calibri Light"/>
                <a:cs typeface="Calibri Light"/>
              </a:rPr>
              <a:t>('in', 'IN'),('2006', 'CD'),</a:t>
            </a:r>
            <a:r>
              <a:rPr sz="2000" spc="20" dirty="0">
                <a:solidFill>
                  <a:srgbClr val="4472C4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4472C4"/>
                </a:solidFill>
                <a:latin typeface="Calibri Light"/>
                <a:cs typeface="Calibri Light"/>
              </a:rPr>
              <a:t>('.', '.')])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29944" y="652510"/>
            <a:ext cx="5159973" cy="719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364"/>
              </a:lnSpc>
              <a:spcBef>
                <a:spcPts val="0"/>
              </a:spcBef>
              <a:spcAft>
                <a:spcPts val="0"/>
              </a:spcAft>
            </a:pPr>
            <a:r>
              <a:rPr sz="4400" dirty="0">
                <a:solidFill>
                  <a:srgbClr val="000000"/>
                </a:solidFill>
                <a:latin typeface="Calibri Light"/>
                <a:cs typeface="Calibri Light"/>
              </a:rPr>
              <a:t>NE </a:t>
            </a:r>
            <a:r>
              <a:rPr sz="4400" spc="-62" dirty="0">
                <a:solidFill>
                  <a:srgbClr val="000000"/>
                </a:solidFill>
                <a:latin typeface="Calibri Light"/>
                <a:cs typeface="Calibri Light"/>
              </a:rPr>
              <a:t>Type</a:t>
            </a:r>
            <a:r>
              <a:rPr sz="4400" spc="8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dirty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sz="4400" spc="1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spc="-18" dirty="0">
                <a:solidFill>
                  <a:srgbClr val="000000"/>
                </a:solidFill>
                <a:latin typeface="Calibri Light"/>
                <a:cs typeface="Calibri Light"/>
              </a:rPr>
              <a:t>Examples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87094" y="1476458"/>
            <a:ext cx="3854638" cy="9465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65"/>
              </a:lnSpc>
              <a:spcBef>
                <a:spcPts val="0"/>
              </a:spcBef>
              <a:spcAft>
                <a:spcPts val="0"/>
              </a:spcAft>
            </a:pPr>
            <a:r>
              <a:rPr sz="1600" spc="-10" dirty="0">
                <a:solidFill>
                  <a:srgbClr val="000000"/>
                </a:solidFill>
                <a:latin typeface="Calibri"/>
                <a:cs typeface="Calibri"/>
              </a:rPr>
              <a:t>ORGANIZATION</a:t>
            </a:r>
            <a:r>
              <a:rPr sz="1600" spc="1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-</a:t>
            </a:r>
            <a:r>
              <a:rPr sz="1600" spc="-1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Georgia-Pacific</a:t>
            </a:r>
            <a:r>
              <a:rPr sz="1600" spc="-2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Corp.,</a:t>
            </a:r>
            <a:r>
              <a:rPr sz="1600" spc="10" dirty="0">
                <a:solidFill>
                  <a:srgbClr val="000000"/>
                </a:solidFill>
                <a:latin typeface="Calibri"/>
                <a:cs typeface="Calibri"/>
              </a:rPr>
              <a:t> WHO</a:t>
            </a:r>
          </a:p>
          <a:p>
            <a:pPr marL="0" marR="0">
              <a:lnSpc>
                <a:spcPts val="173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PERSON -</a:t>
            </a:r>
            <a:r>
              <a:rPr sz="1600" spc="1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Eddy</a:t>
            </a:r>
            <a:r>
              <a:rPr sz="160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spc="-14" dirty="0">
                <a:solidFill>
                  <a:srgbClr val="000000"/>
                </a:solidFill>
                <a:latin typeface="Calibri"/>
                <a:cs typeface="Calibri"/>
              </a:rPr>
              <a:t>Bonte,</a:t>
            </a:r>
            <a:r>
              <a:rPr sz="1600" spc="6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President</a:t>
            </a:r>
            <a:r>
              <a:rPr sz="1600" spc="4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Obama</a:t>
            </a:r>
          </a:p>
          <a:p>
            <a:pPr marL="0" marR="0">
              <a:lnSpc>
                <a:spcPts val="1727"/>
              </a:lnSpc>
              <a:spcBef>
                <a:spcPts val="0"/>
              </a:spcBef>
              <a:spcAft>
                <a:spcPts val="0"/>
              </a:spcAft>
            </a:pPr>
            <a:r>
              <a:rPr sz="1600" spc="-17" dirty="0">
                <a:solidFill>
                  <a:srgbClr val="000000"/>
                </a:solidFill>
                <a:latin typeface="Calibri"/>
                <a:cs typeface="Calibri"/>
              </a:rPr>
              <a:t>LOCATION</a:t>
            </a:r>
            <a:r>
              <a:rPr sz="1600" spc="-2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-</a:t>
            </a:r>
            <a:r>
              <a:rPr sz="1600" spc="1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spc="-11" dirty="0">
                <a:solidFill>
                  <a:srgbClr val="000000"/>
                </a:solidFill>
                <a:latin typeface="Calibri"/>
                <a:cs typeface="Calibri"/>
              </a:rPr>
              <a:t>Murray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spc="-31" dirty="0">
                <a:solidFill>
                  <a:srgbClr val="000000"/>
                </a:solidFill>
                <a:latin typeface="Calibri"/>
                <a:cs typeface="Calibri"/>
              </a:rPr>
              <a:t>River,</a:t>
            </a:r>
            <a:r>
              <a:rPr sz="1600" spc="8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Mount </a:t>
            </a:r>
            <a:r>
              <a:rPr sz="1600" spc="-21" dirty="0">
                <a:solidFill>
                  <a:srgbClr val="000000"/>
                </a:solidFill>
                <a:latin typeface="Calibri"/>
                <a:cs typeface="Calibri"/>
              </a:rPr>
              <a:t>Everest</a:t>
            </a:r>
          </a:p>
          <a:p>
            <a:pPr marL="0" marR="0">
              <a:lnSpc>
                <a:spcPts val="1727"/>
              </a:lnSpc>
              <a:spcBef>
                <a:spcPts val="50"/>
              </a:spcBef>
              <a:spcAft>
                <a:spcPts val="0"/>
              </a:spcAft>
            </a:pPr>
            <a:r>
              <a:rPr sz="1600" spc="-44" dirty="0">
                <a:solidFill>
                  <a:srgbClr val="000000"/>
                </a:solidFill>
                <a:latin typeface="Calibri"/>
                <a:cs typeface="Calibri"/>
              </a:rPr>
              <a:t>DAT</a:t>
            </a:r>
            <a:r>
              <a:rPr sz="1600" spc="-3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E</a:t>
            </a:r>
            <a:r>
              <a:rPr sz="16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-</a:t>
            </a:r>
            <a:r>
              <a:rPr sz="1600" spc="-1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June,</a:t>
            </a:r>
            <a:r>
              <a:rPr sz="160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2008-06-29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87094" y="2355208"/>
            <a:ext cx="2656946" cy="287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62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TIME</a:t>
            </a:r>
            <a:r>
              <a:rPr sz="1600" spc="-2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-</a:t>
            </a:r>
            <a:r>
              <a:rPr sz="1600" spc="-1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spc="-12" dirty="0">
                <a:solidFill>
                  <a:srgbClr val="000000"/>
                </a:solidFill>
                <a:latin typeface="Calibri"/>
                <a:cs typeface="Calibri"/>
              </a:rPr>
              <a:t>two</a:t>
            </a:r>
            <a:r>
              <a:rPr sz="1600" spc="2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fifty</a:t>
            </a:r>
            <a:r>
              <a:rPr sz="1600" spc="4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a </a:t>
            </a:r>
            <a:r>
              <a:rPr sz="1600" spc="15" dirty="0">
                <a:solidFill>
                  <a:srgbClr val="000000"/>
                </a:solidFill>
                <a:latin typeface="Calibri"/>
                <a:cs typeface="Calibri"/>
              </a:rPr>
              <a:t>m,</a:t>
            </a:r>
            <a:r>
              <a:rPr sz="1600" spc="-5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1:30 p.m.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87094" y="2574664"/>
            <a:ext cx="4238822" cy="5069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62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MONEY</a:t>
            </a:r>
            <a:r>
              <a:rPr sz="1600" spc="-1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-</a:t>
            </a:r>
            <a:r>
              <a:rPr sz="1600" spc="1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175 million Canadian</a:t>
            </a:r>
            <a:r>
              <a:rPr sz="1600" spc="-5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Dollars,</a:t>
            </a:r>
            <a:r>
              <a:rPr sz="1600" spc="3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GBP</a:t>
            </a:r>
            <a:r>
              <a:rPr sz="1600" spc="1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10.40</a:t>
            </a:r>
          </a:p>
          <a:p>
            <a:pPr marL="0" marR="0">
              <a:lnSpc>
                <a:spcPts val="172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PERCENT -</a:t>
            </a:r>
            <a:r>
              <a:rPr sz="1600" spc="-11" dirty="0">
                <a:solidFill>
                  <a:srgbClr val="000000"/>
                </a:solidFill>
                <a:latin typeface="Calibri"/>
                <a:cs typeface="Calibri"/>
              </a:rPr>
              <a:t> twenty</a:t>
            </a:r>
            <a:r>
              <a:rPr sz="1600" spc="5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pct,</a:t>
            </a:r>
            <a:r>
              <a:rPr sz="1600" spc="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18.75</a:t>
            </a:r>
            <a:r>
              <a:rPr sz="1600" spc="-2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%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87094" y="3013285"/>
            <a:ext cx="4034732" cy="507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65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FACILITY</a:t>
            </a:r>
            <a:r>
              <a:rPr sz="1600" spc="-4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-</a:t>
            </a:r>
            <a:r>
              <a:rPr sz="1600" spc="-1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Washington</a:t>
            </a:r>
            <a:r>
              <a:rPr sz="16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Monument,</a:t>
            </a:r>
            <a:r>
              <a:rPr sz="1600" spc="1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Stonehenge</a:t>
            </a:r>
          </a:p>
          <a:p>
            <a:pPr marL="0" marR="0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GPE</a:t>
            </a:r>
            <a:r>
              <a:rPr sz="1600" spc="-1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-</a:t>
            </a:r>
            <a:r>
              <a:rPr sz="16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South </a:t>
            </a:r>
            <a:r>
              <a:rPr sz="1600" spc="-11" dirty="0">
                <a:solidFill>
                  <a:srgbClr val="000000"/>
                </a:solidFill>
                <a:latin typeface="Calibri"/>
                <a:cs typeface="Calibri"/>
              </a:rPr>
              <a:t>East</a:t>
            </a:r>
            <a:r>
              <a:rPr sz="1600" spc="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Asia,</a:t>
            </a:r>
            <a:r>
              <a:rPr sz="160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Midlothian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29944" y="3566992"/>
            <a:ext cx="6237026" cy="4105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000" spc="-11" dirty="0">
                <a:solidFill>
                  <a:srgbClr val="000000"/>
                </a:solidFill>
                <a:latin typeface="Calibri Light"/>
                <a:cs typeface="Calibri Light"/>
              </a:rPr>
              <a:t>&gt;&gt;&gt;</a:t>
            </a:r>
            <a:r>
              <a:rPr sz="2000" spc="5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 Light"/>
                <a:cs typeface="Calibri Light"/>
              </a:rPr>
              <a:t>ne_chunk(pos_tag(wordpunct_tokenize(sent)))</a:t>
            </a:r>
            <a:r>
              <a:rPr sz="2400" dirty="0">
                <a:solidFill>
                  <a:srgbClr val="000000"/>
                </a:solidFill>
                <a:latin typeface="Calibri Light"/>
                <a:cs typeface="Calibri Light"/>
              </a:rPr>
              <a:t>.draw()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29944" y="652510"/>
            <a:ext cx="2232697" cy="719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364"/>
              </a:lnSpc>
              <a:spcBef>
                <a:spcPts val="0"/>
              </a:spcBef>
              <a:spcAft>
                <a:spcPts val="0"/>
              </a:spcAft>
            </a:pPr>
            <a:r>
              <a:rPr sz="4400" spc="-47" dirty="0">
                <a:solidFill>
                  <a:srgbClr val="000000"/>
                </a:solidFill>
                <a:latin typeface="Calibri Light"/>
                <a:cs typeface="Calibri Light"/>
              </a:rPr>
              <a:t>WordNet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9944" y="1822369"/>
            <a:ext cx="10491191" cy="2906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27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8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spc="-27" dirty="0">
                <a:solidFill>
                  <a:srgbClr val="000000"/>
                </a:solidFill>
                <a:latin typeface="Calibri"/>
                <a:cs typeface="Calibri"/>
              </a:rPr>
              <a:t>WordNet</a:t>
            </a:r>
            <a:r>
              <a:rPr sz="2800" spc="81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is</a:t>
            </a:r>
            <a:r>
              <a:rPr sz="2800" spc="78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2800" spc="78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00"/>
                </a:solidFill>
                <a:latin typeface="Calibri"/>
                <a:cs typeface="Calibri"/>
              </a:rPr>
              <a:t>lexical</a:t>
            </a:r>
            <a:r>
              <a:rPr sz="2800" spc="80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database</a:t>
            </a:r>
            <a:r>
              <a:rPr sz="2800" spc="79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7" dirty="0">
                <a:solidFill>
                  <a:srgbClr val="000000"/>
                </a:solidFill>
                <a:latin typeface="Calibri"/>
                <a:cs typeface="Calibri"/>
              </a:rPr>
              <a:t>for</a:t>
            </a:r>
            <a:r>
              <a:rPr sz="2800" spc="81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800" spc="80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English</a:t>
            </a:r>
            <a:r>
              <a:rPr sz="2800" spc="78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language.</a:t>
            </a:r>
            <a:r>
              <a:rPr sz="2800" spc="79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sz="2800" spc="81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other</a:t>
            </a:r>
          </a:p>
          <a:p>
            <a:pPr marL="228600" marR="0">
              <a:lnSpc>
                <a:spcPts val="3023"/>
              </a:lnSpc>
              <a:spcBef>
                <a:spcPts val="5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words,</a:t>
            </a:r>
            <a:r>
              <a:rPr sz="2800" spc="81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it's</a:t>
            </a:r>
            <a:r>
              <a:rPr sz="2800" spc="8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2800" spc="81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dictionary</a:t>
            </a:r>
            <a:r>
              <a:rPr sz="2800" spc="81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designed</a:t>
            </a:r>
            <a:r>
              <a:rPr sz="2800" spc="79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specifically</a:t>
            </a:r>
            <a:r>
              <a:rPr sz="2800" spc="82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28" dirty="0">
                <a:solidFill>
                  <a:srgbClr val="000000"/>
                </a:solidFill>
                <a:latin typeface="Calibri"/>
                <a:cs typeface="Calibri"/>
              </a:rPr>
              <a:t>for</a:t>
            </a:r>
            <a:r>
              <a:rPr sz="2800" spc="8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1" dirty="0">
                <a:solidFill>
                  <a:srgbClr val="000000"/>
                </a:solidFill>
                <a:latin typeface="Calibri"/>
                <a:cs typeface="Calibri"/>
              </a:rPr>
              <a:t>natural</a:t>
            </a:r>
            <a:r>
              <a:rPr sz="2800" spc="82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language</a:t>
            </a:r>
          </a:p>
          <a:p>
            <a:pPr marL="228600" marR="0">
              <a:lnSpc>
                <a:spcPts val="3026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processing,</a:t>
            </a:r>
            <a:r>
              <a:rPr sz="2800" spc="28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which</a:t>
            </a:r>
            <a:r>
              <a:rPr sz="2800" spc="2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was</a:t>
            </a:r>
            <a:r>
              <a:rPr sz="2800" spc="29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000000"/>
                </a:solidFill>
                <a:latin typeface="Calibri"/>
                <a:cs typeface="Calibri"/>
              </a:rPr>
              <a:t>created</a:t>
            </a:r>
            <a:r>
              <a:rPr sz="2800" spc="28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31" dirty="0">
                <a:solidFill>
                  <a:srgbClr val="000000"/>
                </a:solidFill>
                <a:latin typeface="Calibri"/>
                <a:cs typeface="Calibri"/>
              </a:rPr>
              <a:t>by</a:t>
            </a:r>
            <a:r>
              <a:rPr sz="2800" spc="3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Princeton,</a:t>
            </a:r>
            <a:r>
              <a:rPr sz="2800" spc="27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sz="2800" spc="27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is</a:t>
            </a:r>
            <a:r>
              <a:rPr sz="2800" spc="30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part</a:t>
            </a:r>
            <a:r>
              <a:rPr sz="2800" spc="28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1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2800" spc="27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800" spc="28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50" dirty="0">
                <a:solidFill>
                  <a:srgbClr val="000000"/>
                </a:solidFill>
                <a:latin typeface="Calibri"/>
                <a:cs typeface="Calibri"/>
              </a:rPr>
              <a:t>NLTK</a:t>
            </a:r>
          </a:p>
          <a:p>
            <a:pPr marL="228600" marR="0">
              <a:lnSpc>
                <a:spcPts val="3024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corpus.</a:t>
            </a:r>
          </a:p>
          <a:p>
            <a:pPr marL="0" marR="0">
              <a:lnSpc>
                <a:spcPts val="3427"/>
              </a:lnSpc>
              <a:spcBef>
                <a:spcPts val="60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8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spc="-69" dirty="0">
                <a:solidFill>
                  <a:srgbClr val="000000"/>
                </a:solidFill>
                <a:latin typeface="Calibri"/>
                <a:cs typeface="Calibri"/>
              </a:rPr>
              <a:t>You</a:t>
            </a:r>
            <a:r>
              <a:rPr sz="2800" spc="119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4" dirty="0">
                <a:solidFill>
                  <a:srgbClr val="000000"/>
                </a:solidFill>
                <a:latin typeface="Calibri"/>
                <a:cs typeface="Calibri"/>
              </a:rPr>
              <a:t>can</a:t>
            </a:r>
            <a:r>
              <a:rPr sz="2800" spc="11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use</a:t>
            </a:r>
            <a:r>
              <a:rPr sz="2800" spc="11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27" dirty="0">
                <a:solidFill>
                  <a:srgbClr val="000000"/>
                </a:solidFill>
                <a:latin typeface="Calibri"/>
                <a:cs typeface="Calibri"/>
              </a:rPr>
              <a:t>WordNet</a:t>
            </a:r>
            <a:r>
              <a:rPr sz="2800" spc="115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alongside</a:t>
            </a:r>
            <a:r>
              <a:rPr sz="2800" spc="111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800" spc="111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50" dirty="0">
                <a:solidFill>
                  <a:srgbClr val="000000"/>
                </a:solidFill>
                <a:latin typeface="Calibri"/>
                <a:cs typeface="Calibri"/>
              </a:rPr>
              <a:t>NLTK</a:t>
            </a:r>
            <a:r>
              <a:rPr sz="2800" spc="118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module</a:t>
            </a:r>
            <a:r>
              <a:rPr sz="2800" spc="112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sz="2800" spc="115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4" dirty="0">
                <a:solidFill>
                  <a:srgbClr val="000000"/>
                </a:solidFill>
                <a:latin typeface="Calibri"/>
                <a:cs typeface="Calibri"/>
              </a:rPr>
              <a:t>find</a:t>
            </a:r>
            <a:r>
              <a:rPr sz="2800" spc="113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17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</a:p>
          <a:p>
            <a:pPr marL="228600" marR="0">
              <a:lnSpc>
                <a:spcPts val="3023"/>
              </a:lnSpc>
              <a:spcBef>
                <a:spcPts val="5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meanings</a:t>
            </a:r>
            <a:r>
              <a:rPr sz="2800" spc="38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1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2800" spc="3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words,</a:t>
            </a:r>
            <a:r>
              <a:rPr sz="2800" spc="36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00"/>
                </a:solidFill>
                <a:latin typeface="Calibri"/>
                <a:cs typeface="Calibri"/>
              </a:rPr>
              <a:t>synonyms,</a:t>
            </a:r>
            <a:r>
              <a:rPr sz="2800" spc="38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4" dirty="0">
                <a:solidFill>
                  <a:srgbClr val="000000"/>
                </a:solidFill>
                <a:latin typeface="Calibri"/>
                <a:cs typeface="Calibri"/>
              </a:rPr>
              <a:t>antonyms,</a:t>
            </a:r>
            <a:r>
              <a:rPr sz="2800" spc="38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similarity</a:t>
            </a:r>
            <a:r>
              <a:rPr sz="2800" spc="35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sz="2800" spc="36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more.</a:t>
            </a:r>
            <a:r>
              <a:rPr sz="2800" spc="39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Let's</a:t>
            </a:r>
          </a:p>
          <a:p>
            <a:pPr marL="228600" marR="0">
              <a:lnSpc>
                <a:spcPts val="3026"/>
              </a:lnSpc>
              <a:spcBef>
                <a:spcPts val="0"/>
              </a:spcBef>
              <a:spcAft>
                <a:spcPts val="0"/>
              </a:spcAft>
            </a:pPr>
            <a:r>
              <a:rPr sz="2800" spc="-15" dirty="0">
                <a:solidFill>
                  <a:srgbClr val="000000"/>
                </a:solidFill>
                <a:latin typeface="Calibri"/>
                <a:cs typeface="Calibri"/>
              </a:rPr>
              <a:t>cover</a:t>
            </a:r>
            <a:r>
              <a:rPr sz="2800" spc="1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some</a:t>
            </a:r>
            <a:r>
              <a:rPr sz="2800" spc="-1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00"/>
                </a:solidFill>
                <a:latin typeface="Calibri"/>
                <a:cs typeface="Calibri"/>
              </a:rPr>
              <a:t>examples.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29944" y="523478"/>
            <a:ext cx="3643088" cy="719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364"/>
              </a:lnSpc>
              <a:spcBef>
                <a:spcPts val="0"/>
              </a:spcBef>
              <a:spcAft>
                <a:spcPts val="0"/>
              </a:spcAft>
            </a:pPr>
            <a:r>
              <a:rPr sz="4400" dirty="0">
                <a:solidFill>
                  <a:srgbClr val="000000"/>
                </a:solidFill>
                <a:latin typeface="Calibri Light"/>
                <a:cs typeface="Calibri Light"/>
              </a:rPr>
              <a:t>Some</a:t>
            </a:r>
            <a:r>
              <a:rPr sz="4400" spc="2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spc="-18" dirty="0">
                <a:solidFill>
                  <a:srgbClr val="000000"/>
                </a:solidFill>
                <a:latin typeface="Calibri Light"/>
                <a:cs typeface="Calibri Light"/>
              </a:rPr>
              <a:t>Examples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87094" y="1577006"/>
            <a:ext cx="9007820" cy="35094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98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Calibri Light"/>
                <a:cs typeface="Calibri Light"/>
              </a:rPr>
              <a:t>&gt;&gt;&gt;</a:t>
            </a:r>
            <a:r>
              <a:rPr sz="2200" spc="-14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200" dirty="0">
                <a:solidFill>
                  <a:srgbClr val="ED7D31"/>
                </a:solidFill>
                <a:latin typeface="Calibri Light"/>
                <a:cs typeface="Calibri Light"/>
              </a:rPr>
              <a:t>from </a:t>
            </a:r>
            <a:r>
              <a:rPr sz="2200" dirty="0">
                <a:solidFill>
                  <a:srgbClr val="000000"/>
                </a:solidFill>
                <a:latin typeface="Calibri Light"/>
                <a:cs typeface="Calibri Light"/>
              </a:rPr>
              <a:t>nltk.corpus</a:t>
            </a:r>
            <a:r>
              <a:rPr sz="2200" spc="-44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200" dirty="0">
                <a:solidFill>
                  <a:srgbClr val="ED7D31"/>
                </a:solidFill>
                <a:latin typeface="Calibri Light"/>
                <a:cs typeface="Calibri Light"/>
              </a:rPr>
              <a:t>import</a:t>
            </a:r>
            <a:r>
              <a:rPr sz="2200" spc="-18" dirty="0">
                <a:solidFill>
                  <a:srgbClr val="ED7D31"/>
                </a:solidFill>
                <a:latin typeface="Calibri Light"/>
                <a:cs typeface="Calibri Light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 Light"/>
                <a:cs typeface="Calibri Light"/>
              </a:rPr>
              <a:t>wordnet</a:t>
            </a:r>
          </a:p>
          <a:p>
            <a:pPr marL="0" marR="0">
              <a:lnSpc>
                <a:spcPts val="2619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Calibri Light"/>
                <a:cs typeface="Calibri Light"/>
              </a:rPr>
              <a:t>&gt;&gt;&gt;</a:t>
            </a:r>
            <a:r>
              <a:rPr sz="2200" spc="-14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 Light"/>
                <a:cs typeface="Calibri Light"/>
              </a:rPr>
              <a:t>syns</a:t>
            </a:r>
            <a:r>
              <a:rPr sz="2200" spc="-18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 Light"/>
                <a:cs typeface="Calibri Light"/>
              </a:rPr>
              <a:t>=</a:t>
            </a:r>
            <a:r>
              <a:rPr sz="2200" spc="1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 Light"/>
                <a:cs typeface="Calibri Light"/>
              </a:rPr>
              <a:t>wordnet.synsets("program")</a:t>
            </a:r>
          </a:p>
          <a:p>
            <a:pPr marL="0" marR="0">
              <a:lnSpc>
                <a:spcPts val="2616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Calibri Light"/>
                <a:cs typeface="Calibri Light"/>
              </a:rPr>
              <a:t>&gt;&gt;&gt;</a:t>
            </a:r>
            <a:r>
              <a:rPr sz="2200" spc="-1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 Light"/>
                <a:cs typeface="Calibri Light"/>
              </a:rPr>
              <a:t>print</a:t>
            </a:r>
            <a:r>
              <a:rPr sz="2200" spc="-1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 Light"/>
                <a:cs typeface="Calibri Light"/>
              </a:rPr>
              <a:t>syns</a:t>
            </a:r>
          </a:p>
          <a:p>
            <a:pPr marL="0" marR="0">
              <a:lnSpc>
                <a:spcPts val="2617"/>
              </a:lnSpc>
              <a:spcBef>
                <a:spcPts val="50"/>
              </a:spcBef>
              <a:spcAft>
                <a:spcPts val="0"/>
              </a:spcAft>
            </a:pPr>
            <a:r>
              <a:rPr sz="2200" dirty="0">
                <a:solidFill>
                  <a:srgbClr val="4472C4"/>
                </a:solidFill>
                <a:latin typeface="Calibri Light"/>
                <a:cs typeface="Calibri Light"/>
              </a:rPr>
              <a:t>[Synset('plan.n.01'),</a:t>
            </a:r>
            <a:r>
              <a:rPr sz="2200" spc="-63" dirty="0">
                <a:solidFill>
                  <a:srgbClr val="4472C4"/>
                </a:solidFill>
                <a:latin typeface="Calibri Light"/>
                <a:cs typeface="Calibri Light"/>
              </a:rPr>
              <a:t> </a:t>
            </a:r>
            <a:r>
              <a:rPr sz="2200" dirty="0">
                <a:solidFill>
                  <a:srgbClr val="4472C4"/>
                </a:solidFill>
                <a:latin typeface="Calibri Light"/>
                <a:cs typeface="Calibri Light"/>
              </a:rPr>
              <a:t>Synset('program.n.02'),</a:t>
            </a:r>
            <a:r>
              <a:rPr sz="2200" spc="-36" dirty="0">
                <a:solidFill>
                  <a:srgbClr val="4472C4"/>
                </a:solidFill>
                <a:latin typeface="Calibri Light"/>
                <a:cs typeface="Calibri Light"/>
              </a:rPr>
              <a:t> </a:t>
            </a:r>
            <a:r>
              <a:rPr sz="2200" dirty="0">
                <a:solidFill>
                  <a:srgbClr val="4472C4"/>
                </a:solidFill>
                <a:latin typeface="Calibri Light"/>
                <a:cs typeface="Calibri Light"/>
              </a:rPr>
              <a:t>Synset('broadcast.n.02'),</a:t>
            </a:r>
          </a:p>
          <a:p>
            <a:pPr marL="0" marR="0">
              <a:lnSpc>
                <a:spcPts val="2111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4472C4"/>
                </a:solidFill>
                <a:latin typeface="Calibri Light"/>
                <a:cs typeface="Calibri Light"/>
              </a:rPr>
              <a:t>Synset('platform.n.02'),</a:t>
            </a:r>
            <a:r>
              <a:rPr sz="2200" spc="-34" dirty="0">
                <a:solidFill>
                  <a:srgbClr val="4472C4"/>
                </a:solidFill>
                <a:latin typeface="Calibri Light"/>
                <a:cs typeface="Calibri Light"/>
              </a:rPr>
              <a:t> </a:t>
            </a:r>
            <a:r>
              <a:rPr sz="2200" dirty="0">
                <a:solidFill>
                  <a:srgbClr val="4472C4"/>
                </a:solidFill>
                <a:latin typeface="Calibri Light"/>
                <a:cs typeface="Calibri Light"/>
              </a:rPr>
              <a:t>Synset('program.n.05'),</a:t>
            </a:r>
            <a:r>
              <a:rPr sz="2200" spc="-50" dirty="0">
                <a:solidFill>
                  <a:srgbClr val="4472C4"/>
                </a:solidFill>
                <a:latin typeface="Calibri Light"/>
                <a:cs typeface="Calibri Light"/>
              </a:rPr>
              <a:t> </a:t>
            </a:r>
            <a:r>
              <a:rPr sz="2200" dirty="0">
                <a:solidFill>
                  <a:srgbClr val="4472C4"/>
                </a:solidFill>
                <a:latin typeface="Calibri Light"/>
                <a:cs typeface="Calibri Light"/>
              </a:rPr>
              <a:t>Synset('course_of_study.n.01'),</a:t>
            </a:r>
          </a:p>
          <a:p>
            <a:pPr marL="0" marR="0">
              <a:lnSpc>
                <a:spcPts val="2111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4472C4"/>
                </a:solidFill>
                <a:latin typeface="Calibri Light"/>
                <a:cs typeface="Calibri Light"/>
              </a:rPr>
              <a:t>Synset('program.n.07'),</a:t>
            </a:r>
            <a:r>
              <a:rPr sz="2200" spc="-57" dirty="0">
                <a:solidFill>
                  <a:srgbClr val="4472C4"/>
                </a:solidFill>
                <a:latin typeface="Calibri Light"/>
                <a:cs typeface="Calibri Light"/>
              </a:rPr>
              <a:t> </a:t>
            </a:r>
            <a:r>
              <a:rPr sz="2200" dirty="0">
                <a:solidFill>
                  <a:srgbClr val="4472C4"/>
                </a:solidFill>
                <a:latin typeface="Calibri Light"/>
                <a:cs typeface="Calibri Light"/>
              </a:rPr>
              <a:t>Synset('program.n.08'),</a:t>
            </a:r>
            <a:r>
              <a:rPr sz="2200" spc="-56" dirty="0">
                <a:solidFill>
                  <a:srgbClr val="4472C4"/>
                </a:solidFill>
                <a:latin typeface="Calibri Light"/>
                <a:cs typeface="Calibri Light"/>
              </a:rPr>
              <a:t> </a:t>
            </a:r>
            <a:r>
              <a:rPr sz="2200" spc="-14" dirty="0">
                <a:solidFill>
                  <a:srgbClr val="4472C4"/>
                </a:solidFill>
                <a:latin typeface="Calibri Light"/>
                <a:cs typeface="Calibri Light"/>
              </a:rPr>
              <a:t>Synset('program.v.01'),</a:t>
            </a:r>
          </a:p>
          <a:p>
            <a:pPr marL="0" marR="0">
              <a:lnSpc>
                <a:spcPts val="2115"/>
              </a:lnSpc>
              <a:spcBef>
                <a:spcPts val="0"/>
              </a:spcBef>
              <a:spcAft>
                <a:spcPts val="0"/>
              </a:spcAft>
            </a:pPr>
            <a:r>
              <a:rPr sz="2200" spc="-14" dirty="0">
                <a:solidFill>
                  <a:srgbClr val="4472C4"/>
                </a:solidFill>
                <a:latin typeface="Calibri Light"/>
                <a:cs typeface="Calibri Light"/>
              </a:rPr>
              <a:t>Synset('program.v.02')]</a:t>
            </a:r>
          </a:p>
          <a:p>
            <a:pPr marL="0" marR="0">
              <a:lnSpc>
                <a:spcPts val="2591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Calibri Light"/>
                <a:cs typeface="Calibri Light"/>
              </a:rPr>
              <a:t>&gt;&gt;&gt;</a:t>
            </a:r>
            <a:r>
              <a:rPr sz="2200" spc="-1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 Light"/>
                <a:cs typeface="Calibri Light"/>
              </a:rPr>
              <a:t>print(syns[0].name())</a:t>
            </a:r>
          </a:p>
          <a:p>
            <a:pPr marL="0" marR="0">
              <a:lnSpc>
                <a:spcPts val="2617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4472C4"/>
                </a:solidFill>
                <a:latin typeface="Calibri Light"/>
                <a:cs typeface="Calibri Light"/>
              </a:rPr>
              <a:t>plan.n.01</a:t>
            </a:r>
          </a:p>
          <a:p>
            <a:pPr marL="0" marR="0">
              <a:lnSpc>
                <a:spcPts val="2616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Calibri Light"/>
                <a:cs typeface="Calibri Light"/>
              </a:rPr>
              <a:t>&gt;&gt;&gt;</a:t>
            </a:r>
            <a:r>
              <a:rPr sz="2200" spc="-1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 Light"/>
                <a:cs typeface="Calibri Light"/>
              </a:rPr>
              <a:t>print</a:t>
            </a:r>
            <a:r>
              <a:rPr sz="2200" spc="-1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 Light"/>
                <a:cs typeface="Calibri Light"/>
              </a:rPr>
              <a:t>syns[0].pos()</a:t>
            </a:r>
          </a:p>
          <a:p>
            <a:pPr marL="0" marR="0">
              <a:lnSpc>
                <a:spcPts val="2618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4472C4"/>
                </a:solidFill>
                <a:latin typeface="Calibri Light"/>
                <a:cs typeface="Calibri Light"/>
              </a:rPr>
              <a:t>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87094" y="5038009"/>
            <a:ext cx="7072655" cy="10424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98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Calibri Light"/>
                <a:cs typeface="Calibri Light"/>
              </a:rPr>
              <a:t>&gt;&gt;&gt;</a:t>
            </a:r>
            <a:r>
              <a:rPr sz="2200" spc="-1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 Light"/>
                <a:cs typeface="Calibri Light"/>
              </a:rPr>
              <a:t>print(syns[0].definition())</a:t>
            </a:r>
          </a:p>
          <a:p>
            <a:pPr marL="0" marR="0">
              <a:lnSpc>
                <a:spcPts val="2618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4472C4"/>
                </a:solidFill>
                <a:latin typeface="Calibri Light"/>
                <a:cs typeface="Calibri Light"/>
              </a:rPr>
              <a:t>a series of</a:t>
            </a:r>
            <a:r>
              <a:rPr sz="2200" spc="11" dirty="0">
                <a:solidFill>
                  <a:srgbClr val="4472C4"/>
                </a:solidFill>
                <a:latin typeface="Calibri Light"/>
                <a:cs typeface="Calibri Light"/>
              </a:rPr>
              <a:t> </a:t>
            </a:r>
            <a:r>
              <a:rPr sz="2200" dirty="0">
                <a:solidFill>
                  <a:srgbClr val="4472C4"/>
                </a:solidFill>
                <a:latin typeface="Calibri Light"/>
                <a:cs typeface="Calibri Light"/>
              </a:rPr>
              <a:t>steps</a:t>
            </a:r>
            <a:r>
              <a:rPr sz="2200" spc="-17" dirty="0">
                <a:solidFill>
                  <a:srgbClr val="4472C4"/>
                </a:solidFill>
                <a:latin typeface="Calibri Light"/>
                <a:cs typeface="Calibri Light"/>
              </a:rPr>
              <a:t> </a:t>
            </a:r>
            <a:r>
              <a:rPr sz="2200" spc="-27" dirty="0">
                <a:solidFill>
                  <a:srgbClr val="4472C4"/>
                </a:solidFill>
                <a:latin typeface="Calibri Light"/>
                <a:cs typeface="Calibri Light"/>
              </a:rPr>
              <a:t>to</a:t>
            </a:r>
            <a:r>
              <a:rPr sz="2200" spc="31" dirty="0">
                <a:solidFill>
                  <a:srgbClr val="4472C4"/>
                </a:solidFill>
                <a:latin typeface="Calibri Light"/>
                <a:cs typeface="Calibri Light"/>
              </a:rPr>
              <a:t> </a:t>
            </a:r>
            <a:r>
              <a:rPr sz="2200" spc="14" dirty="0">
                <a:solidFill>
                  <a:srgbClr val="4472C4"/>
                </a:solidFill>
                <a:latin typeface="Calibri Light"/>
                <a:cs typeface="Calibri Light"/>
              </a:rPr>
              <a:t>be</a:t>
            </a:r>
            <a:r>
              <a:rPr sz="2200" spc="-20" dirty="0">
                <a:solidFill>
                  <a:srgbClr val="4472C4"/>
                </a:solidFill>
                <a:latin typeface="Calibri Light"/>
                <a:cs typeface="Calibri Light"/>
              </a:rPr>
              <a:t> </a:t>
            </a:r>
            <a:r>
              <a:rPr sz="2200" dirty="0">
                <a:solidFill>
                  <a:srgbClr val="4472C4"/>
                </a:solidFill>
                <a:latin typeface="Calibri Light"/>
                <a:cs typeface="Calibri Light"/>
              </a:rPr>
              <a:t>carried out or goals</a:t>
            </a:r>
            <a:r>
              <a:rPr sz="2200" spc="12" dirty="0">
                <a:solidFill>
                  <a:srgbClr val="4472C4"/>
                </a:solidFill>
                <a:latin typeface="Calibri Light"/>
                <a:cs typeface="Calibri Light"/>
              </a:rPr>
              <a:t> </a:t>
            </a:r>
            <a:r>
              <a:rPr sz="2200" spc="-23" dirty="0">
                <a:solidFill>
                  <a:srgbClr val="4472C4"/>
                </a:solidFill>
                <a:latin typeface="Calibri Light"/>
                <a:cs typeface="Calibri Light"/>
              </a:rPr>
              <a:t>to</a:t>
            </a:r>
            <a:r>
              <a:rPr sz="2200" spc="28" dirty="0">
                <a:solidFill>
                  <a:srgbClr val="4472C4"/>
                </a:solidFill>
                <a:latin typeface="Calibri Light"/>
                <a:cs typeface="Calibri Light"/>
              </a:rPr>
              <a:t> </a:t>
            </a:r>
            <a:r>
              <a:rPr sz="2200" spc="14" dirty="0">
                <a:solidFill>
                  <a:srgbClr val="4472C4"/>
                </a:solidFill>
                <a:latin typeface="Calibri Light"/>
                <a:cs typeface="Calibri Light"/>
              </a:rPr>
              <a:t>be</a:t>
            </a:r>
            <a:r>
              <a:rPr sz="2200" spc="-40" dirty="0">
                <a:solidFill>
                  <a:srgbClr val="4472C4"/>
                </a:solidFill>
                <a:latin typeface="Calibri Light"/>
                <a:cs typeface="Calibri Light"/>
              </a:rPr>
              <a:t> </a:t>
            </a:r>
            <a:r>
              <a:rPr sz="2200" dirty="0">
                <a:solidFill>
                  <a:srgbClr val="4472C4"/>
                </a:solidFill>
                <a:latin typeface="Calibri Light"/>
                <a:cs typeface="Calibri Light"/>
              </a:rPr>
              <a:t>accomplished</a:t>
            </a:r>
          </a:p>
          <a:p>
            <a:pPr marL="0" marR="0">
              <a:lnSpc>
                <a:spcPts val="2591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Calibri Light"/>
                <a:cs typeface="Calibri Light"/>
              </a:rPr>
              <a:t>&gt;&gt;&gt;</a:t>
            </a:r>
            <a:r>
              <a:rPr sz="2200" spc="-17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 Light"/>
                <a:cs typeface="Calibri Light"/>
              </a:rPr>
              <a:t>print(syns[0].examples())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87094" y="6032608"/>
            <a:ext cx="8795337" cy="3804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95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4472C4"/>
                </a:solidFill>
                <a:latin typeface="Calibri Light"/>
                <a:cs typeface="Calibri Light"/>
              </a:rPr>
              <a:t>[u'they</a:t>
            </a:r>
            <a:r>
              <a:rPr sz="2200" spc="-23" dirty="0">
                <a:solidFill>
                  <a:srgbClr val="4472C4"/>
                </a:solidFill>
                <a:latin typeface="Calibri Light"/>
                <a:cs typeface="Calibri Light"/>
              </a:rPr>
              <a:t> </a:t>
            </a:r>
            <a:r>
              <a:rPr sz="2200" dirty="0">
                <a:solidFill>
                  <a:srgbClr val="4472C4"/>
                </a:solidFill>
                <a:latin typeface="Calibri Light"/>
                <a:cs typeface="Calibri Light"/>
              </a:rPr>
              <a:t>drew</a:t>
            </a:r>
            <a:r>
              <a:rPr sz="2200" spc="-15" dirty="0">
                <a:solidFill>
                  <a:srgbClr val="4472C4"/>
                </a:solidFill>
                <a:latin typeface="Calibri Light"/>
                <a:cs typeface="Calibri Light"/>
              </a:rPr>
              <a:t> </a:t>
            </a:r>
            <a:r>
              <a:rPr sz="2200" dirty="0">
                <a:solidFill>
                  <a:srgbClr val="4472C4"/>
                </a:solidFill>
                <a:latin typeface="Calibri Light"/>
                <a:cs typeface="Calibri Light"/>
              </a:rPr>
              <a:t>up</a:t>
            </a:r>
            <a:r>
              <a:rPr sz="2200" spc="-36" dirty="0">
                <a:solidFill>
                  <a:srgbClr val="4472C4"/>
                </a:solidFill>
                <a:latin typeface="Calibri Light"/>
                <a:cs typeface="Calibri Light"/>
              </a:rPr>
              <a:t> </a:t>
            </a:r>
            <a:r>
              <a:rPr sz="2200" dirty="0">
                <a:solidFill>
                  <a:srgbClr val="4472C4"/>
                </a:solidFill>
                <a:latin typeface="Calibri Light"/>
                <a:cs typeface="Calibri Light"/>
              </a:rPr>
              <a:t>a</a:t>
            </a:r>
            <a:r>
              <a:rPr sz="2200" spc="23" dirty="0">
                <a:solidFill>
                  <a:srgbClr val="4472C4"/>
                </a:solidFill>
                <a:latin typeface="Calibri Light"/>
                <a:cs typeface="Calibri Light"/>
              </a:rPr>
              <a:t> </a:t>
            </a:r>
            <a:r>
              <a:rPr sz="2200" dirty="0">
                <a:solidFill>
                  <a:srgbClr val="4472C4"/>
                </a:solidFill>
                <a:latin typeface="Calibri Light"/>
                <a:cs typeface="Calibri Light"/>
              </a:rPr>
              <a:t>six-step</a:t>
            </a:r>
            <a:r>
              <a:rPr sz="2200" spc="-30" dirty="0">
                <a:solidFill>
                  <a:srgbClr val="4472C4"/>
                </a:solidFill>
                <a:latin typeface="Calibri Light"/>
                <a:cs typeface="Calibri Light"/>
              </a:rPr>
              <a:t> </a:t>
            </a:r>
            <a:r>
              <a:rPr sz="2200" dirty="0">
                <a:solidFill>
                  <a:srgbClr val="4472C4"/>
                </a:solidFill>
                <a:latin typeface="Calibri Light"/>
                <a:cs typeface="Calibri Light"/>
              </a:rPr>
              <a:t>plan',</a:t>
            </a:r>
            <a:r>
              <a:rPr sz="2200" spc="-23" dirty="0">
                <a:solidFill>
                  <a:srgbClr val="4472C4"/>
                </a:solidFill>
                <a:latin typeface="Calibri Light"/>
                <a:cs typeface="Calibri Light"/>
              </a:rPr>
              <a:t> </a:t>
            </a:r>
            <a:r>
              <a:rPr sz="2200" dirty="0">
                <a:solidFill>
                  <a:srgbClr val="4472C4"/>
                </a:solidFill>
                <a:latin typeface="Calibri Light"/>
                <a:cs typeface="Calibri Light"/>
              </a:rPr>
              <a:t>u'they discussed</a:t>
            </a:r>
            <a:r>
              <a:rPr sz="2200" spc="-83" dirty="0">
                <a:solidFill>
                  <a:srgbClr val="4472C4"/>
                </a:solidFill>
                <a:latin typeface="Calibri Light"/>
                <a:cs typeface="Calibri Light"/>
              </a:rPr>
              <a:t> </a:t>
            </a:r>
            <a:r>
              <a:rPr sz="2200" dirty="0">
                <a:solidFill>
                  <a:srgbClr val="4472C4"/>
                </a:solidFill>
                <a:latin typeface="Calibri Light"/>
                <a:cs typeface="Calibri Light"/>
              </a:rPr>
              <a:t>plans </a:t>
            </a:r>
            <a:r>
              <a:rPr sz="2200" spc="-15" dirty="0">
                <a:solidFill>
                  <a:srgbClr val="4472C4"/>
                </a:solidFill>
                <a:latin typeface="Calibri Light"/>
                <a:cs typeface="Calibri Light"/>
              </a:rPr>
              <a:t>for</a:t>
            </a:r>
            <a:r>
              <a:rPr sz="2200" dirty="0">
                <a:solidFill>
                  <a:srgbClr val="4472C4"/>
                </a:solidFill>
                <a:latin typeface="Calibri Light"/>
                <a:cs typeface="Calibri Light"/>
              </a:rPr>
              <a:t> a new</a:t>
            </a:r>
            <a:r>
              <a:rPr sz="2200" spc="-20" dirty="0">
                <a:solidFill>
                  <a:srgbClr val="4472C4"/>
                </a:solidFill>
                <a:latin typeface="Calibri Light"/>
                <a:cs typeface="Calibri Light"/>
              </a:rPr>
              <a:t> </a:t>
            </a:r>
            <a:r>
              <a:rPr sz="2200" dirty="0">
                <a:solidFill>
                  <a:srgbClr val="4472C4"/>
                </a:solidFill>
                <a:latin typeface="Calibri Light"/>
                <a:cs typeface="Calibri Light"/>
              </a:rPr>
              <a:t>bond</a:t>
            </a:r>
            <a:r>
              <a:rPr sz="2200" spc="-40" dirty="0">
                <a:solidFill>
                  <a:srgbClr val="4472C4"/>
                </a:solidFill>
                <a:latin typeface="Calibri Light"/>
                <a:cs typeface="Calibri Light"/>
              </a:rPr>
              <a:t> </a:t>
            </a:r>
            <a:r>
              <a:rPr sz="2200" dirty="0">
                <a:solidFill>
                  <a:srgbClr val="4472C4"/>
                </a:solidFill>
                <a:latin typeface="Calibri Light"/>
                <a:cs typeface="Calibri Light"/>
              </a:rPr>
              <a:t>issue']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29944" y="652510"/>
            <a:ext cx="4685589" cy="719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364"/>
              </a:lnSpc>
              <a:spcBef>
                <a:spcPts val="0"/>
              </a:spcBef>
              <a:spcAft>
                <a:spcPts val="0"/>
              </a:spcAft>
            </a:pPr>
            <a:r>
              <a:rPr sz="4400" dirty="0">
                <a:solidFill>
                  <a:srgbClr val="000000"/>
                </a:solidFill>
                <a:latin typeface="Calibri Light"/>
                <a:cs typeface="Calibri Light"/>
              </a:rPr>
              <a:t>Bag of</a:t>
            </a:r>
            <a:r>
              <a:rPr sz="4400" spc="2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spc="-57" dirty="0">
                <a:solidFill>
                  <a:srgbClr val="000000"/>
                </a:solidFill>
                <a:latin typeface="Calibri Light"/>
                <a:cs typeface="Calibri Light"/>
              </a:rPr>
              <a:t>Words</a:t>
            </a:r>
            <a:r>
              <a:rPr sz="4400" spc="112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dirty="0">
                <a:solidFill>
                  <a:srgbClr val="000000"/>
                </a:solidFill>
                <a:latin typeface="Calibri Light"/>
                <a:cs typeface="Calibri Light"/>
              </a:rPr>
              <a:t>model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9944" y="1525189"/>
            <a:ext cx="10484434" cy="4734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27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8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All</a:t>
            </a:r>
            <a:r>
              <a:rPr sz="2800" spc="7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7" dirty="0">
                <a:solidFill>
                  <a:srgbClr val="000000"/>
                </a:solidFill>
                <a:latin typeface="Calibri"/>
                <a:cs typeface="Calibri"/>
              </a:rPr>
              <a:t>texts</a:t>
            </a:r>
            <a:r>
              <a:rPr sz="2800" spc="9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need</a:t>
            </a:r>
            <a:r>
              <a:rPr sz="2800" spc="6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sz="2800" spc="1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be</a:t>
            </a:r>
            <a:r>
              <a:rPr sz="2800" spc="6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00"/>
                </a:solidFill>
                <a:latin typeface="Calibri"/>
                <a:cs typeface="Calibri"/>
              </a:rPr>
              <a:t>converted</a:t>
            </a:r>
            <a:r>
              <a:rPr sz="2800" spc="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sz="2800" spc="1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1" dirty="0">
                <a:solidFill>
                  <a:srgbClr val="000000"/>
                </a:solidFill>
                <a:latin typeface="Calibri"/>
                <a:cs typeface="Calibri"/>
              </a:rPr>
              <a:t>numbers</a:t>
            </a:r>
            <a:r>
              <a:rPr sz="2800" spc="8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000000"/>
                </a:solidFill>
                <a:latin typeface="Calibri"/>
                <a:cs typeface="Calibri"/>
              </a:rPr>
              <a:t>before</a:t>
            </a:r>
            <a:r>
              <a:rPr sz="2800" spc="8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000000"/>
                </a:solidFill>
                <a:latin typeface="Calibri"/>
                <a:cs typeface="Calibri"/>
              </a:rPr>
              <a:t>starts</a:t>
            </a:r>
            <a:r>
              <a:rPr sz="2800" spc="8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processing</a:t>
            </a:r>
            <a:r>
              <a:rPr sz="2800" spc="6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31" dirty="0">
                <a:solidFill>
                  <a:srgbClr val="000000"/>
                </a:solidFill>
                <a:latin typeface="Calibri"/>
                <a:cs typeface="Calibri"/>
              </a:rPr>
              <a:t>by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58544" y="1908947"/>
            <a:ext cx="2041151" cy="473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3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800" spc="1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machine.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29944" y="2421682"/>
            <a:ext cx="10488811" cy="25378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27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8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Consider these two</a:t>
            </a:r>
            <a:r>
              <a:rPr sz="280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short </a:t>
            </a:r>
            <a:r>
              <a:rPr sz="2800" spc="-11" dirty="0">
                <a:solidFill>
                  <a:srgbClr val="000000"/>
                </a:solidFill>
                <a:latin typeface="Calibri"/>
                <a:cs typeface="Calibri"/>
              </a:rPr>
              <a:t>texts.</a:t>
            </a:r>
          </a:p>
          <a:p>
            <a:pPr marL="457149" marR="0">
              <a:lnSpc>
                <a:spcPts val="2932"/>
              </a:lnSpc>
              <a:spcBef>
                <a:spcPts val="15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1.</a:t>
            </a:r>
            <a:r>
              <a:rPr sz="2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ED7D31"/>
                </a:solidFill>
                <a:latin typeface="Calibri"/>
                <a:cs typeface="Calibri"/>
              </a:rPr>
              <a:t>Julie</a:t>
            </a:r>
            <a:r>
              <a:rPr sz="2400" spc="-10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ED7D31"/>
                </a:solidFill>
                <a:latin typeface="Calibri"/>
                <a:cs typeface="Calibri"/>
              </a:rPr>
              <a:t>loves</a:t>
            </a:r>
            <a:r>
              <a:rPr sz="2400" spc="-28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ED7D31"/>
                </a:solidFill>
                <a:latin typeface="Calibri"/>
                <a:cs typeface="Calibri"/>
              </a:rPr>
              <a:t>me more than</a:t>
            </a:r>
            <a:r>
              <a:rPr sz="2400" spc="-31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ED7D31"/>
                </a:solidFill>
                <a:latin typeface="Calibri"/>
                <a:cs typeface="Calibri"/>
              </a:rPr>
              <a:t>Linda</a:t>
            </a:r>
            <a:r>
              <a:rPr sz="2400" spc="-40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ED7D31"/>
                </a:solidFill>
                <a:latin typeface="Calibri"/>
                <a:cs typeface="Calibri"/>
              </a:rPr>
              <a:t>loves me</a:t>
            </a:r>
          </a:p>
          <a:p>
            <a:pPr marL="457149" marR="0">
              <a:lnSpc>
                <a:spcPts val="2929"/>
              </a:lnSpc>
              <a:spcBef>
                <a:spcPts val="167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2.</a:t>
            </a:r>
            <a:r>
              <a:rPr sz="2400" spc="-1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ED7D31"/>
                </a:solidFill>
                <a:latin typeface="Calibri"/>
                <a:cs typeface="Calibri"/>
              </a:rPr>
              <a:t>Jane</a:t>
            </a:r>
            <a:r>
              <a:rPr sz="2400" spc="-11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2400" spc="-18" dirty="0">
                <a:solidFill>
                  <a:srgbClr val="ED7D31"/>
                </a:solidFill>
                <a:latin typeface="Calibri"/>
                <a:cs typeface="Calibri"/>
              </a:rPr>
              <a:t>likes</a:t>
            </a:r>
            <a:r>
              <a:rPr sz="2400" spc="11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ED7D31"/>
                </a:solidFill>
                <a:latin typeface="Calibri"/>
                <a:cs typeface="Calibri"/>
              </a:rPr>
              <a:t>me more</a:t>
            </a:r>
            <a:r>
              <a:rPr sz="2400" spc="-27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ED7D31"/>
                </a:solidFill>
                <a:latin typeface="Calibri"/>
                <a:cs typeface="Calibri"/>
              </a:rPr>
              <a:t>than</a:t>
            </a:r>
            <a:r>
              <a:rPr sz="2400" spc="-30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ED7D31"/>
                </a:solidFill>
                <a:latin typeface="Calibri"/>
                <a:cs typeface="Calibri"/>
              </a:rPr>
              <a:t>Julie</a:t>
            </a:r>
            <a:r>
              <a:rPr sz="2400" spc="-10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ED7D31"/>
                </a:solidFill>
                <a:latin typeface="Calibri"/>
                <a:cs typeface="Calibri"/>
              </a:rPr>
              <a:t>loves me</a:t>
            </a:r>
          </a:p>
          <a:p>
            <a:pPr marL="0" marR="0">
              <a:lnSpc>
                <a:spcPts val="3427"/>
              </a:lnSpc>
              <a:spcBef>
                <a:spcPts val="59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8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spc="-91" dirty="0">
                <a:solidFill>
                  <a:srgbClr val="000000"/>
                </a:solidFill>
                <a:latin typeface="Calibri"/>
                <a:cs typeface="Calibri"/>
              </a:rPr>
              <a:t>We</a:t>
            </a:r>
            <a:r>
              <a:rPr sz="2800" spc="10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00"/>
                </a:solidFill>
                <a:latin typeface="Calibri"/>
                <a:cs typeface="Calibri"/>
              </a:rPr>
              <a:t>want</a:t>
            </a:r>
            <a:r>
              <a:rPr sz="2800" spc="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sz="2800" spc="5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know</a:t>
            </a:r>
            <a:r>
              <a:rPr sz="2800" spc="2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how</a:t>
            </a:r>
            <a:r>
              <a:rPr sz="2800" spc="4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similar</a:t>
            </a:r>
            <a:r>
              <a:rPr sz="2800" spc="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these</a:t>
            </a:r>
            <a:r>
              <a:rPr sz="2800" spc="1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7" dirty="0">
                <a:solidFill>
                  <a:srgbClr val="000000"/>
                </a:solidFill>
                <a:latin typeface="Calibri"/>
                <a:cs typeface="Calibri"/>
              </a:rPr>
              <a:t>texts</a:t>
            </a:r>
            <a:r>
              <a:rPr sz="2800" spc="9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00"/>
                </a:solidFill>
                <a:latin typeface="Calibri"/>
                <a:cs typeface="Calibri"/>
              </a:rPr>
              <a:t>are,</a:t>
            </a:r>
            <a:r>
              <a:rPr sz="2800" spc="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purely</a:t>
            </a:r>
            <a:r>
              <a:rPr sz="2800" spc="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sz="2800" spc="2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terms</a:t>
            </a:r>
            <a:r>
              <a:rPr sz="2800" spc="2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37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2800" spc="-12" dirty="0">
                <a:solidFill>
                  <a:srgbClr val="000000"/>
                </a:solidFill>
                <a:latin typeface="Calibri"/>
                <a:cs typeface="Calibri"/>
              </a:rPr>
              <a:t> word</a:t>
            </a:r>
          </a:p>
          <a:p>
            <a:pPr marL="228600" marR="0">
              <a:lnSpc>
                <a:spcPts val="3023"/>
              </a:lnSpc>
              <a:spcBef>
                <a:spcPts val="50"/>
              </a:spcBef>
              <a:spcAft>
                <a:spcPts val="0"/>
              </a:spcAft>
            </a:pPr>
            <a:r>
              <a:rPr sz="2800" spc="-10" dirty="0">
                <a:solidFill>
                  <a:srgbClr val="000000"/>
                </a:solidFill>
                <a:latin typeface="Calibri"/>
                <a:cs typeface="Calibri"/>
              </a:rPr>
              <a:t>counts</a:t>
            </a:r>
            <a:r>
              <a:rPr sz="2800" spc="39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(and</a:t>
            </a:r>
            <a:r>
              <a:rPr sz="2800" spc="3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ignoring</a:t>
            </a:r>
            <a:r>
              <a:rPr sz="2800" spc="35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1" dirty="0">
                <a:solidFill>
                  <a:srgbClr val="000000"/>
                </a:solidFill>
                <a:latin typeface="Calibri"/>
                <a:cs typeface="Calibri"/>
              </a:rPr>
              <a:t>word</a:t>
            </a:r>
            <a:r>
              <a:rPr sz="2800" spc="35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order).</a:t>
            </a:r>
            <a:r>
              <a:rPr sz="2800" spc="3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88" dirty="0">
                <a:solidFill>
                  <a:srgbClr val="000000"/>
                </a:solidFill>
                <a:latin typeface="Calibri"/>
                <a:cs typeface="Calibri"/>
              </a:rPr>
              <a:t>We</a:t>
            </a:r>
            <a:r>
              <a:rPr sz="2800" spc="43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begin</a:t>
            </a:r>
            <a:r>
              <a:rPr sz="2800" spc="34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31" dirty="0">
                <a:solidFill>
                  <a:srgbClr val="000000"/>
                </a:solidFill>
                <a:latin typeface="Calibri"/>
                <a:cs typeface="Calibri"/>
              </a:rPr>
              <a:t>by</a:t>
            </a:r>
            <a:r>
              <a:rPr sz="2800" spc="41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making</a:t>
            </a:r>
            <a:r>
              <a:rPr sz="2800" spc="35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2800" spc="37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list</a:t>
            </a:r>
            <a:r>
              <a:rPr sz="2800" spc="35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1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2800" spc="34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</a:p>
          <a:p>
            <a:pPr marL="228600" marR="0">
              <a:lnSpc>
                <a:spcPts val="3026"/>
              </a:lnSpc>
              <a:spcBef>
                <a:spcPts val="0"/>
              </a:spcBef>
              <a:spcAft>
                <a:spcPts val="0"/>
              </a:spcAft>
            </a:pPr>
            <a:r>
              <a:rPr sz="2800" spc="-11" dirty="0">
                <a:solidFill>
                  <a:srgbClr val="000000"/>
                </a:solidFill>
                <a:latin typeface="Calibri"/>
                <a:cs typeface="Calibri"/>
              </a:rPr>
              <a:t>words</a:t>
            </a:r>
            <a:r>
              <a:rPr sz="2800" spc="1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from</a:t>
            </a:r>
            <a:r>
              <a:rPr sz="280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both </a:t>
            </a:r>
            <a:r>
              <a:rPr sz="2800" spc="-10" dirty="0">
                <a:solidFill>
                  <a:srgbClr val="000000"/>
                </a:solidFill>
                <a:latin typeface="Calibri"/>
                <a:cs typeface="Calibri"/>
              </a:rPr>
              <a:t>texts: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844675" y="4991031"/>
            <a:ext cx="7136283" cy="533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899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4472C4"/>
                </a:solidFill>
                <a:latin typeface="Calibri Light"/>
                <a:cs typeface="Calibri Light"/>
              </a:rPr>
              <a:t>[ me</a:t>
            </a:r>
            <a:r>
              <a:rPr sz="3200" spc="18" dirty="0">
                <a:solidFill>
                  <a:srgbClr val="4472C4"/>
                </a:solidFill>
                <a:latin typeface="Calibri Light"/>
                <a:cs typeface="Calibri Light"/>
              </a:rPr>
              <a:t> </a:t>
            </a:r>
            <a:r>
              <a:rPr sz="3200" dirty="0">
                <a:solidFill>
                  <a:srgbClr val="4472C4"/>
                </a:solidFill>
                <a:latin typeface="Calibri Light"/>
                <a:cs typeface="Calibri Light"/>
              </a:rPr>
              <a:t>Jane Julie</a:t>
            </a:r>
            <a:r>
              <a:rPr sz="3200" spc="49" dirty="0">
                <a:solidFill>
                  <a:srgbClr val="4472C4"/>
                </a:solidFill>
                <a:latin typeface="Calibri Light"/>
                <a:cs typeface="Calibri Light"/>
              </a:rPr>
              <a:t> </a:t>
            </a:r>
            <a:r>
              <a:rPr sz="3200" dirty="0">
                <a:solidFill>
                  <a:srgbClr val="4472C4"/>
                </a:solidFill>
                <a:latin typeface="Calibri Light"/>
                <a:cs typeface="Calibri Light"/>
              </a:rPr>
              <a:t>Linda</a:t>
            </a:r>
            <a:r>
              <a:rPr sz="3200" spc="28" dirty="0">
                <a:solidFill>
                  <a:srgbClr val="4472C4"/>
                </a:solidFill>
                <a:latin typeface="Calibri Light"/>
                <a:cs typeface="Calibri Light"/>
              </a:rPr>
              <a:t> </a:t>
            </a:r>
            <a:r>
              <a:rPr sz="3200" spc="-34" dirty="0">
                <a:solidFill>
                  <a:srgbClr val="4472C4"/>
                </a:solidFill>
                <a:latin typeface="Calibri Light"/>
                <a:cs typeface="Calibri Light"/>
              </a:rPr>
              <a:t>likes</a:t>
            </a:r>
            <a:r>
              <a:rPr sz="3200" spc="92" dirty="0">
                <a:solidFill>
                  <a:srgbClr val="4472C4"/>
                </a:solidFill>
                <a:latin typeface="Calibri Light"/>
                <a:cs typeface="Calibri Light"/>
              </a:rPr>
              <a:t> </a:t>
            </a:r>
            <a:r>
              <a:rPr sz="3200" spc="-15" dirty="0">
                <a:solidFill>
                  <a:srgbClr val="4472C4"/>
                </a:solidFill>
                <a:latin typeface="Calibri Light"/>
                <a:cs typeface="Calibri Light"/>
              </a:rPr>
              <a:t>loves</a:t>
            </a:r>
            <a:r>
              <a:rPr sz="3200" spc="49" dirty="0">
                <a:solidFill>
                  <a:srgbClr val="4472C4"/>
                </a:solidFill>
                <a:latin typeface="Calibri Light"/>
                <a:cs typeface="Calibri Light"/>
              </a:rPr>
              <a:t> </a:t>
            </a:r>
            <a:r>
              <a:rPr sz="3200" spc="-23" dirty="0">
                <a:solidFill>
                  <a:srgbClr val="4472C4"/>
                </a:solidFill>
                <a:latin typeface="Calibri Light"/>
                <a:cs typeface="Calibri Light"/>
              </a:rPr>
              <a:t>more</a:t>
            </a:r>
            <a:r>
              <a:rPr sz="3200" spc="67" dirty="0">
                <a:solidFill>
                  <a:srgbClr val="4472C4"/>
                </a:solidFill>
                <a:latin typeface="Calibri Light"/>
                <a:cs typeface="Calibri Light"/>
              </a:rPr>
              <a:t> </a:t>
            </a:r>
            <a:r>
              <a:rPr sz="3200" dirty="0">
                <a:solidFill>
                  <a:srgbClr val="4472C4"/>
                </a:solidFill>
                <a:latin typeface="Calibri Light"/>
                <a:cs typeface="Calibri Light"/>
              </a:rPr>
              <a:t>than]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29944" y="1436507"/>
            <a:ext cx="10484916" cy="473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3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8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Now</a:t>
            </a:r>
            <a:r>
              <a:rPr sz="2800" spc="82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34" dirty="0">
                <a:solidFill>
                  <a:srgbClr val="000000"/>
                </a:solidFill>
                <a:latin typeface="Calibri"/>
                <a:cs typeface="Calibri"/>
              </a:rPr>
              <a:t>we</a:t>
            </a:r>
            <a:r>
              <a:rPr sz="2800" spc="83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4" dirty="0">
                <a:solidFill>
                  <a:srgbClr val="000000"/>
                </a:solidFill>
                <a:latin typeface="Calibri"/>
                <a:cs typeface="Calibri"/>
              </a:rPr>
              <a:t>count</a:t>
            </a:r>
            <a:r>
              <a:rPr sz="2800" spc="82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800" spc="82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number</a:t>
            </a:r>
            <a:r>
              <a:rPr sz="2800" spc="81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1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2800" spc="200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8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spc="-88" dirty="0">
                <a:solidFill>
                  <a:srgbClr val="000000"/>
                </a:solidFill>
                <a:latin typeface="Calibri"/>
                <a:cs typeface="Calibri"/>
              </a:rPr>
              <a:t>We</a:t>
            </a:r>
            <a:r>
              <a:rPr sz="2800" spc="48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8" dirty="0">
                <a:solidFill>
                  <a:srgbClr val="000000"/>
                </a:solidFill>
                <a:latin typeface="Calibri"/>
                <a:cs typeface="Calibri"/>
              </a:rPr>
              <a:t>are</a:t>
            </a:r>
            <a:r>
              <a:rPr sz="2800" spc="417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2" dirty="0">
                <a:solidFill>
                  <a:srgbClr val="000000"/>
                </a:solidFill>
                <a:latin typeface="Calibri"/>
                <a:cs typeface="Calibri"/>
              </a:rPr>
              <a:t>interested</a:t>
            </a:r>
            <a:r>
              <a:rPr sz="2800" spc="38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only</a:t>
            </a:r>
            <a:r>
              <a:rPr sz="2800" spc="40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sz="2800" spc="38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those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58544" y="1778554"/>
            <a:ext cx="9818682" cy="4734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27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times</a:t>
            </a:r>
            <a:r>
              <a:rPr sz="2800" spc="193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each</a:t>
            </a:r>
            <a:r>
              <a:rPr sz="2800" spc="193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1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2800" spc="193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these</a:t>
            </a:r>
            <a:r>
              <a:rPr sz="2800" spc="193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8" dirty="0">
                <a:solidFill>
                  <a:srgbClr val="000000"/>
                </a:solidFill>
                <a:latin typeface="Calibri"/>
                <a:cs typeface="Calibri"/>
              </a:rPr>
              <a:t>words</a:t>
            </a:r>
            <a:r>
              <a:rPr sz="2800" spc="383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two</a:t>
            </a:r>
            <a:r>
              <a:rPr sz="2800" spc="-1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vertical</a:t>
            </a:r>
            <a:r>
              <a:rPr sz="280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2" dirty="0">
                <a:solidFill>
                  <a:srgbClr val="000000"/>
                </a:solidFill>
                <a:latin typeface="Calibri"/>
                <a:cs typeface="Calibri"/>
              </a:rPr>
              <a:t>vectors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1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28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counts.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58544" y="2119640"/>
            <a:ext cx="3147829" cy="473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3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appears</a:t>
            </a:r>
            <a:r>
              <a:rPr sz="280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in each</a:t>
            </a:r>
            <a:r>
              <a:rPr sz="2800" spc="1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000000"/>
                </a:solidFill>
                <a:latin typeface="Calibri"/>
                <a:cs typeface="Calibri"/>
              </a:rPr>
              <a:t>text.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722618" y="2191479"/>
            <a:ext cx="3334105" cy="821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6"/>
              </a:lnSpc>
              <a:spcBef>
                <a:spcPts val="0"/>
              </a:spcBef>
              <a:spcAft>
                <a:spcPts val="0"/>
              </a:spcAft>
            </a:pPr>
            <a:r>
              <a:rPr sz="2600" dirty="0">
                <a:solidFill>
                  <a:srgbClr val="4472C4"/>
                </a:solidFill>
                <a:latin typeface="Arial"/>
                <a:cs typeface="Arial"/>
              </a:rPr>
              <a:t>•</a:t>
            </a:r>
            <a:r>
              <a:rPr sz="2600" spc="240" dirty="0">
                <a:solidFill>
                  <a:srgbClr val="4472C4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472C4"/>
                </a:solidFill>
                <a:latin typeface="Calibri Light"/>
                <a:cs typeface="Calibri Light"/>
              </a:rPr>
              <a:t>a: [2, 0, 1, 1,</a:t>
            </a:r>
            <a:r>
              <a:rPr sz="2600" spc="-18" dirty="0">
                <a:solidFill>
                  <a:srgbClr val="4472C4"/>
                </a:solidFill>
                <a:latin typeface="Calibri Light"/>
                <a:cs typeface="Calibri Light"/>
              </a:rPr>
              <a:t> </a:t>
            </a:r>
            <a:r>
              <a:rPr sz="2600" dirty="0">
                <a:solidFill>
                  <a:srgbClr val="4472C4"/>
                </a:solidFill>
                <a:latin typeface="Calibri Light"/>
                <a:cs typeface="Calibri Light"/>
              </a:rPr>
              <a:t>0, 2, 1, 1]</a:t>
            </a:r>
          </a:p>
          <a:p>
            <a:pPr marL="0" marR="0">
              <a:lnSpc>
                <a:spcPts val="3001"/>
              </a:lnSpc>
              <a:spcBef>
                <a:spcPts val="0"/>
              </a:spcBef>
              <a:spcAft>
                <a:spcPts val="0"/>
              </a:spcAft>
            </a:pPr>
            <a:r>
              <a:rPr sz="2600" dirty="0">
                <a:solidFill>
                  <a:srgbClr val="4472C4"/>
                </a:solidFill>
                <a:latin typeface="Arial"/>
                <a:cs typeface="Arial"/>
              </a:rPr>
              <a:t>•</a:t>
            </a:r>
            <a:r>
              <a:rPr sz="2600" spc="240" dirty="0">
                <a:solidFill>
                  <a:srgbClr val="4472C4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472C4"/>
                </a:solidFill>
                <a:latin typeface="Calibri Light"/>
                <a:cs typeface="Calibri Light"/>
              </a:rPr>
              <a:t>b: [2, 1,</a:t>
            </a:r>
            <a:r>
              <a:rPr sz="2600" spc="-10" dirty="0">
                <a:solidFill>
                  <a:srgbClr val="4472C4"/>
                </a:solidFill>
                <a:latin typeface="Calibri Light"/>
                <a:cs typeface="Calibri Light"/>
              </a:rPr>
              <a:t> </a:t>
            </a:r>
            <a:r>
              <a:rPr sz="2600" spc="14" dirty="0">
                <a:solidFill>
                  <a:srgbClr val="4472C4"/>
                </a:solidFill>
                <a:latin typeface="Calibri Light"/>
                <a:cs typeface="Calibri Light"/>
              </a:rPr>
              <a:t>1,</a:t>
            </a:r>
            <a:r>
              <a:rPr sz="2600" spc="-17" dirty="0">
                <a:solidFill>
                  <a:srgbClr val="4472C4"/>
                </a:solidFill>
                <a:latin typeface="Calibri Light"/>
                <a:cs typeface="Calibri Light"/>
              </a:rPr>
              <a:t> </a:t>
            </a:r>
            <a:r>
              <a:rPr sz="2600" dirty="0">
                <a:solidFill>
                  <a:srgbClr val="4472C4"/>
                </a:solidFill>
                <a:latin typeface="Calibri Light"/>
                <a:cs typeface="Calibri Light"/>
              </a:rPr>
              <a:t>0,</a:t>
            </a:r>
            <a:r>
              <a:rPr sz="2600" spc="12" dirty="0">
                <a:solidFill>
                  <a:srgbClr val="4472C4"/>
                </a:solidFill>
                <a:latin typeface="Calibri Light"/>
                <a:cs typeface="Calibri Light"/>
              </a:rPr>
              <a:t> </a:t>
            </a:r>
            <a:r>
              <a:rPr sz="2600" dirty="0">
                <a:solidFill>
                  <a:srgbClr val="4472C4"/>
                </a:solidFill>
                <a:latin typeface="Calibri Light"/>
                <a:cs typeface="Calibri Light"/>
              </a:rPr>
              <a:t>1,</a:t>
            </a:r>
            <a:r>
              <a:rPr sz="2600" spc="-25" dirty="0">
                <a:solidFill>
                  <a:srgbClr val="4472C4"/>
                </a:solidFill>
                <a:latin typeface="Calibri Light"/>
                <a:cs typeface="Calibri Light"/>
              </a:rPr>
              <a:t> </a:t>
            </a:r>
            <a:r>
              <a:rPr sz="2600" dirty="0">
                <a:solidFill>
                  <a:srgbClr val="4472C4"/>
                </a:solidFill>
                <a:latin typeface="Calibri Light"/>
                <a:cs typeface="Calibri Light"/>
              </a:rPr>
              <a:t>1,</a:t>
            </a:r>
            <a:r>
              <a:rPr sz="2600" spc="11" dirty="0">
                <a:solidFill>
                  <a:srgbClr val="4472C4"/>
                </a:solidFill>
                <a:latin typeface="Calibri Light"/>
                <a:cs typeface="Calibri Light"/>
              </a:rPr>
              <a:t> </a:t>
            </a:r>
            <a:r>
              <a:rPr sz="2600" dirty="0">
                <a:solidFill>
                  <a:srgbClr val="4472C4"/>
                </a:solidFill>
                <a:latin typeface="Calibri Light"/>
                <a:cs typeface="Calibri Light"/>
              </a:rPr>
              <a:t>1, 1]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61414" y="2538329"/>
            <a:ext cx="1080466" cy="410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29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4472C4"/>
                </a:solidFill>
                <a:latin typeface="Calibri"/>
                <a:cs typeface="Calibri"/>
              </a:rPr>
              <a:t>S1</a:t>
            </a:r>
            <a:r>
              <a:rPr sz="2400" spc="2129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72C4"/>
                </a:solidFill>
                <a:latin typeface="Calibri"/>
                <a:cs typeface="Calibri"/>
              </a:rPr>
              <a:t>S2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29944" y="2971423"/>
            <a:ext cx="1007714" cy="347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34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alibri Light"/>
                <a:cs typeface="Calibri Light"/>
              </a:rPr>
              <a:t>me</a:t>
            </a:r>
            <a:r>
              <a:rPr sz="2000" spc="2702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 Light"/>
                <a:cs typeface="Calibri Light"/>
              </a:rPr>
              <a:t>2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345896" y="2971423"/>
            <a:ext cx="334912" cy="2942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291" marR="0">
              <a:lnSpc>
                <a:spcPts val="2434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alibri Light"/>
                <a:cs typeface="Calibri Light"/>
              </a:rPr>
              <a:t>2</a:t>
            </a:r>
          </a:p>
          <a:p>
            <a:pPr marL="24792" marR="0">
              <a:lnSpc>
                <a:spcPts val="2431"/>
              </a:lnSpc>
              <a:spcBef>
                <a:spcPts val="473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alibri Light"/>
                <a:cs typeface="Calibri Light"/>
              </a:rPr>
              <a:t>1</a:t>
            </a:r>
          </a:p>
          <a:p>
            <a:pPr marL="15383" marR="0">
              <a:lnSpc>
                <a:spcPts val="2434"/>
              </a:lnSpc>
              <a:spcBef>
                <a:spcPts val="544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alibri Light"/>
                <a:cs typeface="Calibri Light"/>
              </a:rPr>
              <a:t>1</a:t>
            </a:r>
          </a:p>
          <a:p>
            <a:pPr marL="0" marR="0">
              <a:lnSpc>
                <a:spcPts val="2431"/>
              </a:lnSpc>
              <a:spcBef>
                <a:spcPts val="498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alibri Light"/>
                <a:cs typeface="Calibri Light"/>
              </a:rPr>
              <a:t>0</a:t>
            </a:r>
          </a:p>
          <a:p>
            <a:pPr marL="6265" marR="0">
              <a:lnSpc>
                <a:spcPts val="2434"/>
              </a:lnSpc>
              <a:spcBef>
                <a:spcPts val="47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alibri Light"/>
                <a:cs typeface="Calibri Light"/>
              </a:rPr>
              <a:t>1</a:t>
            </a:r>
          </a:p>
          <a:p>
            <a:pPr marL="30864" marR="0">
              <a:lnSpc>
                <a:spcPts val="2431"/>
              </a:lnSpc>
              <a:spcBef>
                <a:spcPts val="497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alibri Light"/>
                <a:cs typeface="Calibri Light"/>
              </a:rPr>
              <a:t>1</a:t>
            </a:r>
          </a:p>
          <a:p>
            <a:pPr marL="54136" marR="0">
              <a:lnSpc>
                <a:spcPts val="2434"/>
              </a:lnSpc>
              <a:spcBef>
                <a:spcPts val="544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alibri Light"/>
                <a:cs typeface="Calibri Light"/>
              </a:rPr>
              <a:t>1</a:t>
            </a:r>
          </a:p>
          <a:p>
            <a:pPr marL="36176" marR="0">
              <a:lnSpc>
                <a:spcPts val="2431"/>
              </a:lnSpc>
              <a:spcBef>
                <a:spcPts val="474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alibri Light"/>
                <a:cs typeface="Calibri Light"/>
              </a:rPr>
              <a:t>1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265164" y="3001933"/>
            <a:ext cx="5155651" cy="1601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65"/>
              </a:lnSpc>
              <a:spcBef>
                <a:spcPts val="0"/>
              </a:spcBef>
              <a:spcAft>
                <a:spcPts val="0"/>
              </a:spcAft>
            </a:pPr>
            <a:r>
              <a:rPr sz="30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30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3000" spc="233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000000"/>
                </a:solidFill>
                <a:latin typeface="Calibri"/>
                <a:cs typeface="Calibri"/>
              </a:rPr>
              <a:t>cosine</a:t>
            </a:r>
            <a:r>
              <a:rPr sz="3000" spc="23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3000" spc="231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3000" spc="23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000000"/>
                </a:solidFill>
                <a:latin typeface="Calibri"/>
                <a:cs typeface="Calibri"/>
              </a:rPr>
              <a:t>angle</a:t>
            </a:r>
          </a:p>
          <a:p>
            <a:pPr marL="228600" marR="0">
              <a:lnSpc>
                <a:spcPts val="2882"/>
              </a:lnSpc>
              <a:spcBef>
                <a:spcPts val="0"/>
              </a:spcBef>
              <a:spcAft>
                <a:spcPts val="0"/>
              </a:spcAft>
            </a:pPr>
            <a:r>
              <a:rPr sz="3000" dirty="0">
                <a:solidFill>
                  <a:srgbClr val="000000"/>
                </a:solidFill>
                <a:latin typeface="Calibri"/>
                <a:cs typeface="Calibri"/>
              </a:rPr>
              <a:t>between</a:t>
            </a:r>
            <a:r>
              <a:rPr sz="3000" spc="179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000000"/>
                </a:solidFill>
                <a:latin typeface="Calibri"/>
                <a:cs typeface="Calibri"/>
              </a:rPr>
              <a:t>them</a:t>
            </a:r>
            <a:r>
              <a:rPr sz="3000" spc="179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000000"/>
                </a:solidFill>
                <a:latin typeface="Calibri"/>
                <a:cs typeface="Calibri"/>
              </a:rPr>
              <a:t>defines</a:t>
            </a:r>
            <a:r>
              <a:rPr sz="3000" spc="180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</a:p>
          <a:p>
            <a:pPr marL="228600" marR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3000" dirty="0">
                <a:solidFill>
                  <a:srgbClr val="000000"/>
                </a:solidFill>
                <a:latin typeface="Calibri"/>
                <a:cs typeface="Calibri"/>
              </a:rPr>
              <a:t>similarity</a:t>
            </a:r>
            <a:r>
              <a:rPr sz="3000" spc="96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000000"/>
                </a:solidFill>
                <a:latin typeface="Calibri"/>
                <a:cs typeface="Calibri"/>
              </a:rPr>
              <a:t>between</a:t>
            </a:r>
            <a:r>
              <a:rPr sz="3000" spc="95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3000" spc="95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000" spc="-14" dirty="0">
                <a:solidFill>
                  <a:srgbClr val="000000"/>
                </a:solidFill>
                <a:latin typeface="Calibri"/>
                <a:cs typeface="Calibri"/>
              </a:rPr>
              <a:t>texts.</a:t>
            </a:r>
          </a:p>
          <a:p>
            <a:pPr marL="228600" marR="0">
              <a:lnSpc>
                <a:spcPts val="2882"/>
              </a:lnSpc>
              <a:spcBef>
                <a:spcPts val="0"/>
              </a:spcBef>
              <a:spcAft>
                <a:spcPts val="0"/>
              </a:spcAft>
            </a:pPr>
            <a:r>
              <a:rPr sz="3000" dirty="0">
                <a:solidFill>
                  <a:srgbClr val="000000"/>
                </a:solidFill>
                <a:latin typeface="Calibri"/>
                <a:cs typeface="Calibri"/>
              </a:rPr>
              <a:t>[</a:t>
            </a:r>
            <a:r>
              <a:rPr sz="3000" u="sng" dirty="0">
                <a:solidFill>
                  <a:srgbClr val="0563C1"/>
                </a:solidFill>
                <a:latin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Cosine</a:t>
            </a:r>
            <a:r>
              <a:rPr sz="3000" u="sng" spc="-14" dirty="0">
                <a:solidFill>
                  <a:srgbClr val="0563C1"/>
                </a:solidFill>
                <a:latin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</a:t>
            </a:r>
            <a:r>
              <a:rPr sz="3000" u="sng" dirty="0">
                <a:solidFill>
                  <a:srgbClr val="0563C1"/>
                </a:solidFill>
                <a:latin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Similarity</a:t>
            </a:r>
            <a:r>
              <a:rPr sz="3000" dirty="0">
                <a:solidFill>
                  <a:srgbClr val="000000"/>
                </a:solidFill>
                <a:latin typeface="Calibri"/>
                <a:cs typeface="Calibri"/>
              </a:rPr>
              <a:t>]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29944" y="3340775"/>
            <a:ext cx="1051280" cy="25729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31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alibri Light"/>
                <a:cs typeface="Calibri Light"/>
              </a:rPr>
              <a:t>Jane</a:t>
            </a:r>
            <a:r>
              <a:rPr sz="2000" spc="1788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 Light"/>
                <a:cs typeface="Calibri Light"/>
              </a:rPr>
              <a:t>0</a:t>
            </a:r>
          </a:p>
          <a:p>
            <a:pPr marL="0" marR="0">
              <a:lnSpc>
                <a:spcPts val="2434"/>
              </a:lnSpc>
              <a:spcBef>
                <a:spcPts val="544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alibri Light"/>
                <a:cs typeface="Calibri Light"/>
              </a:rPr>
              <a:t>Julie</a:t>
            </a:r>
            <a:r>
              <a:rPr sz="2000" spc="182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 Light"/>
                <a:cs typeface="Calibri Light"/>
              </a:rPr>
              <a:t>1</a:t>
            </a:r>
          </a:p>
          <a:p>
            <a:pPr marL="0" marR="0">
              <a:lnSpc>
                <a:spcPts val="2431"/>
              </a:lnSpc>
              <a:spcBef>
                <a:spcPts val="498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alibri Light"/>
                <a:cs typeface="Calibri Light"/>
              </a:rPr>
              <a:t>Linda</a:t>
            </a:r>
            <a:r>
              <a:rPr sz="2000" spc="902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 Light"/>
                <a:cs typeface="Calibri Light"/>
              </a:rPr>
              <a:t>1</a:t>
            </a:r>
          </a:p>
          <a:p>
            <a:pPr marL="0" marR="0">
              <a:lnSpc>
                <a:spcPts val="2434"/>
              </a:lnSpc>
              <a:spcBef>
                <a:spcPts val="470"/>
              </a:spcBef>
              <a:spcAft>
                <a:spcPts val="0"/>
              </a:spcAft>
            </a:pPr>
            <a:r>
              <a:rPr sz="2000" spc="-21" dirty="0">
                <a:solidFill>
                  <a:srgbClr val="000000"/>
                </a:solidFill>
                <a:latin typeface="Calibri Light"/>
                <a:cs typeface="Calibri Light"/>
              </a:rPr>
              <a:t>likes</a:t>
            </a:r>
            <a:r>
              <a:rPr sz="2000" spc="1837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 Light"/>
                <a:cs typeface="Calibri Light"/>
              </a:rPr>
              <a:t>0</a:t>
            </a:r>
          </a:p>
          <a:p>
            <a:pPr marL="0" marR="0">
              <a:lnSpc>
                <a:spcPts val="2431"/>
              </a:lnSpc>
              <a:spcBef>
                <a:spcPts val="497"/>
              </a:spcBef>
              <a:spcAft>
                <a:spcPts val="0"/>
              </a:spcAft>
            </a:pPr>
            <a:r>
              <a:rPr sz="2000" spc="-10" dirty="0">
                <a:solidFill>
                  <a:srgbClr val="000000"/>
                </a:solidFill>
                <a:latin typeface="Calibri Light"/>
                <a:cs typeface="Calibri Light"/>
              </a:rPr>
              <a:t>loves</a:t>
            </a:r>
            <a:r>
              <a:rPr sz="2000" spc="1343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 Light"/>
                <a:cs typeface="Calibri Light"/>
              </a:rPr>
              <a:t>2</a:t>
            </a:r>
          </a:p>
          <a:p>
            <a:pPr marL="0" marR="0">
              <a:lnSpc>
                <a:spcPts val="2434"/>
              </a:lnSpc>
              <a:spcBef>
                <a:spcPts val="544"/>
              </a:spcBef>
              <a:spcAft>
                <a:spcPts val="0"/>
              </a:spcAft>
            </a:pPr>
            <a:r>
              <a:rPr sz="2000" spc="-10" dirty="0">
                <a:solidFill>
                  <a:srgbClr val="000000"/>
                </a:solidFill>
                <a:latin typeface="Calibri Light"/>
                <a:cs typeface="Calibri Light"/>
              </a:rPr>
              <a:t>more</a:t>
            </a:r>
            <a:r>
              <a:rPr sz="2000" spc="1352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 Light"/>
                <a:cs typeface="Calibri Light"/>
              </a:rPr>
              <a:t>1</a:t>
            </a:r>
          </a:p>
          <a:p>
            <a:pPr marL="0" marR="0">
              <a:lnSpc>
                <a:spcPts val="2431"/>
              </a:lnSpc>
              <a:spcBef>
                <a:spcPts val="474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Calibri Light"/>
                <a:cs typeface="Calibri Light"/>
              </a:rPr>
              <a:t>than</a:t>
            </a:r>
            <a:r>
              <a:rPr sz="2000" spc="182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000000"/>
                </a:solidFill>
                <a:latin typeface="Calibri Light"/>
                <a:cs typeface="Calibri Light"/>
              </a:rPr>
              <a:t>1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265164" y="4594168"/>
            <a:ext cx="5151841" cy="5031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62"/>
              </a:lnSpc>
              <a:spcBef>
                <a:spcPts val="0"/>
              </a:spcBef>
              <a:spcAft>
                <a:spcPts val="0"/>
              </a:spcAft>
            </a:pPr>
            <a:r>
              <a:rPr sz="30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30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3000" spc="233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000000"/>
                </a:solidFill>
                <a:latin typeface="Calibri"/>
                <a:cs typeface="Calibri"/>
              </a:rPr>
              <a:t>cosine</a:t>
            </a:r>
            <a:r>
              <a:rPr sz="3000" spc="235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3000" spc="2312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3000" spc="234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000000"/>
                </a:solidFill>
                <a:latin typeface="Calibri"/>
                <a:cs typeface="Calibri"/>
              </a:rPr>
              <a:t>angle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493764" y="4959637"/>
            <a:ext cx="4788399" cy="5035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65"/>
              </a:lnSpc>
              <a:spcBef>
                <a:spcPts val="0"/>
              </a:spcBef>
              <a:spcAft>
                <a:spcPts val="0"/>
              </a:spcAft>
            </a:pPr>
            <a:r>
              <a:rPr sz="3000" dirty="0">
                <a:solidFill>
                  <a:srgbClr val="000000"/>
                </a:solidFill>
                <a:latin typeface="Calibri"/>
                <a:cs typeface="Calibri"/>
              </a:rPr>
              <a:t>between them</a:t>
            </a:r>
            <a:r>
              <a:rPr sz="3000" spc="-3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000000"/>
                </a:solidFill>
                <a:latin typeface="Calibri"/>
                <a:cs typeface="Calibri"/>
              </a:rPr>
              <a:t>is about</a:t>
            </a:r>
            <a:r>
              <a:rPr sz="3000" spc="-23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70AD47"/>
                </a:solidFill>
                <a:latin typeface="Calibri"/>
                <a:cs typeface="Calibri"/>
              </a:rPr>
              <a:t>0.822</a:t>
            </a:r>
            <a:r>
              <a:rPr sz="3000" dirty="0">
                <a:solidFill>
                  <a:srgbClr val="000000"/>
                </a:solidFill>
                <a:latin typeface="Calibri"/>
                <a:cs typeface="Calibri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29944" y="652510"/>
            <a:ext cx="3482727" cy="719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364"/>
              </a:lnSpc>
              <a:spcBef>
                <a:spcPts val="0"/>
              </a:spcBef>
              <a:spcAft>
                <a:spcPts val="0"/>
              </a:spcAft>
            </a:pPr>
            <a:r>
              <a:rPr sz="4400" spc="-21" dirty="0">
                <a:solidFill>
                  <a:srgbClr val="000000"/>
                </a:solidFill>
                <a:latin typeface="Calibri Light"/>
                <a:cs typeface="Calibri Light"/>
              </a:rPr>
              <a:t>Feeling</a:t>
            </a:r>
            <a:r>
              <a:rPr sz="4400" spc="98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dirty="0">
                <a:solidFill>
                  <a:srgbClr val="000000"/>
                </a:solidFill>
                <a:latin typeface="Calibri Light"/>
                <a:cs typeface="Calibri Light"/>
              </a:rPr>
              <a:t>lonely?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9944" y="1822369"/>
            <a:ext cx="5288993" cy="811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27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8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Eliza</a:t>
            </a:r>
            <a:r>
              <a:rPr sz="2800" spc="-2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is </a:t>
            </a:r>
            <a:r>
              <a:rPr sz="2800" spc="-12" dirty="0">
                <a:solidFill>
                  <a:srgbClr val="000000"/>
                </a:solidFill>
                <a:latin typeface="Calibri"/>
                <a:cs typeface="Calibri"/>
              </a:rPr>
              <a:t>there</a:t>
            </a:r>
            <a:r>
              <a:rPr sz="2800" spc="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sz="2800" spc="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talk</a:t>
            </a:r>
            <a:r>
              <a:rPr sz="2800" spc="-25" dirty="0">
                <a:solidFill>
                  <a:srgbClr val="000000"/>
                </a:solidFill>
                <a:latin typeface="Calibri"/>
                <a:cs typeface="Calibri"/>
              </a:rPr>
              <a:t> to</a:t>
            </a:r>
            <a:r>
              <a:rPr sz="2800" spc="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you all</a:t>
            </a:r>
            <a:r>
              <a:rPr sz="280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000000"/>
                </a:solidFill>
                <a:latin typeface="Calibri"/>
                <a:cs typeface="Calibri"/>
              </a:rPr>
              <a:t>day!</a:t>
            </a:r>
          </a:p>
          <a:p>
            <a:pPr marL="457149" marR="0">
              <a:lnSpc>
                <a:spcPts val="2431"/>
              </a:lnSpc>
              <a:spcBef>
                <a:spcPts val="279"/>
              </a:spcBef>
              <a:spcAft>
                <a:spcPts val="0"/>
              </a:spcAft>
            </a:pPr>
            <a:r>
              <a:rPr sz="2000" spc="-11" dirty="0">
                <a:solidFill>
                  <a:srgbClr val="000000"/>
                </a:solidFill>
                <a:latin typeface="Calibri Light"/>
                <a:cs typeface="Calibri Light"/>
              </a:rPr>
              <a:t>&gt;&gt;&gt;</a:t>
            </a:r>
            <a:r>
              <a:rPr sz="2000" spc="5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000" spc="-14" dirty="0">
                <a:solidFill>
                  <a:srgbClr val="ED7D31"/>
                </a:solidFill>
                <a:latin typeface="Calibri Light"/>
                <a:cs typeface="Calibri Light"/>
              </a:rPr>
              <a:t>from</a:t>
            </a:r>
            <a:r>
              <a:rPr sz="2000" spc="12" dirty="0">
                <a:solidFill>
                  <a:srgbClr val="ED7D31"/>
                </a:solidFill>
                <a:latin typeface="Calibri Light"/>
                <a:cs typeface="Calibri Light"/>
              </a:rPr>
              <a:t> </a:t>
            </a:r>
            <a:r>
              <a:rPr sz="2000" spc="-10" dirty="0">
                <a:solidFill>
                  <a:srgbClr val="000000"/>
                </a:solidFill>
                <a:latin typeface="Calibri Light"/>
                <a:cs typeface="Calibri Light"/>
              </a:rPr>
              <a:t>nltk.chat</a:t>
            </a:r>
            <a:r>
              <a:rPr sz="2000" spc="79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ED7D31"/>
                </a:solidFill>
                <a:latin typeface="Calibri Light"/>
                <a:cs typeface="Calibri Light"/>
              </a:rPr>
              <a:t>import </a:t>
            </a:r>
            <a:r>
              <a:rPr sz="2000" spc="-15" dirty="0">
                <a:solidFill>
                  <a:srgbClr val="000000"/>
                </a:solidFill>
                <a:latin typeface="Calibri Light"/>
                <a:cs typeface="Calibri Light"/>
              </a:rPr>
              <a:t>eliza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87094" y="2625511"/>
            <a:ext cx="2261649" cy="3469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31"/>
              </a:lnSpc>
              <a:spcBef>
                <a:spcPts val="0"/>
              </a:spcBef>
              <a:spcAft>
                <a:spcPts val="0"/>
              </a:spcAft>
            </a:pPr>
            <a:r>
              <a:rPr sz="2000" spc="-11" dirty="0">
                <a:solidFill>
                  <a:srgbClr val="000000"/>
                </a:solidFill>
                <a:latin typeface="Calibri Light"/>
                <a:cs typeface="Calibri Light"/>
              </a:rPr>
              <a:t>&gt;&gt;&gt;</a:t>
            </a:r>
            <a:r>
              <a:rPr sz="2000" spc="5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2000" spc="-12" dirty="0">
                <a:solidFill>
                  <a:srgbClr val="000000"/>
                </a:solidFill>
                <a:latin typeface="Calibri Light"/>
                <a:cs typeface="Calibri Light"/>
              </a:rPr>
              <a:t>eliza.eliza_chat()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29944" y="3011180"/>
            <a:ext cx="3288125" cy="473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3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000000"/>
                </a:solidFill>
                <a:latin typeface="Calibri"/>
                <a:cs typeface="Calibri"/>
              </a:rPr>
              <a:t>……starts</a:t>
            </a:r>
            <a:r>
              <a:rPr sz="2800" b="1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0000"/>
                </a:solidFill>
                <a:latin typeface="Calibri"/>
                <a:cs typeface="Calibri"/>
              </a:rPr>
              <a:t>the chatbot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960876" y="2239790"/>
            <a:ext cx="4426250" cy="12774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758"/>
              </a:lnSpc>
              <a:spcBef>
                <a:spcPts val="0"/>
              </a:spcBef>
              <a:spcAft>
                <a:spcPts val="0"/>
              </a:spcAft>
            </a:pPr>
            <a:r>
              <a:rPr sz="8000" spc="-11" dirty="0">
                <a:solidFill>
                  <a:srgbClr val="000000"/>
                </a:solidFill>
                <a:latin typeface="Calibri Light"/>
                <a:cs typeface="Calibri Light"/>
              </a:rPr>
              <a:t>Thanks!</a:t>
            </a:r>
            <a:r>
              <a:rPr sz="8000" spc="11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8000" dirty="0">
                <a:solidFill>
                  <a:srgbClr val="000000"/>
                </a:solidFill>
                <a:latin typeface="GCRJEC+Wingdings"/>
                <a:cs typeface="GCRJEC+Wingdings"/>
              </a:rPr>
              <a:t>☺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494529" y="3578923"/>
            <a:ext cx="3360296" cy="659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895"/>
              </a:lnSpc>
              <a:spcBef>
                <a:spcPts val="0"/>
              </a:spcBef>
              <a:spcAft>
                <a:spcPts val="0"/>
              </a:spcAft>
            </a:pPr>
            <a:r>
              <a:rPr sz="4000" spc="-23" dirty="0">
                <a:solidFill>
                  <a:srgbClr val="000000"/>
                </a:solidFill>
                <a:latin typeface="Calibri"/>
                <a:cs typeface="Calibri"/>
              </a:rPr>
              <a:t>Any</a:t>
            </a:r>
            <a:r>
              <a:rPr sz="4000" dirty="0">
                <a:solidFill>
                  <a:srgbClr val="000000"/>
                </a:solidFill>
                <a:latin typeface="Calibri"/>
                <a:cs typeface="Calibri"/>
              </a:rPr>
              <a:t> Questions?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862</TotalTime>
  <Words>1629</Words>
  <Application>Microsoft Office PowerPoint</Application>
  <PresentationFormat>Widescreen</PresentationFormat>
  <Paragraphs>222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Calibri</vt:lpstr>
      <vt:lpstr>Calibri Light</vt:lpstr>
      <vt:lpstr>GCRJEC+Wingdings</vt:lpstr>
      <vt:lpstr>Arial</vt:lpstr>
      <vt:lpstr>Times New Roman</vt:lpstr>
      <vt:lpstr>Theme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cp:lastModifiedBy>Muhammad waseem</cp:lastModifiedBy>
  <cp:revision>6</cp:revision>
  <dcterms:modified xsi:type="dcterms:W3CDTF">2025-10-17T09:49:45Z</dcterms:modified>
</cp:coreProperties>
</file>