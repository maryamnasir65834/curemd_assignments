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9" r:id="rId1"/>
  </p:sldMasterIdLst>
  <p:notesMasterIdLst>
    <p:notesMasterId r:id="rId59"/>
  </p:notesMasterIdLst>
  <p:handoutMasterIdLst>
    <p:handoutMasterId r:id="rId60"/>
  </p:handoutMasterIdLst>
  <p:sldIdLst>
    <p:sldId id="409" r:id="rId2"/>
    <p:sldId id="410" r:id="rId3"/>
    <p:sldId id="411" r:id="rId4"/>
    <p:sldId id="412" r:id="rId5"/>
    <p:sldId id="413" r:id="rId6"/>
    <p:sldId id="414" r:id="rId7"/>
    <p:sldId id="415" r:id="rId8"/>
    <p:sldId id="454" r:id="rId9"/>
    <p:sldId id="456" r:id="rId10"/>
    <p:sldId id="416" r:id="rId11"/>
    <p:sldId id="453" r:id="rId12"/>
    <p:sldId id="417" r:id="rId13"/>
    <p:sldId id="418" r:id="rId14"/>
    <p:sldId id="419" r:id="rId15"/>
    <p:sldId id="420" r:id="rId16"/>
    <p:sldId id="421" r:id="rId17"/>
    <p:sldId id="422" r:id="rId18"/>
    <p:sldId id="458" r:id="rId19"/>
    <p:sldId id="423" r:id="rId20"/>
    <p:sldId id="424" r:id="rId21"/>
    <p:sldId id="425" r:id="rId22"/>
    <p:sldId id="426" r:id="rId23"/>
    <p:sldId id="427" r:id="rId24"/>
    <p:sldId id="437" r:id="rId25"/>
    <p:sldId id="438" r:id="rId26"/>
    <p:sldId id="439" r:id="rId27"/>
    <p:sldId id="440" r:id="rId28"/>
    <p:sldId id="465" r:id="rId29"/>
    <p:sldId id="466" r:id="rId30"/>
    <p:sldId id="468" r:id="rId31"/>
    <p:sldId id="469" r:id="rId32"/>
    <p:sldId id="471" r:id="rId33"/>
    <p:sldId id="472" r:id="rId34"/>
    <p:sldId id="475" r:id="rId35"/>
    <p:sldId id="477" r:id="rId36"/>
    <p:sldId id="478" r:id="rId37"/>
    <p:sldId id="479" r:id="rId38"/>
    <p:sldId id="480" r:id="rId39"/>
    <p:sldId id="481" r:id="rId40"/>
    <p:sldId id="482" r:id="rId41"/>
    <p:sldId id="483" r:id="rId42"/>
    <p:sldId id="484" r:id="rId43"/>
    <p:sldId id="485" r:id="rId44"/>
    <p:sldId id="486" r:id="rId45"/>
    <p:sldId id="487" r:id="rId46"/>
    <p:sldId id="488" r:id="rId47"/>
    <p:sldId id="489" r:id="rId48"/>
    <p:sldId id="490" r:id="rId49"/>
    <p:sldId id="492" r:id="rId50"/>
    <p:sldId id="493" r:id="rId51"/>
    <p:sldId id="494" r:id="rId52"/>
    <p:sldId id="495" r:id="rId53"/>
    <p:sldId id="496" r:id="rId54"/>
    <p:sldId id="497" r:id="rId55"/>
    <p:sldId id="498" r:id="rId56"/>
    <p:sldId id="499" r:id="rId57"/>
    <p:sldId id="500" r:id="rId58"/>
  </p:sldIdLst>
  <p:sldSz cx="9144000" cy="5143500" type="screen16x9"/>
  <p:notesSz cx="6845300" cy="93964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001D"/>
    <a:srgbClr val="A40508"/>
    <a:srgbClr val="A50021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18" autoAdjust="0"/>
    <p:restoredTop sz="86851" autoAdjust="0"/>
  </p:normalViewPr>
  <p:slideViewPr>
    <p:cSldViewPr>
      <p:cViewPr varScale="1">
        <p:scale>
          <a:sx n="98" d="100"/>
          <a:sy n="98" d="100"/>
        </p:scale>
        <p:origin x="667" y="8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-2224" y="-112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fld id="{8A029216-D615-3945-A1F3-D96FC886DA6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263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513" y="704850"/>
            <a:ext cx="6264275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08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08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EB9031F-EB71-7642-8F3C-6FDC1408CB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73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1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879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5EBA51-E221-6F4B-9ECF-31AD9B977258}" type="slidenum">
              <a:rPr lang="en-US"/>
              <a:pPr/>
              <a:t>2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938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19174B-7304-3A45-9ED1-3169AE6E584D}" type="slidenum">
              <a:rPr lang="en-US"/>
              <a:pPr/>
              <a:t>3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92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651CC7-184B-FE41-B411-1713AAE7DA86}" type="slidenum">
              <a:rPr lang="en-US"/>
              <a:pPr/>
              <a:t>4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2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9EE444-6282-C242-93C0-393321149F9D}" type="slidenum">
              <a:rPr lang="en-US"/>
              <a:pPr/>
              <a:t>5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28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2pPr>
            <a:lvl3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3pPr>
            <a:lvl4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4pPr>
            <a:lvl5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2DBBC272-86A8-B54C-AFFC-48DBE25965CF}" type="slidenum">
              <a:rPr lang="en-US" sz="1200">
                <a:solidFill>
                  <a:schemeClr val="tx1"/>
                </a:solidFill>
                <a:latin typeface="Times New Roman" charset="0"/>
              </a:rPr>
              <a:pPr eaLnBrk="1" hangingPunct="1"/>
              <a:t>8</a:t>
            </a:fld>
            <a:endParaRPr lang="en-US" sz="120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960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2pPr>
            <a:lvl3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3pPr>
            <a:lvl4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4pPr>
            <a:lvl5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D86BE477-4654-8746-8CBD-AE3C40EAA3DF}" type="slidenum">
              <a:rPr lang="en-US" sz="1200">
                <a:solidFill>
                  <a:schemeClr val="tx1"/>
                </a:solidFill>
                <a:latin typeface="Times New Roman" charset="0"/>
              </a:rPr>
              <a:pPr eaLnBrk="1" hangingPunct="1"/>
              <a:t>9</a:t>
            </a:fld>
            <a:endParaRPr lang="en-US" sz="120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75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11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175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A3B974-C2D4-8B41-AE93-F0BDF356406D}" type="slidenum">
              <a:rPr lang="en-US"/>
              <a:pPr/>
              <a:t>14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7658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54C909-A1CF-2E43-AF34-84A05567BE64}" type="slidenum">
              <a:rPr lang="en-US"/>
              <a:pPr/>
              <a:t>15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1784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A3B974-C2D4-8B41-AE93-F0BDF356406D}" type="slidenum">
              <a:rPr lang="en-US"/>
              <a:pPr/>
              <a:t>16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6717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AD5FB1-F71F-D44B-8F15-528B3F5166D9}" type="slidenum">
              <a:rPr lang="en-US"/>
              <a:pPr/>
              <a:t>17</a:t>
            </a:fld>
            <a:endParaRPr lang="en-US"/>
          </a:p>
        </p:txBody>
      </p:sp>
      <p:sp>
        <p:nvSpPr>
          <p:cNvPr id="890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723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18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912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19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41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3C6E27-0B5E-554F-99E3-D944B2DAB7CD}" type="slidenum">
              <a:rPr lang="en-US"/>
              <a:pPr/>
              <a:t>20</a:t>
            </a:fld>
            <a:endParaRPr lang="en-US"/>
          </a:p>
        </p:txBody>
      </p:sp>
      <p:sp>
        <p:nvSpPr>
          <p:cNvPr id="9113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0518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A3B974-C2D4-8B41-AE93-F0BDF356406D}" type="slidenum">
              <a:rPr lang="en-US"/>
              <a:pPr/>
              <a:t>21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457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24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6336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3C518A-BCD5-5640-854E-370E2A1D0B53}" type="slidenum">
              <a:rPr lang="en-US"/>
              <a:pPr/>
              <a:t>25</a:t>
            </a:fld>
            <a:endParaRPr lang="en-US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3511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Change Management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http://www.ahrq.gov/professionals/education/curriculum-tools/teamstepps/longtermcare/module8/igltcchangemgmt.pptx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6DE9-3BAB-43D7-A8E2-A1DD2A558FC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850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Change Management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http://www.ahrq.gov/professionals/education/curriculum-tools/teamstepps/longtermcare/module8/igltcchangemgmt.pptx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6DE9-3BAB-43D7-A8E2-A1DD2A558FC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850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Change Management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http://www.ahrq.gov/professionals/education/curriculum-tools/teamstepps/longtermcare/module8/igltcchangemgmt.pptx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6DE9-3BAB-43D7-A8E2-A1DD2A558FC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850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Change Management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http://www.ahrq.gov/professionals/education/curriculum-tools/teamstepps/longtermcare/module8/igltcchangemgmt.pptx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6DE9-3BAB-43D7-A8E2-A1DD2A558FCA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850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Change Management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http://www.ahrq.gov/professionals/education/curriculum-tools/teamstepps/longtermcare/module8/igltcchangemgmt.pptx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6DE9-3BAB-43D7-A8E2-A1DD2A558FCA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880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Change Management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http://www.ahrq.gov/professionals/education/curriculum-tools/teamstepps/longtermcare/module8/igltcchangemgmt.pptx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6DE9-3BAB-43D7-A8E2-A1DD2A558FC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850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Change Management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http://www.ahrq.gov/professionals/education/curriculum-tools/teamstepps/longtermcare/module8/igltcchangemgmt.pptx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6DE9-3BAB-43D7-A8E2-A1DD2A558FCA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850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Change Management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http://www.ahrq.gov/professionals/education/curriculum-tools/teamstepps/longtermcare/module8/igltcchangemgmt.pptx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6DE9-3BAB-43D7-A8E2-A1DD2A558FCA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7090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Change Management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http://www.ahrq.gov/professionals/education/curriculum-tools/teamstepps/longtermcare/module8/igltcchangemgmt.pptx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6DE9-3BAB-43D7-A8E2-A1DD2A558FCA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7090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Change Management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http://www.ahrq.gov/professionals/education/curriculum-tools/teamstepps/longtermcare/module8/igltcchangemgmt.pptx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6DE9-3BAB-43D7-A8E2-A1DD2A558FCA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850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Change Management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http://www.ahrq.gov/professionals/education/curriculum-tools/teamstepps/longtermcare/module8/igltcchangemgmt.pptx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6DE9-3BAB-43D7-A8E2-A1DD2A558FCA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850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Change Management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http://www.ahrq.gov/professionals/education/curriculum-tools/teamstepps/longtermcare/module8/igltcchangemgmt.pptx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6DE9-3BAB-43D7-A8E2-A1DD2A558FCA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850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Change Management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http://www.ahrq.gov/professionals/education/curriculum-tools/teamstepps/longtermcare/module8/igltcchangemgmt.pptx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6DE9-3BAB-43D7-A8E2-A1DD2A558FCA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850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Change Management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http://www.ahrq.gov/professionals/education/curriculum-tools/teamstepps/longtermcare/module8/igltcchangemgmt.pptx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6DE9-3BAB-43D7-A8E2-A1DD2A558FCA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850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Change Management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http://www.ahrq.gov/professionals/education/curriculum-tools/teamstepps/longtermcare/module8/igltcchangemgmt.pptx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6DE9-3BAB-43D7-A8E2-A1DD2A558FCA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8501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Change Management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http://www.ahrq.gov/professionals/education/curriculum-tools/teamstepps/longtermcare/module8/igltcchangemgmt.pptx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6DE9-3BAB-43D7-A8E2-A1DD2A558FCA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850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Change Management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http://www.ahrq.gov/professionals/education/curriculum-tools/teamstepps/longtermcare/module8/igltcchangemgmt.pptx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6DE9-3BAB-43D7-A8E2-A1DD2A558FCA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850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Change Management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http://www.ahrq.gov/professionals/education/curriculum-tools/teamstepps/longtermcare/module8/igltcchangemgmt.pptx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6DE9-3BAB-43D7-A8E2-A1DD2A558FCA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8501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Change Management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http://www.ahrq.gov/professionals/education/curriculum-tools/teamstepps/longtermcare/module8/igltcchangemgmt.pptx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6DE9-3BAB-43D7-A8E2-A1DD2A558FCA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8501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Change Management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http://www.ahrq.gov/professionals/education/curriculum-tools/teamstepps/longtermcare/module8/igltcchangemgmt.pptx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6DE9-3BAB-43D7-A8E2-A1DD2A558FCA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8501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Change Management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http://www.ahrq.gov/professionals/education/curriculum-tools/teamstepps/longtermcare/module8/igltcchangemgmt.pptx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6DE9-3BAB-43D7-A8E2-A1DD2A558FCA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8501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Change Management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http://www.ahrq.gov/professionals/education/curriculum-tools/teamstepps/longtermcare/module8/igltcchangemgmt.pptx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6DE9-3BAB-43D7-A8E2-A1DD2A558FCA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8501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Change Management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http://www.ahrq.gov/professionals/education/curriculum-tools/teamstepps/longtermcare/module8/igltcchangemgmt.pptx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6DE9-3BAB-43D7-A8E2-A1DD2A558FCA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8501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Change Management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http://www.ahrq.gov/professionals/education/curriculum-tools/teamstepps/longtermcare/module8/igltcchangemgmt.pptx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6DE9-3BAB-43D7-A8E2-A1DD2A558FCA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8501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Change Management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http://www.ahrq.gov/professionals/education/curriculum-tools/teamstepps/longtermcare/module8/igltcchangemgmt.pptx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6DE9-3BAB-43D7-A8E2-A1DD2A558FCA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8501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Change Management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http://www.ahrq.gov/professionals/education/curriculum-tools/teamstepps/longtermcare/module8/igltcchangemgmt.pptx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6DE9-3BAB-43D7-A8E2-A1DD2A558FCA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8501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Change Management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http://www.ahrq.gov/professionals/education/curriculum-tools/teamstepps/longtermcare/module8/igltcchangemgmt.pptx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6DE9-3BAB-43D7-A8E2-A1DD2A558FCA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8501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Change Management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http://www.ahrq.gov/professionals/education/curriculum-tools/teamstepps/longtermcare/module8/igltcchangemgmt.pptx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6DE9-3BAB-43D7-A8E2-A1DD2A558FCA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8501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Change Management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http://www.ahrq.gov/professionals/education/curriculum-tools/teamstepps/longtermcare/module8/igltcchangemgmt.pptx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6DE9-3BAB-43D7-A8E2-A1DD2A558FCA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85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0" y="510778"/>
            <a:ext cx="3890964" cy="1298972"/>
          </a:xfrm>
        </p:spPr>
        <p:txBody>
          <a:bodyPr/>
          <a:lstStyle>
            <a:lvl1pPr algn="ctr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0" y="2876550"/>
            <a:ext cx="3886200" cy="1676400"/>
          </a:xfrm>
        </p:spPr>
        <p:txBody>
          <a:bodyPr/>
          <a:lstStyle>
            <a:lvl1pPr marL="0" indent="0" algn="ctr">
              <a:spcBef>
                <a:spcPts val="900"/>
              </a:spcBef>
              <a:buFont typeface="Times" pitchFamily="-65" charset="0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239000" y="4705350"/>
            <a:ext cx="1219200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334000" y="4705350"/>
            <a:ext cx="1905000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0" y="4705350"/>
            <a:ext cx="765174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74C7FEE-6B48-4643-BCFB-F13B0E13E171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211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8534400" cy="3333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0480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F35DC5-7E65-8247-99AB-4E984F8A921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17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2BDC8F-D922-0A4E-AAA0-9C7D97FF3D7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3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3810000" cy="33718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314450"/>
            <a:ext cx="3810000" cy="33718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0960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667000" y="468630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C7A63A-31A1-2C4C-95AA-A445DBCAB17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913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53728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733550"/>
            <a:ext cx="4040188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2626" y="1253728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2626" y="1733550"/>
            <a:ext cx="4041775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2484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1C68C3-6089-F349-9232-42643877B0C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275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BC7101-16EA-C942-850C-355264FDE9E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628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28E5E2-1321-4548-96C8-615581C5A8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78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750"/>
            <a:ext cx="3008313" cy="871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343150"/>
            <a:ext cx="3008313" cy="225147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729988-E849-C549-AA67-252EA40F09C2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3127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7882B1-C6D6-A945-BB8B-B7B1B12471B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46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DFA8D9-15F1-AF4D-8149-0C26EB27AC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83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9450" y="285750"/>
            <a:ext cx="2114550" cy="44005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5750"/>
            <a:ext cx="6191250" cy="4400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57BED9-9427-674C-8047-314E304C86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081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3057525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43D734-B240-FB4D-AF6E-6869FD66910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300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Narrow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6858000" cy="3333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51816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2860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F35DC5-7E65-8247-99AB-4E984F8A921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7706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381000"/>
            <a:ext cx="7467600" cy="74295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52550"/>
            <a:ext cx="7772400" cy="333375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480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0" y="4705350"/>
            <a:ext cx="19812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0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43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0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" y="4705350"/>
            <a:ext cx="19812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+mn-lt"/>
              </a:defRPr>
            </a:lvl1pPr>
          </a:lstStyle>
          <a:p>
            <a:fld id="{91F816EA-24CC-2048-859A-C5EA9F27539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1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ＭＳ Ｐゴシック" pitchFamily="-65" charset="-128"/>
          <a:cs typeface="ＭＳ Ｐゴシック" pitchFamily="-65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ＭＳ Ｐゴシック" pitchFamily="-65" charset="-128"/>
          <a:cs typeface="ＭＳ Ｐゴシック" pitchFamily="-65" charset="-128"/>
        </a:defRPr>
      </a:lvl1pPr>
      <a:lvl2pPr marL="685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2pPr>
      <a:lvl3pPr marL="10287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3pPr>
      <a:lvl4pPr marL="1371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imes" charset="0"/>
        <a:buChar char="•"/>
        <a:defRPr>
          <a:solidFill>
            <a:schemeClr val="tx1"/>
          </a:solidFill>
          <a:latin typeface="+mn-lt"/>
          <a:ea typeface="ＭＳ Ｐゴシック" pitchFamily="-65" charset="-128"/>
        </a:defRPr>
      </a:lvl4pPr>
      <a:lvl5pPr marL="17145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>
          <a:solidFill>
            <a:schemeClr val="tx1"/>
          </a:solidFill>
          <a:latin typeface="+mn-lt"/>
          <a:ea typeface="ＭＳ Ｐゴシック" pitchFamily="-65" charset="-128"/>
        </a:defRPr>
      </a:lvl5pPr>
      <a:lvl6pPr marL="21717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6pPr>
      <a:lvl7pPr marL="26289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7pPr>
      <a:lvl8pPr marL="30861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8pPr>
      <a:lvl9pPr marL="35433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0" y="510778"/>
            <a:ext cx="4800600" cy="1298972"/>
          </a:xfrm>
        </p:spPr>
        <p:txBody>
          <a:bodyPr/>
          <a:lstStyle/>
          <a:p>
            <a:r>
              <a:rPr lang="en-US" sz="4400" dirty="0"/>
              <a:t>Minimum Edit Distance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43400" y="2286000"/>
            <a:ext cx="4267200" cy="1714500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3200" dirty="0">
                <a:solidFill>
                  <a:srgbClr val="A50021"/>
                </a:solidFill>
                <a:latin typeface="Calibri" charset="0"/>
              </a:rPr>
              <a:t>Definition of Minimum Edit Distance</a:t>
            </a:r>
            <a:endParaRPr lang="en-US" sz="3200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233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How similar are two strings?</a:t>
            </a:r>
            <a:endParaRPr lang="en-US" dirty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352550"/>
            <a:ext cx="3886200" cy="3429000"/>
          </a:xfrm>
        </p:spPr>
        <p:txBody>
          <a:bodyPr/>
          <a:lstStyle/>
          <a:p>
            <a:r>
              <a:rPr lang="en-US" dirty="0"/>
              <a:t>Spell correction</a:t>
            </a:r>
          </a:p>
          <a:p>
            <a:pPr lvl="1"/>
            <a:r>
              <a:rPr lang="en-US" dirty="0"/>
              <a:t>The user typed “</a:t>
            </a:r>
            <a:r>
              <a:rPr lang="en-US" dirty="0" err="1"/>
              <a:t>graffe</a:t>
            </a:r>
            <a:r>
              <a:rPr lang="en-US" dirty="0"/>
              <a:t>”</a:t>
            </a:r>
          </a:p>
          <a:p>
            <a:pPr marL="457200" lvl="1" indent="0">
              <a:buNone/>
            </a:pPr>
            <a:r>
              <a:rPr lang="en-US" dirty="0"/>
              <a:t>Which is closest? </a:t>
            </a:r>
          </a:p>
          <a:p>
            <a:pPr lvl="2">
              <a:lnSpc>
                <a:spcPct val="80000"/>
              </a:lnSpc>
            </a:pPr>
            <a:r>
              <a:rPr lang="en-US" dirty="0" err="1"/>
              <a:t>graf</a:t>
            </a:r>
            <a:endParaRPr lang="en-US" dirty="0"/>
          </a:p>
          <a:p>
            <a:pPr lvl="2">
              <a:lnSpc>
                <a:spcPct val="80000"/>
              </a:lnSpc>
            </a:pPr>
            <a:r>
              <a:rPr lang="en-US" dirty="0"/>
              <a:t>graft</a:t>
            </a:r>
          </a:p>
          <a:p>
            <a:pPr lvl="2">
              <a:lnSpc>
                <a:spcPct val="80000"/>
              </a:lnSpc>
            </a:pPr>
            <a:r>
              <a:rPr lang="en-US" dirty="0"/>
              <a:t>grail</a:t>
            </a:r>
          </a:p>
          <a:p>
            <a:pPr lvl="2">
              <a:lnSpc>
                <a:spcPct val="80000"/>
              </a:lnSpc>
            </a:pPr>
            <a:r>
              <a:rPr lang="en-US" dirty="0"/>
              <a:t>giraffe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657600" y="1352550"/>
            <a:ext cx="5257800" cy="2743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r>
              <a:rPr lang="en-US" dirty="0"/>
              <a:t>Computational Biology</a:t>
            </a:r>
          </a:p>
          <a:p>
            <a:pPr lvl="1"/>
            <a:r>
              <a:rPr lang="en-US" dirty="0"/>
              <a:t>Align two sequences of nucleotides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Resulting alignment: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81000" y="4248150"/>
            <a:ext cx="8534400" cy="6858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r>
              <a:rPr lang="en-US" sz="2000" dirty="0"/>
              <a:t>Also for Machine Translation, Information Extraction, Speech Recognition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495800" y="2266950"/>
            <a:ext cx="4342338" cy="58477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AGGCTATCACCTGACCTCCAGGCCGATGCCC</a:t>
            </a:r>
          </a:p>
          <a:p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TAGCTATCACGACCGCGGTCGATTTGCCCGAC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4341934" y="3311664"/>
            <a:ext cx="4802066" cy="70788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-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AG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G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CTATCAC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CT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GACC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T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C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CA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GG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C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CGA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--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TGCCC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---</a:t>
            </a:r>
          </a:p>
          <a:p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T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AG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-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CTATCAC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--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GACC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G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C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--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GG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T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CGA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TT</a:t>
            </a:r>
            <a:r>
              <a:rPr lang="en-US" sz="1600" b="1" dirty="0">
                <a:solidFill>
                  <a:srgbClr val="000066"/>
                </a:solidFill>
                <a:latin typeface="Courier New" charset="0"/>
              </a:rPr>
              <a:t>TGCCC</a:t>
            </a:r>
            <a:r>
              <a:rPr lang="en-US" sz="1600" dirty="0">
                <a:solidFill>
                  <a:srgbClr val="006699"/>
                </a:solidFill>
                <a:latin typeface="Courier New" charset="0"/>
              </a:rPr>
              <a:t>GAC</a:t>
            </a:r>
          </a:p>
        </p:txBody>
      </p:sp>
    </p:spTree>
    <p:extLst>
      <p:ext uri="{BB962C8B-B14F-4D97-AF65-F5344CB8AC3E}">
        <p14:creationId xmlns:p14="http://schemas.microsoft.com/office/powerpoint/2010/main" val="407746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Edit Distance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The minimum edit distance between two strings</a:t>
            </a:r>
          </a:p>
          <a:p>
            <a:r>
              <a:rPr lang="en-US"/>
              <a:t>Is the minimum number of editing operations</a:t>
            </a:r>
          </a:p>
          <a:p>
            <a:pPr lvl="1"/>
            <a:r>
              <a:rPr lang="en-US"/>
              <a:t>Insertion</a:t>
            </a:r>
          </a:p>
          <a:p>
            <a:pPr lvl="1"/>
            <a:r>
              <a:rPr lang="en-US"/>
              <a:t>Deletion</a:t>
            </a:r>
          </a:p>
          <a:p>
            <a:pPr lvl="1"/>
            <a:r>
              <a:rPr lang="en-US"/>
              <a:t>Substitution</a:t>
            </a:r>
          </a:p>
          <a:p>
            <a:r>
              <a:rPr lang="en-US"/>
              <a:t>Needed to transform one into the other</a:t>
            </a:r>
          </a:p>
        </p:txBody>
      </p:sp>
    </p:spTree>
    <p:extLst>
      <p:ext uri="{BB962C8B-B14F-4D97-AF65-F5344CB8AC3E}">
        <p14:creationId xmlns:p14="http://schemas.microsoft.com/office/powerpoint/2010/main" val="2853433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Minimum Edit Distance</a:t>
            </a:r>
          </a:p>
        </p:txBody>
      </p:sp>
      <p:sp>
        <p:nvSpPr>
          <p:cNvPr id="75780" name="Content Placeholder 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Two strings and their </a:t>
            </a:r>
            <a:r>
              <a:rPr lang="en-US" b="1" dirty="0"/>
              <a:t>alignment</a:t>
            </a:r>
            <a:r>
              <a:rPr lang="en-US" dirty="0"/>
              <a:t>:</a:t>
            </a:r>
          </a:p>
        </p:txBody>
      </p:sp>
      <p:pic>
        <p:nvPicPr>
          <p:cNvPr id="5" name="Picture 6" descr="align1.tif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0" y="2038350"/>
            <a:ext cx="52959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98303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Minimum Edit Distance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62000" y="3257550"/>
            <a:ext cx="7924800" cy="1885950"/>
          </a:xfrm>
        </p:spPr>
        <p:txBody>
          <a:bodyPr/>
          <a:lstStyle/>
          <a:p>
            <a:r>
              <a:rPr lang="en-US" dirty="0"/>
              <a:t>If each operation has cost of 1</a:t>
            </a:r>
          </a:p>
          <a:p>
            <a:pPr lvl="1"/>
            <a:r>
              <a:rPr lang="en-US" dirty="0"/>
              <a:t>Distance between these is 5</a:t>
            </a:r>
          </a:p>
          <a:p>
            <a:r>
              <a:rPr lang="en-US" dirty="0"/>
              <a:t>If substitutions cost 2 (</a:t>
            </a:r>
            <a:r>
              <a:rPr lang="en-US" dirty="0" err="1"/>
              <a:t>Levenshtein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Distance between them is 8</a:t>
            </a:r>
          </a:p>
        </p:txBody>
      </p:sp>
      <p:pic>
        <p:nvPicPr>
          <p:cNvPr id="5" name="Picture 4" descr="align2.tif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28800" y="1200150"/>
            <a:ext cx="3644900" cy="2038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3909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Alignment in Computational Biology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8534400" cy="3790950"/>
          </a:xfrm>
        </p:spPr>
        <p:txBody>
          <a:bodyPr/>
          <a:lstStyle/>
          <a:p>
            <a:r>
              <a:rPr lang="en-US" dirty="0"/>
              <a:t>Given a sequence of bases</a:t>
            </a:r>
          </a:p>
          <a:p>
            <a:endParaRPr lang="en-US" dirty="0"/>
          </a:p>
          <a:p>
            <a:pPr marL="0" indent="0">
              <a:lnSpc>
                <a:spcPct val="140000"/>
              </a:lnSpc>
              <a:buNone/>
            </a:pPr>
            <a:endParaRPr lang="en-US" dirty="0"/>
          </a:p>
          <a:p>
            <a:r>
              <a:rPr lang="en-US" dirty="0"/>
              <a:t>An alignment: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Given two sequences, align each letter to a letter or gap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990600" y="3333750"/>
            <a:ext cx="7018418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-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AG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G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CTATCAC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CT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GACC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T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CA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GG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C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CGA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--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TGCCC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---</a:t>
            </a:r>
          </a:p>
          <a:p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T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AG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-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CTATCAC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--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GACC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G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--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GG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T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CGA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TT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TGCCC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GAC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600200" y="1962150"/>
            <a:ext cx="6094938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AGGCTATCACCTGACCTCCAGGCCGATGCCC</a:t>
            </a:r>
          </a:p>
          <a:p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TAGCTATCACGACCGCGGTCGATTTGCCCGAC</a:t>
            </a:r>
          </a:p>
        </p:txBody>
      </p:sp>
    </p:spTree>
    <p:extLst>
      <p:ext uri="{BB962C8B-B14F-4D97-AF65-F5344CB8AC3E}">
        <p14:creationId xmlns:p14="http://schemas.microsoft.com/office/powerpoint/2010/main" val="91610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57150"/>
            <a:ext cx="7467600" cy="742950"/>
          </a:xfrm>
        </p:spPr>
        <p:txBody>
          <a:bodyPr/>
          <a:lstStyle/>
          <a:p>
            <a:r>
              <a:rPr lang="en-US" dirty="0"/>
              <a:t>Other uses of Edit Distance in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504950"/>
            <a:ext cx="8991600" cy="3429000"/>
          </a:xfrm>
        </p:spPr>
        <p:txBody>
          <a:bodyPr/>
          <a:lstStyle/>
          <a:p>
            <a:r>
              <a:rPr lang="en-US" dirty="0"/>
              <a:t>Evaluating Machine Translation and speech recognition</a:t>
            </a:r>
          </a:p>
          <a:p>
            <a:pPr>
              <a:buNone/>
            </a:pPr>
            <a:r>
              <a:rPr lang="en-US" sz="1800" b="1" dirty="0">
                <a:latin typeface="Courier"/>
                <a:cs typeface="Courier"/>
              </a:rPr>
              <a:t>R </a:t>
            </a:r>
            <a:r>
              <a:rPr lang="en-US" sz="1800" dirty="0">
                <a:latin typeface="Courier"/>
                <a:cs typeface="Courier"/>
              </a:rPr>
              <a:t>Spokesman confirms    senior government adviser was shot</a:t>
            </a:r>
          </a:p>
          <a:p>
            <a:pPr>
              <a:buNone/>
            </a:pPr>
            <a:r>
              <a:rPr lang="en-US" sz="1800" b="1" dirty="0">
                <a:latin typeface="Courier"/>
                <a:cs typeface="Courier"/>
              </a:rPr>
              <a:t>H </a:t>
            </a:r>
            <a:r>
              <a:rPr lang="en-US" sz="1800" dirty="0">
                <a:latin typeface="Courier"/>
                <a:cs typeface="Courier"/>
              </a:rPr>
              <a:t>Spokesman said    the senior            adviser was shot dead</a:t>
            </a:r>
          </a:p>
          <a:p>
            <a:pPr>
              <a:buNone/>
            </a:pPr>
            <a:r>
              <a:rPr lang="en-US" sz="1800" dirty="0">
                <a:latin typeface="Courier"/>
                <a:cs typeface="Courier"/>
              </a:rPr>
              <a:t>              S      I              D                        I</a:t>
            </a:r>
          </a:p>
          <a:p>
            <a:r>
              <a:rPr lang="en-US" dirty="0"/>
              <a:t>Named Entity Extraction and Entity </a:t>
            </a:r>
            <a:r>
              <a:rPr lang="en-US" dirty="0" err="1"/>
              <a:t>Coreference</a:t>
            </a:r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IBM Inc</a:t>
            </a:r>
            <a:r>
              <a:rPr lang="en-US" dirty="0"/>
              <a:t>. announced today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IBM </a:t>
            </a:r>
            <a:r>
              <a:rPr lang="en-US" dirty="0"/>
              <a:t>profits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Stanford President John Hennessy </a:t>
            </a:r>
            <a:r>
              <a:rPr lang="en-US" dirty="0"/>
              <a:t>announced yesterday</a:t>
            </a:r>
          </a:p>
          <a:p>
            <a:pPr lvl="1"/>
            <a:r>
              <a:rPr lang="en-US" dirty="0"/>
              <a:t>for </a:t>
            </a:r>
            <a:r>
              <a:rPr lang="en-US" dirty="0">
                <a:solidFill>
                  <a:srgbClr val="FF0000"/>
                </a:solidFill>
              </a:rPr>
              <a:t>Stanford University President John Hennessy</a:t>
            </a:r>
          </a:p>
          <a:p>
            <a:pPr lvl="1"/>
            <a:endParaRPr lang="en-US" dirty="0"/>
          </a:p>
          <a:p>
            <a:pPr>
              <a:buNone/>
            </a:pPr>
            <a:endParaRPr lang="en-US" sz="18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981574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find the Min Edit Distance?</a:t>
            </a:r>
            <a:endParaRPr lang="en-US" dirty="0"/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Searching for a path (sequence of edits) from the start string to the final string:</a:t>
            </a:r>
          </a:p>
          <a:p>
            <a:pPr lvl="1"/>
            <a:r>
              <a:rPr lang="en-US" b="1" dirty="0"/>
              <a:t>Initial state</a:t>
            </a:r>
            <a:r>
              <a:rPr lang="en-US" dirty="0"/>
              <a:t>: the word we’re transforming</a:t>
            </a:r>
          </a:p>
          <a:p>
            <a:pPr lvl="1"/>
            <a:r>
              <a:rPr lang="en-US" b="1" dirty="0"/>
              <a:t>Operators</a:t>
            </a:r>
            <a:r>
              <a:rPr lang="en-US" dirty="0"/>
              <a:t>: insert, delete, substitute</a:t>
            </a:r>
          </a:p>
          <a:p>
            <a:pPr lvl="1"/>
            <a:r>
              <a:rPr lang="en-US" b="1" dirty="0"/>
              <a:t>Goal state</a:t>
            </a:r>
            <a:r>
              <a:rPr lang="en-US" dirty="0"/>
              <a:t>:  the word we’re trying to get to</a:t>
            </a:r>
          </a:p>
          <a:p>
            <a:pPr lvl="1"/>
            <a:r>
              <a:rPr lang="en-US" b="1" dirty="0"/>
              <a:t>Path cost</a:t>
            </a:r>
            <a:r>
              <a:rPr lang="en-US" dirty="0"/>
              <a:t>: what we want to minimize: the number of edits</a:t>
            </a:r>
          </a:p>
          <a:p>
            <a:endParaRPr lang="en-US" dirty="0"/>
          </a:p>
        </p:txBody>
      </p:sp>
      <p:sp>
        <p:nvSpPr>
          <p:cNvPr id="2970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2pPr>
            <a:lvl3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3pPr>
            <a:lvl4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4pPr>
            <a:lvl5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9pPr>
          </a:lstStyle>
          <a:p>
            <a:fld id="{A3CF9962-03DC-2041-84E0-503C14DE85DC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3" descr="inten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638550"/>
            <a:ext cx="5716386" cy="137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415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Minimum Edit as Search</a:t>
            </a:r>
            <a:endParaRPr lang="en-US" dirty="0"/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But the space of all edit sequences is huge!</a:t>
            </a:r>
          </a:p>
          <a:p>
            <a:pPr lvl="1"/>
            <a:r>
              <a:rPr lang="en-US"/>
              <a:t>We can’t afford to navigate naïvely</a:t>
            </a:r>
          </a:p>
          <a:p>
            <a:pPr lvl="1"/>
            <a:r>
              <a:rPr lang="en-US"/>
              <a:t>Lots of distinct paths wind up at the same state.</a:t>
            </a:r>
          </a:p>
          <a:p>
            <a:pPr lvl="2"/>
            <a:r>
              <a:rPr lang="en-US"/>
              <a:t>We don’t have to keep track of all of them</a:t>
            </a:r>
          </a:p>
          <a:p>
            <a:pPr lvl="2"/>
            <a:r>
              <a:rPr lang="en-US"/>
              <a:t>Just the shortest path to each of those revisted states.</a:t>
            </a:r>
          </a:p>
          <a:p>
            <a:endParaRPr lang="en-US" dirty="0"/>
          </a:p>
        </p:txBody>
      </p:sp>
      <p:sp>
        <p:nvSpPr>
          <p:cNvPr id="337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2pPr>
            <a:lvl3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3pPr>
            <a:lvl4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4pPr>
            <a:lvl5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9pPr>
          </a:lstStyle>
          <a:p>
            <a:fld id="{C4191803-DA13-374C-8019-58379243383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63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Min Edit Distance</a:t>
            </a:r>
          </a:p>
        </p:txBody>
      </p:sp>
      <p:sp>
        <p:nvSpPr>
          <p:cNvPr id="80899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800" dirty="0"/>
              <a:t>For two strings</a:t>
            </a:r>
          </a:p>
          <a:p>
            <a:pPr lvl="1"/>
            <a:r>
              <a:rPr lang="en-US" sz="2400" dirty="0"/>
              <a:t>X of length </a:t>
            </a:r>
            <a:r>
              <a:rPr lang="en-US" sz="2400" i="1" dirty="0"/>
              <a:t>n</a:t>
            </a:r>
            <a:r>
              <a:rPr lang="en-US" sz="2400" dirty="0"/>
              <a:t> </a:t>
            </a:r>
          </a:p>
          <a:p>
            <a:pPr lvl="1"/>
            <a:r>
              <a:rPr lang="en-US" sz="2400" dirty="0"/>
              <a:t>Y of length </a:t>
            </a:r>
            <a:r>
              <a:rPr lang="en-US" sz="2400" i="1" dirty="0"/>
              <a:t>m</a:t>
            </a:r>
            <a:endParaRPr lang="en-US" sz="2400" i="1" baseline="-25000" dirty="0"/>
          </a:p>
          <a:p>
            <a:r>
              <a:rPr lang="en-US" sz="2800" dirty="0"/>
              <a:t>We define D(</a:t>
            </a:r>
            <a:r>
              <a:rPr lang="en-US" sz="2800" i="1" dirty="0" err="1"/>
              <a:t>i,j</a:t>
            </a:r>
            <a:r>
              <a:rPr lang="en-US" sz="2800" dirty="0"/>
              <a:t>)</a:t>
            </a:r>
          </a:p>
          <a:p>
            <a:pPr lvl="1"/>
            <a:r>
              <a:rPr lang="en-US" sz="2400" dirty="0"/>
              <a:t>the edit distance between X[1..</a:t>
            </a:r>
            <a:r>
              <a:rPr lang="en-US" sz="2400" i="1" dirty="0"/>
              <a:t>i</a:t>
            </a:r>
            <a:r>
              <a:rPr lang="en-US" sz="2400" dirty="0"/>
              <a:t>] and Y[1..</a:t>
            </a:r>
            <a:r>
              <a:rPr lang="en-US" sz="2400" i="1" dirty="0"/>
              <a:t>j</a:t>
            </a:r>
            <a:r>
              <a:rPr lang="en-US" sz="2400" dirty="0"/>
              <a:t>] </a:t>
            </a:r>
          </a:p>
          <a:p>
            <a:pPr lvl="2"/>
            <a:r>
              <a:rPr lang="en-US" sz="2200" dirty="0"/>
              <a:t>i.e., the first </a:t>
            </a:r>
            <a:r>
              <a:rPr lang="en-US" sz="2200" i="1" dirty="0" err="1"/>
              <a:t>i</a:t>
            </a:r>
            <a:r>
              <a:rPr lang="en-US" sz="2200" dirty="0"/>
              <a:t> characters of X and the first </a:t>
            </a:r>
            <a:r>
              <a:rPr lang="en-US" sz="2200" i="1" dirty="0"/>
              <a:t>j</a:t>
            </a:r>
            <a:r>
              <a:rPr lang="en-US" sz="2200" dirty="0"/>
              <a:t> characters of Y</a:t>
            </a:r>
          </a:p>
          <a:p>
            <a:pPr lvl="1"/>
            <a:r>
              <a:rPr lang="en-US" sz="2400" dirty="0"/>
              <a:t>The edit distance between X and Y is thus D(</a:t>
            </a:r>
            <a:r>
              <a:rPr lang="en-US" sz="2400" i="1" dirty="0" err="1"/>
              <a:t>n,m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56670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0" y="510778"/>
            <a:ext cx="4800600" cy="1298972"/>
          </a:xfrm>
        </p:spPr>
        <p:txBody>
          <a:bodyPr/>
          <a:lstStyle/>
          <a:p>
            <a:r>
              <a:rPr lang="en-US" sz="4400" dirty="0"/>
              <a:t>Minimum Edit Distance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43400" y="2286000"/>
            <a:ext cx="4267200" cy="1714500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3200" dirty="0">
                <a:solidFill>
                  <a:srgbClr val="A50021"/>
                </a:solidFill>
                <a:latin typeface="Calibri" charset="0"/>
              </a:rPr>
              <a:t>Computing Minimum Edit Distance</a:t>
            </a:r>
            <a:endParaRPr lang="en-US" sz="3200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506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Programming for</a:t>
            </a:r>
            <a:br>
              <a:rPr lang="en-US" dirty="0"/>
            </a:br>
            <a:r>
              <a:rPr lang="en-US" dirty="0"/>
              <a:t>Minimum Edit Distance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Dynamic programming</a:t>
            </a:r>
            <a:r>
              <a:rPr lang="en-US" dirty="0"/>
              <a:t>: A tabular computation of D(</a:t>
            </a:r>
            <a:r>
              <a:rPr lang="en-US" i="1" dirty="0" err="1"/>
              <a:t>n,m</a:t>
            </a:r>
            <a:r>
              <a:rPr lang="en-US" dirty="0"/>
              <a:t>)</a:t>
            </a:r>
            <a:endParaRPr lang="en-US" b="1" dirty="0"/>
          </a:p>
          <a:p>
            <a:r>
              <a:rPr lang="en-US" dirty="0"/>
              <a:t>Solving problems by combining solutions to </a:t>
            </a:r>
            <a:r>
              <a:rPr lang="en-US" dirty="0" err="1"/>
              <a:t>subproblems</a:t>
            </a:r>
            <a:r>
              <a:rPr lang="en-US" dirty="0"/>
              <a:t>.</a:t>
            </a:r>
          </a:p>
          <a:p>
            <a:r>
              <a:rPr lang="en-US" dirty="0"/>
              <a:t>Bottom-up</a:t>
            </a:r>
          </a:p>
          <a:p>
            <a:pPr lvl="1"/>
            <a:r>
              <a:rPr lang="en-US" dirty="0"/>
              <a:t>We compute D(</a:t>
            </a:r>
            <a:r>
              <a:rPr lang="en-US" dirty="0" err="1"/>
              <a:t>i,j</a:t>
            </a:r>
            <a:r>
              <a:rPr lang="en-US" dirty="0"/>
              <a:t>) for small </a:t>
            </a:r>
            <a:r>
              <a:rPr lang="en-US" i="1" dirty="0" err="1"/>
              <a:t>i,j</a:t>
            </a:r>
            <a:r>
              <a:rPr lang="en-US" i="1" dirty="0"/>
              <a:t> </a:t>
            </a:r>
          </a:p>
          <a:p>
            <a:pPr lvl="1"/>
            <a:r>
              <a:rPr lang="en-US" dirty="0"/>
              <a:t>And compute larger D(</a:t>
            </a:r>
            <a:r>
              <a:rPr lang="en-US" dirty="0" err="1"/>
              <a:t>i,j</a:t>
            </a:r>
            <a:r>
              <a:rPr lang="en-US" dirty="0"/>
              <a:t>) based on previously computed smaller values</a:t>
            </a:r>
          </a:p>
          <a:p>
            <a:pPr lvl="1"/>
            <a:r>
              <a:rPr lang="en-US" dirty="0"/>
              <a:t>i.e., compute D(</a:t>
            </a:r>
            <a:r>
              <a:rPr lang="en-US" i="1" dirty="0" err="1"/>
              <a:t>i,j</a:t>
            </a:r>
            <a:r>
              <a:rPr lang="en-US" dirty="0"/>
              <a:t>) for all </a:t>
            </a:r>
            <a:r>
              <a:rPr lang="en-US" i="1" dirty="0" err="1"/>
              <a:t>i</a:t>
            </a:r>
            <a:r>
              <a:rPr lang="en-US" dirty="0"/>
              <a:t> (0 &lt; </a:t>
            </a:r>
            <a:r>
              <a:rPr lang="en-US" i="1" dirty="0" err="1"/>
              <a:t>i</a:t>
            </a:r>
            <a:r>
              <a:rPr lang="en-US" dirty="0"/>
              <a:t> &lt; n)  and</a:t>
            </a:r>
            <a:r>
              <a:rPr lang="en-US" i="1" dirty="0"/>
              <a:t> j </a:t>
            </a:r>
            <a:r>
              <a:rPr lang="en-US" dirty="0"/>
              <a:t>(0 &lt; j &lt; m)</a:t>
            </a:r>
          </a:p>
          <a:p>
            <a:endParaRPr lang="en-US" dirty="0"/>
          </a:p>
          <a:p>
            <a:endParaRPr lang="en-US" baseline="-25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072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Min Edit Distance (</a:t>
            </a:r>
            <a:r>
              <a:rPr lang="en-US" dirty="0" err="1"/>
              <a:t>Levenshtein</a:t>
            </a:r>
            <a:r>
              <a:rPr lang="en-US" dirty="0"/>
              <a:t>)</a:t>
            </a:r>
          </a:p>
        </p:txBody>
      </p:sp>
      <p:sp>
        <p:nvSpPr>
          <p:cNvPr id="8192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200150"/>
            <a:ext cx="8763000" cy="3943350"/>
          </a:xfrm>
        </p:spPr>
        <p:txBody>
          <a:bodyPr/>
          <a:lstStyle/>
          <a:p>
            <a:r>
              <a:rPr lang="en-US" sz="2000" dirty="0"/>
              <a:t>Initialization</a:t>
            </a:r>
          </a:p>
          <a:p>
            <a:pPr marL="457200" lvl="1" indent="0">
              <a:buNone/>
            </a:pPr>
            <a:r>
              <a:rPr lang="en-US" sz="1800" dirty="0">
                <a:latin typeface="Courier"/>
                <a:cs typeface="Courier"/>
              </a:rPr>
              <a:t>D(i,0) = </a:t>
            </a:r>
            <a:r>
              <a:rPr lang="en-US" sz="1800" dirty="0" err="1">
                <a:latin typeface="Courier"/>
                <a:cs typeface="Courier"/>
              </a:rPr>
              <a:t>i</a:t>
            </a:r>
            <a:endParaRPr lang="en-US" sz="1800" dirty="0">
              <a:latin typeface="Courier"/>
              <a:cs typeface="Courier"/>
            </a:endParaRPr>
          </a:p>
          <a:p>
            <a:pPr marL="457200" lvl="1" indent="0" algn="just">
              <a:buNone/>
            </a:pPr>
            <a:r>
              <a:rPr lang="en-US" sz="1800" dirty="0">
                <a:latin typeface="Courier"/>
                <a:cs typeface="Courier"/>
              </a:rPr>
              <a:t>D(0,j) = j</a:t>
            </a:r>
            <a:endParaRPr lang="en-US" sz="1800" i="1" dirty="0"/>
          </a:p>
          <a:p>
            <a:pPr algn="just"/>
            <a:r>
              <a:rPr lang="en-US" sz="2000" dirty="0"/>
              <a:t>Recurrence Relation</a:t>
            </a:r>
            <a:r>
              <a:rPr lang="en-US" sz="2000" i="1" dirty="0"/>
              <a:t>:</a:t>
            </a:r>
          </a:p>
          <a:p>
            <a:pPr marL="457200" lvl="1" indent="0">
              <a:lnSpc>
                <a:spcPct val="80000"/>
              </a:lnSpc>
              <a:buClr>
                <a:srgbClr val="000066"/>
              </a:buClr>
              <a:buNone/>
            </a:pPr>
            <a:r>
              <a:rPr lang="en-US" sz="1800" dirty="0">
                <a:latin typeface="Courier"/>
                <a:cs typeface="Courier"/>
              </a:rPr>
              <a:t>For each  </a:t>
            </a:r>
            <a:r>
              <a:rPr lang="en-US" sz="1800" dirty="0" err="1">
                <a:latin typeface="Courier"/>
                <a:cs typeface="Courier"/>
              </a:rPr>
              <a:t>i</a:t>
            </a:r>
            <a:r>
              <a:rPr lang="en-US" sz="1800" dirty="0">
                <a:latin typeface="Courier"/>
                <a:cs typeface="Courier"/>
              </a:rPr>
              <a:t> = 1…M</a:t>
            </a:r>
          </a:p>
          <a:p>
            <a:pPr marL="990600" lvl="1" indent="-533400">
              <a:lnSpc>
                <a:spcPct val="80000"/>
              </a:lnSpc>
              <a:buClr>
                <a:srgbClr val="000066"/>
              </a:buClr>
              <a:buFontTx/>
              <a:buNone/>
            </a:pPr>
            <a:r>
              <a:rPr lang="en-US" sz="1800" dirty="0">
                <a:latin typeface="Courier"/>
                <a:cs typeface="Courier"/>
              </a:rPr>
              <a:t>	  For each  j = 1…N</a:t>
            </a:r>
            <a:endParaRPr lang="en-US" sz="2000" i="1" dirty="0"/>
          </a:p>
          <a:p>
            <a:pPr lvl="1" algn="just">
              <a:buFont typeface="Wingdings" charset="2"/>
              <a:buNone/>
            </a:pPr>
            <a:r>
              <a:rPr lang="en-US" sz="1800" i="1" dirty="0">
                <a:latin typeface="Courier"/>
                <a:cs typeface="Courier"/>
              </a:rPr>
              <a:t>                        </a:t>
            </a:r>
            <a:r>
              <a:rPr lang="en-US" sz="1800" dirty="0">
                <a:latin typeface="Courier"/>
                <a:cs typeface="Courier"/>
              </a:rPr>
              <a:t>D(i-1,j) + 1</a:t>
            </a:r>
          </a:p>
          <a:p>
            <a:pPr marL="457200" lvl="1" indent="0" algn="just">
              <a:buNone/>
            </a:pPr>
            <a:r>
              <a:rPr lang="en-US" sz="1800" dirty="0">
                <a:latin typeface="Courier"/>
                <a:cs typeface="Courier"/>
              </a:rPr>
              <a:t>          D(</a:t>
            </a:r>
            <a:r>
              <a:rPr lang="en-US" sz="1800" dirty="0" err="1">
                <a:latin typeface="Courier"/>
                <a:cs typeface="Courier"/>
              </a:rPr>
              <a:t>i,j</a:t>
            </a:r>
            <a:r>
              <a:rPr lang="en-US" sz="1800" dirty="0">
                <a:latin typeface="Courier"/>
                <a:cs typeface="Courier"/>
              </a:rPr>
              <a:t>)= min   D(i,j-1) + 1</a:t>
            </a:r>
          </a:p>
          <a:p>
            <a:pPr lvl="1" algn="just">
              <a:buFont typeface="Wingdings" charset="2"/>
              <a:buNone/>
            </a:pPr>
            <a:r>
              <a:rPr lang="en-US" sz="1800" dirty="0">
                <a:latin typeface="Courier"/>
                <a:cs typeface="Courier"/>
              </a:rPr>
              <a:t>                        D(i-1,j-1) +   2; if X(</a:t>
            </a:r>
            <a:r>
              <a:rPr lang="en-US" sz="1800" dirty="0" err="1">
                <a:latin typeface="Courier"/>
                <a:cs typeface="Courier"/>
              </a:rPr>
              <a:t>i</a:t>
            </a:r>
            <a:r>
              <a:rPr lang="en-US" sz="1800" dirty="0">
                <a:latin typeface="Courier"/>
                <a:cs typeface="Courier"/>
              </a:rPr>
              <a:t>) ≠ Y(j)   </a:t>
            </a:r>
          </a:p>
          <a:p>
            <a:pPr lvl="1" algn="just">
              <a:buFont typeface="Wingdings" charset="2"/>
              <a:buNone/>
            </a:pPr>
            <a:r>
              <a:rPr lang="en-US" sz="1800" dirty="0">
                <a:latin typeface="Courier"/>
                <a:cs typeface="Courier"/>
              </a:rPr>
              <a:t>                                       0; if X(</a:t>
            </a:r>
            <a:r>
              <a:rPr lang="en-US" sz="1800" dirty="0" err="1">
                <a:latin typeface="Courier"/>
                <a:cs typeface="Courier"/>
              </a:rPr>
              <a:t>i</a:t>
            </a:r>
            <a:r>
              <a:rPr lang="en-US" sz="1800" dirty="0">
                <a:latin typeface="Courier"/>
                <a:cs typeface="Courier"/>
              </a:rPr>
              <a:t>) = Y(j)</a:t>
            </a:r>
          </a:p>
          <a:p>
            <a:pPr algn="just">
              <a:lnSpc>
                <a:spcPct val="70000"/>
              </a:lnSpc>
            </a:pPr>
            <a:r>
              <a:rPr lang="en-US" sz="2000" dirty="0"/>
              <a:t>Termination</a:t>
            </a:r>
            <a:r>
              <a:rPr lang="en-US" sz="2000" i="1" dirty="0"/>
              <a:t>:</a:t>
            </a:r>
          </a:p>
          <a:p>
            <a:pPr lvl="1" algn="just">
              <a:buFont typeface="Wingdings" charset="2"/>
              <a:buNone/>
            </a:pPr>
            <a:r>
              <a:rPr lang="en-US" sz="1800" dirty="0">
                <a:latin typeface="Courier"/>
                <a:cs typeface="Courier"/>
              </a:rPr>
              <a:t>D(N,M) is distance </a:t>
            </a:r>
          </a:p>
          <a:p>
            <a:pPr lvl="1" algn="just">
              <a:buFont typeface="Wingdings" charset="2"/>
              <a:buNone/>
            </a:pPr>
            <a:endParaRPr lang="en-US" sz="2800" dirty="0">
              <a:latin typeface="Courier"/>
              <a:cs typeface="Courier"/>
            </a:endParaRPr>
          </a:p>
        </p:txBody>
      </p:sp>
      <p:sp>
        <p:nvSpPr>
          <p:cNvPr id="9" name="AutoShape 5"/>
          <p:cNvSpPr>
            <a:spLocks/>
          </p:cNvSpPr>
          <p:nvPr/>
        </p:nvSpPr>
        <p:spPr bwMode="auto">
          <a:xfrm>
            <a:off x="5715000" y="3486150"/>
            <a:ext cx="228600" cy="990600"/>
          </a:xfrm>
          <a:prstGeom prst="leftBrace">
            <a:avLst>
              <a:gd name="adj1" fmla="val 37516"/>
              <a:gd name="adj2" fmla="val 50000"/>
            </a:avLst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400">
              <a:solidFill>
                <a:srgbClr val="000066"/>
              </a:solidFill>
              <a:latin typeface="Times New Roman" charset="0"/>
            </a:endParaRPr>
          </a:p>
        </p:txBody>
      </p:sp>
      <p:sp>
        <p:nvSpPr>
          <p:cNvPr id="6" name="AutoShape 5"/>
          <p:cNvSpPr>
            <a:spLocks/>
          </p:cNvSpPr>
          <p:nvPr/>
        </p:nvSpPr>
        <p:spPr bwMode="auto">
          <a:xfrm>
            <a:off x="3657600" y="3181350"/>
            <a:ext cx="228600" cy="990600"/>
          </a:xfrm>
          <a:prstGeom prst="leftBrace">
            <a:avLst>
              <a:gd name="adj1" fmla="val 37516"/>
              <a:gd name="adj2" fmla="val 50000"/>
            </a:avLst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400" dirty="0">
              <a:solidFill>
                <a:srgbClr val="000066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567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7906" name="Group 2"/>
          <p:cNvGraphicFramePr>
            <a:graphicFrameLocks noGrp="1"/>
          </p:cNvGraphicFramePr>
          <p:nvPr/>
        </p:nvGraphicFramePr>
        <p:xfrm>
          <a:off x="1066800" y="1233487"/>
          <a:ext cx="6934200" cy="3395663"/>
        </p:xfrm>
        <a:graphic>
          <a:graphicData uri="http://schemas.openxmlformats.org/drawingml/2006/table">
            <a:tbl>
              <a:tblPr/>
              <a:tblGrid>
                <a:gridCol w="630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C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U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411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Edit Distance Table</a:t>
            </a:r>
          </a:p>
        </p:txBody>
      </p:sp>
    </p:spTree>
    <p:extLst>
      <p:ext uri="{BB962C8B-B14F-4D97-AF65-F5344CB8AC3E}">
        <p14:creationId xmlns:p14="http://schemas.microsoft.com/office/powerpoint/2010/main" val="137603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9954" name="Group 2"/>
          <p:cNvGraphicFramePr>
            <a:graphicFrameLocks noGrp="1"/>
          </p:cNvGraphicFramePr>
          <p:nvPr/>
        </p:nvGraphicFramePr>
        <p:xfrm>
          <a:off x="990600" y="1028700"/>
          <a:ext cx="6934200" cy="3852863"/>
        </p:xfrm>
        <a:graphic>
          <a:graphicData uri="http://schemas.openxmlformats.org/drawingml/2006/table">
            <a:tbl>
              <a:tblPr/>
              <a:tblGrid>
                <a:gridCol w="630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C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U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6164" name="Line 149"/>
          <p:cNvSpPr>
            <a:spLocks noChangeShapeType="1"/>
          </p:cNvSpPr>
          <p:nvPr/>
        </p:nvSpPr>
        <p:spPr bwMode="auto">
          <a:xfrm flipH="1">
            <a:off x="2514600" y="3086100"/>
            <a:ext cx="457200" cy="971550"/>
          </a:xfrm>
          <a:prstGeom prst="line">
            <a:avLst/>
          </a:prstGeom>
          <a:noFill/>
          <a:ln w="50800">
            <a:solidFill>
              <a:srgbClr val="A5002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5" descr="rec2.tif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14600" y="1657350"/>
            <a:ext cx="4281923" cy="1265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2"/>
          <p:cNvSpPr txBox="1">
            <a:spLocks/>
          </p:cNvSpPr>
          <p:nvPr/>
        </p:nvSpPr>
        <p:spPr>
          <a:xfrm>
            <a:off x="1371600" y="381000"/>
            <a:ext cx="7467600" cy="74295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ＭＳ Ｐゴシック" pitchFamily="-65" charset="-128"/>
                <a:cs typeface="ＭＳ Ｐゴシック" pitchFamily="-65" charset="-128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</a:defRPr>
            </a:lvl9pPr>
          </a:lstStyle>
          <a:p>
            <a:r>
              <a:rPr lang="en-US"/>
              <a:t>The Edit Distance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918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7906" name="Group 2"/>
          <p:cNvGraphicFramePr>
            <a:graphicFrameLocks noGrp="1"/>
          </p:cNvGraphicFramePr>
          <p:nvPr/>
        </p:nvGraphicFramePr>
        <p:xfrm>
          <a:off x="1066800" y="1233487"/>
          <a:ext cx="6934200" cy="3395663"/>
        </p:xfrm>
        <a:graphic>
          <a:graphicData uri="http://schemas.openxmlformats.org/drawingml/2006/table">
            <a:tbl>
              <a:tblPr/>
              <a:tblGrid>
                <a:gridCol w="630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C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U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4116" name="Title 2"/>
          <p:cNvSpPr>
            <a:spLocks noGrp="1"/>
          </p:cNvSpPr>
          <p:nvPr>
            <p:ph type="title"/>
          </p:nvPr>
        </p:nvSpPr>
        <p:spPr>
          <a:xfrm>
            <a:off x="1371600" y="285750"/>
            <a:ext cx="7467600" cy="742950"/>
          </a:xfrm>
        </p:spPr>
        <p:txBody>
          <a:bodyPr/>
          <a:lstStyle/>
          <a:p>
            <a:r>
              <a:rPr lang="en-US" dirty="0"/>
              <a:t>Edit Distance</a:t>
            </a:r>
          </a:p>
        </p:txBody>
      </p:sp>
      <p:pic>
        <p:nvPicPr>
          <p:cNvPr id="5" name="Picture 5" descr="rec2.tif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62400" y="26196"/>
            <a:ext cx="3766159" cy="1112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06625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02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024933"/>
              </p:ext>
            </p:extLst>
          </p:nvPr>
        </p:nvGraphicFramePr>
        <p:xfrm>
          <a:off x="1219200" y="1352550"/>
          <a:ext cx="6934200" cy="3276600"/>
        </p:xfrm>
        <a:graphic>
          <a:graphicData uri="http://schemas.openxmlformats.org/drawingml/2006/table">
            <a:tbl>
              <a:tblPr/>
              <a:tblGrid>
                <a:gridCol w="630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9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C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U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Title 2"/>
          <p:cNvSpPr txBox="1">
            <a:spLocks/>
          </p:cNvSpPr>
          <p:nvPr/>
        </p:nvSpPr>
        <p:spPr>
          <a:xfrm>
            <a:off x="1371600" y="381000"/>
            <a:ext cx="7467600" cy="74295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ＭＳ Ｐゴシック" pitchFamily="-65" charset="-128"/>
                <a:cs typeface="ＭＳ Ｐゴシック" pitchFamily="-65" charset="-128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ucida Sans" pitchFamily="-65" charset="0"/>
              </a:defRPr>
            </a:lvl9pPr>
          </a:lstStyle>
          <a:p>
            <a:r>
              <a:rPr lang="en-US"/>
              <a:t>The Edit Distance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436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0" y="510778"/>
            <a:ext cx="4800600" cy="1298972"/>
          </a:xfrm>
        </p:spPr>
        <p:txBody>
          <a:bodyPr/>
          <a:lstStyle/>
          <a:p>
            <a:r>
              <a:rPr lang="en-US" sz="4400" dirty="0"/>
              <a:t>Minimum Edit Distance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43400" y="2286000"/>
            <a:ext cx="4267200" cy="1714500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3200" dirty="0">
                <a:solidFill>
                  <a:srgbClr val="A50021"/>
                </a:solidFill>
                <a:latin typeface="Calibri" charset="0"/>
              </a:rPr>
              <a:t>Computing Minimum Edit Distance</a:t>
            </a:r>
            <a:endParaRPr lang="en-US" sz="3200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677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0" y="510778"/>
            <a:ext cx="4800600" cy="1298972"/>
          </a:xfrm>
        </p:spPr>
        <p:txBody>
          <a:bodyPr/>
          <a:lstStyle/>
          <a:p>
            <a:r>
              <a:rPr lang="en-US" sz="4400" dirty="0"/>
              <a:t>Minimum Edit Distance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43400" y="2286000"/>
            <a:ext cx="4267200" cy="1714500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3200" dirty="0" err="1">
                <a:solidFill>
                  <a:srgbClr val="A50021"/>
                </a:solidFill>
                <a:latin typeface="Calibri" charset="0"/>
              </a:rPr>
              <a:t>Backtrace</a:t>
            </a:r>
            <a:r>
              <a:rPr lang="en-US" sz="3200" dirty="0">
                <a:solidFill>
                  <a:srgbClr val="A50021"/>
                </a:solidFill>
                <a:latin typeface="Calibri" charset="0"/>
              </a:rPr>
              <a:t> for Computing Alignments</a:t>
            </a:r>
            <a:endParaRPr lang="en-US" sz="3200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3131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alignments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Edit distance isn’t sufficient</a:t>
            </a:r>
          </a:p>
          <a:p>
            <a:pPr lvl="1"/>
            <a:r>
              <a:rPr lang="en-US" dirty="0"/>
              <a:t>We often need to </a:t>
            </a:r>
            <a:r>
              <a:rPr lang="en-US" b="1" dirty="0"/>
              <a:t>align</a:t>
            </a:r>
            <a:r>
              <a:rPr lang="en-US" dirty="0"/>
              <a:t> each character of the two strings to each other</a:t>
            </a:r>
          </a:p>
          <a:p>
            <a:r>
              <a:rPr lang="en-US" dirty="0"/>
              <a:t>We do this by keeping a “</a:t>
            </a:r>
            <a:r>
              <a:rPr lang="en-US" dirty="0" err="1"/>
              <a:t>backtrace</a:t>
            </a:r>
            <a:r>
              <a:rPr lang="en-US" dirty="0"/>
              <a:t>”</a:t>
            </a:r>
          </a:p>
          <a:p>
            <a:r>
              <a:rPr lang="en-US" dirty="0"/>
              <a:t>Every time we enter a cell, remember where we came from</a:t>
            </a:r>
          </a:p>
          <a:p>
            <a:r>
              <a:rPr lang="en-US" dirty="0"/>
              <a:t>When we reach the end, </a:t>
            </a:r>
          </a:p>
          <a:p>
            <a:pPr lvl="1"/>
            <a:r>
              <a:rPr lang="en-US" dirty="0"/>
              <a:t>Trace back the path from the upper right corner to read off the alignment</a:t>
            </a:r>
          </a:p>
        </p:txBody>
      </p:sp>
    </p:spTree>
    <p:extLst>
      <p:ext uri="{BB962C8B-B14F-4D97-AF65-F5344CB8AC3E}">
        <p14:creationId xmlns:p14="http://schemas.microsoft.com/office/powerpoint/2010/main" val="61804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7906" name="Group 2"/>
          <p:cNvGraphicFramePr>
            <a:graphicFrameLocks noGrp="1"/>
          </p:cNvGraphicFramePr>
          <p:nvPr/>
        </p:nvGraphicFramePr>
        <p:xfrm>
          <a:off x="1066800" y="1233487"/>
          <a:ext cx="6934200" cy="3395663"/>
        </p:xfrm>
        <a:graphic>
          <a:graphicData uri="http://schemas.openxmlformats.org/drawingml/2006/table">
            <a:tbl>
              <a:tblPr/>
              <a:tblGrid>
                <a:gridCol w="630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C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U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4116" name="Title 2"/>
          <p:cNvSpPr>
            <a:spLocks noGrp="1"/>
          </p:cNvSpPr>
          <p:nvPr>
            <p:ph type="title"/>
          </p:nvPr>
        </p:nvSpPr>
        <p:spPr>
          <a:xfrm>
            <a:off x="1371600" y="285750"/>
            <a:ext cx="7467600" cy="742950"/>
          </a:xfrm>
        </p:spPr>
        <p:txBody>
          <a:bodyPr/>
          <a:lstStyle/>
          <a:p>
            <a:r>
              <a:rPr lang="en-US" dirty="0"/>
              <a:t>Edit Distance</a:t>
            </a:r>
          </a:p>
        </p:txBody>
      </p:sp>
      <p:pic>
        <p:nvPicPr>
          <p:cNvPr id="5" name="Picture 5" descr="rec2.tif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62400" y="26196"/>
            <a:ext cx="3766159" cy="1112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519422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MinEdit with Backtrace</a:t>
            </a:r>
          </a:p>
        </p:txBody>
      </p:sp>
      <p:pic>
        <p:nvPicPr>
          <p:cNvPr id="7" name="Picture 5" descr="minedit2.tif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428750"/>
            <a:ext cx="8229600" cy="3283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811322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>
          <a:xfrm>
            <a:off x="1371600" y="0"/>
            <a:ext cx="7696200" cy="742950"/>
          </a:xfrm>
        </p:spPr>
        <p:txBody>
          <a:bodyPr/>
          <a:lstStyle/>
          <a:p>
            <a:r>
              <a:rPr lang="en-US" dirty="0"/>
              <a:t>Adding </a:t>
            </a:r>
            <a:r>
              <a:rPr lang="en-US" dirty="0" err="1"/>
              <a:t>Backtrace</a:t>
            </a:r>
            <a:r>
              <a:rPr lang="en-US" dirty="0"/>
              <a:t> to Minimum Edit Distance</a:t>
            </a:r>
          </a:p>
        </p:txBody>
      </p:sp>
      <p:sp>
        <p:nvSpPr>
          <p:cNvPr id="8192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200150"/>
            <a:ext cx="8763000" cy="3943350"/>
          </a:xfrm>
        </p:spPr>
        <p:txBody>
          <a:bodyPr/>
          <a:lstStyle/>
          <a:p>
            <a:r>
              <a:rPr lang="en-US" sz="1800" dirty="0"/>
              <a:t>Base conditions:                                                        Termination:</a:t>
            </a:r>
          </a:p>
          <a:p>
            <a:pPr marL="457200" lvl="1" indent="0">
              <a:buNone/>
            </a:pPr>
            <a:r>
              <a:rPr lang="en-US" sz="1600" dirty="0">
                <a:latin typeface="Courier"/>
                <a:cs typeface="Courier"/>
              </a:rPr>
              <a:t>D(i,0) = </a:t>
            </a:r>
            <a:r>
              <a:rPr lang="en-US" sz="1600" dirty="0" err="1">
                <a:latin typeface="Courier"/>
                <a:cs typeface="Courier"/>
              </a:rPr>
              <a:t>i</a:t>
            </a:r>
            <a:r>
              <a:rPr lang="en-US" sz="1600" dirty="0">
                <a:latin typeface="Courier"/>
                <a:cs typeface="Courier"/>
              </a:rPr>
              <a:t>         D(0,j) = j         D(N,M) is distance </a:t>
            </a:r>
            <a:endParaRPr lang="en-US" sz="1800" i="1" dirty="0"/>
          </a:p>
          <a:p>
            <a:pPr algn="just"/>
            <a:r>
              <a:rPr lang="en-US" sz="1800" dirty="0"/>
              <a:t>Recurrence Relation</a:t>
            </a:r>
            <a:r>
              <a:rPr lang="en-US" sz="1800" i="1" dirty="0"/>
              <a:t>:</a:t>
            </a:r>
            <a:endParaRPr lang="en-US" sz="1600" i="1" dirty="0"/>
          </a:p>
          <a:p>
            <a:pPr marL="457200" lvl="1" indent="0">
              <a:buClr>
                <a:srgbClr val="000066"/>
              </a:buClr>
              <a:buNone/>
            </a:pPr>
            <a:r>
              <a:rPr lang="en-US" sz="1600" dirty="0">
                <a:latin typeface="Courier"/>
                <a:cs typeface="Courier"/>
              </a:rPr>
              <a:t>For each  </a:t>
            </a:r>
            <a:r>
              <a:rPr lang="en-US" sz="1600" dirty="0" err="1">
                <a:latin typeface="Courier"/>
                <a:cs typeface="Courier"/>
              </a:rPr>
              <a:t>i</a:t>
            </a:r>
            <a:r>
              <a:rPr lang="en-US" sz="1600" dirty="0">
                <a:latin typeface="Courier"/>
                <a:cs typeface="Courier"/>
              </a:rPr>
              <a:t> = 1…M</a:t>
            </a:r>
          </a:p>
          <a:p>
            <a:pPr marL="990600" lvl="1" indent="-533400">
              <a:lnSpc>
                <a:spcPct val="80000"/>
              </a:lnSpc>
              <a:buClr>
                <a:srgbClr val="000066"/>
              </a:buClr>
              <a:buFontTx/>
              <a:buNone/>
            </a:pPr>
            <a:r>
              <a:rPr lang="en-US" sz="1600" dirty="0">
                <a:latin typeface="Courier"/>
                <a:cs typeface="Courier"/>
              </a:rPr>
              <a:t>	 For each  j = 1…N</a:t>
            </a:r>
            <a:endParaRPr lang="en-US" sz="1800" i="1" dirty="0"/>
          </a:p>
          <a:p>
            <a:pPr lvl="1" algn="just">
              <a:lnSpc>
                <a:spcPct val="130000"/>
              </a:lnSpc>
              <a:buFont typeface="Wingdings" charset="2"/>
              <a:buNone/>
            </a:pPr>
            <a:r>
              <a:rPr lang="en-US" sz="1600" i="1" dirty="0">
                <a:latin typeface="Courier"/>
                <a:cs typeface="Courier"/>
              </a:rPr>
              <a:t>                        </a:t>
            </a:r>
            <a:r>
              <a:rPr lang="en-US" sz="1600" dirty="0">
                <a:latin typeface="Courier"/>
                <a:cs typeface="Courier"/>
              </a:rPr>
              <a:t>D(i-1,j) + 1</a:t>
            </a:r>
          </a:p>
          <a:p>
            <a:pPr marL="457200" lvl="1" indent="0" algn="just">
              <a:buNone/>
            </a:pPr>
            <a:r>
              <a:rPr lang="en-US" sz="1600" dirty="0">
                <a:latin typeface="Courier"/>
                <a:cs typeface="Courier"/>
              </a:rPr>
              <a:t>         D(</a:t>
            </a:r>
            <a:r>
              <a:rPr lang="en-US" sz="1600" dirty="0" err="1">
                <a:latin typeface="Courier"/>
                <a:cs typeface="Courier"/>
              </a:rPr>
              <a:t>i,j</a:t>
            </a:r>
            <a:r>
              <a:rPr lang="en-US" sz="1600" dirty="0">
                <a:latin typeface="Courier"/>
                <a:cs typeface="Courier"/>
              </a:rPr>
              <a:t>)= min    D(i,j-1) + 1</a:t>
            </a:r>
          </a:p>
          <a:p>
            <a:pPr lvl="1" algn="just">
              <a:buFont typeface="Wingdings" charset="2"/>
              <a:buNone/>
            </a:pPr>
            <a:r>
              <a:rPr lang="en-US" sz="1600" dirty="0">
                <a:latin typeface="Courier"/>
                <a:cs typeface="Courier"/>
              </a:rPr>
              <a:t>                        D(i-1,j-1) +   2; if X(</a:t>
            </a:r>
            <a:r>
              <a:rPr lang="en-US" sz="1600" dirty="0" err="1">
                <a:latin typeface="Courier"/>
                <a:cs typeface="Courier"/>
              </a:rPr>
              <a:t>i</a:t>
            </a:r>
            <a:r>
              <a:rPr lang="en-US" sz="1600" dirty="0">
                <a:latin typeface="Courier"/>
                <a:cs typeface="Courier"/>
              </a:rPr>
              <a:t>) ≠ Y(j)   </a:t>
            </a:r>
          </a:p>
          <a:p>
            <a:pPr lvl="1" algn="just">
              <a:buFont typeface="Wingdings" charset="2"/>
              <a:buNone/>
            </a:pPr>
            <a:r>
              <a:rPr lang="en-US" sz="1600" dirty="0">
                <a:latin typeface="Courier"/>
                <a:cs typeface="Courier"/>
              </a:rPr>
              <a:t>                                       0; if X(</a:t>
            </a:r>
            <a:r>
              <a:rPr lang="en-US" sz="1600" dirty="0" err="1">
                <a:latin typeface="Courier"/>
                <a:cs typeface="Courier"/>
              </a:rPr>
              <a:t>i</a:t>
            </a:r>
            <a:r>
              <a:rPr lang="en-US" sz="1600" dirty="0">
                <a:latin typeface="Courier"/>
                <a:cs typeface="Courier"/>
              </a:rPr>
              <a:t>) = Y(j)</a:t>
            </a:r>
          </a:p>
          <a:p>
            <a:pPr lvl="1" algn="just">
              <a:buFont typeface="Wingdings" charset="2"/>
              <a:buNone/>
            </a:pPr>
            <a:r>
              <a:rPr lang="en-US" sz="1600" dirty="0">
                <a:latin typeface="Courier"/>
                <a:cs typeface="Courier"/>
              </a:rPr>
              <a:t>                     LEFT</a:t>
            </a:r>
          </a:p>
          <a:p>
            <a:pPr lvl="1" algn="just">
              <a:buFont typeface="Wingdings" charset="2"/>
              <a:buNone/>
            </a:pPr>
            <a:r>
              <a:rPr lang="en-US" sz="1600" dirty="0">
                <a:latin typeface="Courier"/>
                <a:cs typeface="Courier"/>
              </a:rPr>
              <a:t>         </a:t>
            </a:r>
            <a:r>
              <a:rPr lang="en-US" sz="1600" dirty="0" err="1">
                <a:latin typeface="Courier"/>
                <a:cs typeface="Courier"/>
              </a:rPr>
              <a:t>ptr</a:t>
            </a:r>
            <a:r>
              <a:rPr lang="en-US" sz="1600" dirty="0">
                <a:latin typeface="Courier"/>
                <a:cs typeface="Courier"/>
              </a:rPr>
              <a:t>(</a:t>
            </a:r>
            <a:r>
              <a:rPr lang="en-US" sz="1600" dirty="0" err="1">
                <a:latin typeface="Courier"/>
                <a:cs typeface="Courier"/>
              </a:rPr>
              <a:t>i,j</a:t>
            </a:r>
            <a:r>
              <a:rPr lang="en-US" sz="1600" dirty="0">
                <a:latin typeface="Courier"/>
                <a:cs typeface="Courier"/>
              </a:rPr>
              <a:t>)=   DOWN</a:t>
            </a:r>
          </a:p>
          <a:p>
            <a:pPr lvl="1" algn="just">
              <a:buFont typeface="Wingdings" charset="2"/>
              <a:buNone/>
            </a:pPr>
            <a:r>
              <a:rPr lang="en-US" sz="1600" dirty="0">
                <a:latin typeface="Courier"/>
                <a:cs typeface="Courier"/>
              </a:rPr>
              <a:t>                     DIAG</a:t>
            </a:r>
          </a:p>
          <a:p>
            <a:pPr lvl="1" algn="just">
              <a:buFont typeface="Wingdings" charset="2"/>
              <a:buNone/>
            </a:pPr>
            <a:endParaRPr lang="en-US" sz="1600" dirty="0">
              <a:latin typeface="Courier"/>
              <a:cs typeface="Courier"/>
            </a:endParaRPr>
          </a:p>
        </p:txBody>
      </p:sp>
      <p:sp>
        <p:nvSpPr>
          <p:cNvPr id="9" name="AutoShape 5"/>
          <p:cNvSpPr>
            <a:spLocks/>
          </p:cNvSpPr>
          <p:nvPr/>
        </p:nvSpPr>
        <p:spPr bwMode="auto">
          <a:xfrm>
            <a:off x="3200400" y="2724150"/>
            <a:ext cx="228600" cy="990600"/>
          </a:xfrm>
          <a:prstGeom prst="leftBrace">
            <a:avLst>
              <a:gd name="adj1" fmla="val 37516"/>
              <a:gd name="adj2" fmla="val 50000"/>
            </a:avLst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400" dirty="0">
              <a:solidFill>
                <a:srgbClr val="000066"/>
              </a:solidFill>
              <a:latin typeface="Times New Roman" charset="0"/>
            </a:endParaRPr>
          </a:p>
        </p:txBody>
      </p:sp>
      <p:sp>
        <p:nvSpPr>
          <p:cNvPr id="10" name="AutoShape 5"/>
          <p:cNvSpPr>
            <a:spLocks/>
          </p:cNvSpPr>
          <p:nvPr/>
        </p:nvSpPr>
        <p:spPr bwMode="auto">
          <a:xfrm>
            <a:off x="5257800" y="3429000"/>
            <a:ext cx="76200" cy="666750"/>
          </a:xfrm>
          <a:prstGeom prst="leftBrace">
            <a:avLst>
              <a:gd name="adj1" fmla="val 37495"/>
              <a:gd name="adj2" fmla="val 50000"/>
            </a:avLst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400">
              <a:solidFill>
                <a:srgbClr val="000066"/>
              </a:solidFill>
              <a:latin typeface="Times New Roman" charset="0"/>
            </a:endParaRPr>
          </a:p>
        </p:txBody>
      </p:sp>
      <p:sp>
        <p:nvSpPr>
          <p:cNvPr id="6" name="AutoShape 5"/>
          <p:cNvSpPr>
            <a:spLocks/>
          </p:cNvSpPr>
          <p:nvPr/>
        </p:nvSpPr>
        <p:spPr bwMode="auto">
          <a:xfrm>
            <a:off x="3810000" y="3943350"/>
            <a:ext cx="228600" cy="990600"/>
          </a:xfrm>
          <a:prstGeom prst="leftBrace">
            <a:avLst>
              <a:gd name="adj1" fmla="val 37516"/>
              <a:gd name="adj2" fmla="val 50000"/>
            </a:avLst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400">
              <a:solidFill>
                <a:srgbClr val="000066"/>
              </a:solidFill>
              <a:latin typeface="Times New Roman" charset="0"/>
            </a:endParaRPr>
          </a:p>
        </p:txBody>
      </p:sp>
      <p:sp>
        <p:nvSpPr>
          <p:cNvPr id="7" name="TextBox 15"/>
          <p:cNvSpPr txBox="1">
            <a:spLocks noChangeArrowheads="1"/>
          </p:cNvSpPr>
          <p:nvPr/>
        </p:nvSpPr>
        <p:spPr bwMode="auto">
          <a:xfrm>
            <a:off x="4038600" y="4012188"/>
            <a:ext cx="831365" cy="235962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lnSpc>
                <a:spcPct val="60000"/>
              </a:lnSpc>
            </a:pPr>
            <a:r>
              <a:rPr lang="en-US" sz="1400" dirty="0">
                <a:latin typeface="Calibri"/>
                <a:cs typeface="Calibri"/>
              </a:rPr>
              <a:t>insertion</a:t>
            </a:r>
          </a:p>
        </p:txBody>
      </p:sp>
      <p:sp>
        <p:nvSpPr>
          <p:cNvPr id="8" name="TextBox 16"/>
          <p:cNvSpPr txBox="1">
            <a:spLocks noChangeArrowheads="1"/>
          </p:cNvSpPr>
          <p:nvPr/>
        </p:nvSpPr>
        <p:spPr bwMode="auto">
          <a:xfrm>
            <a:off x="4038600" y="4316988"/>
            <a:ext cx="787883" cy="235962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lnSpc>
                <a:spcPct val="60000"/>
              </a:lnSpc>
            </a:pPr>
            <a:r>
              <a:rPr lang="en-US" sz="1400" dirty="0">
                <a:latin typeface="Calibri"/>
                <a:cs typeface="Calibri"/>
              </a:rPr>
              <a:t>deletion</a:t>
            </a:r>
          </a:p>
        </p:txBody>
      </p:sp>
      <p:sp>
        <p:nvSpPr>
          <p:cNvPr id="11" name="TextBox 17"/>
          <p:cNvSpPr txBox="1">
            <a:spLocks noChangeArrowheads="1"/>
          </p:cNvSpPr>
          <p:nvPr/>
        </p:nvSpPr>
        <p:spPr bwMode="auto">
          <a:xfrm>
            <a:off x="4038600" y="4621788"/>
            <a:ext cx="1066800" cy="235962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lnSpc>
                <a:spcPct val="60000"/>
              </a:lnSpc>
            </a:pPr>
            <a:r>
              <a:rPr lang="en-US" sz="1400" dirty="0">
                <a:latin typeface="Calibri"/>
                <a:cs typeface="Calibri"/>
              </a:rPr>
              <a:t>substitution</a:t>
            </a: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5188435" y="3105150"/>
            <a:ext cx="831365" cy="235962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lnSpc>
                <a:spcPct val="60000"/>
              </a:lnSpc>
            </a:pPr>
            <a:r>
              <a:rPr lang="en-US" sz="1400" dirty="0">
                <a:latin typeface="Calibri"/>
                <a:cs typeface="Calibri"/>
              </a:rPr>
              <a:t>insertion</a:t>
            </a:r>
          </a:p>
        </p:txBody>
      </p:sp>
      <p:sp>
        <p:nvSpPr>
          <p:cNvPr id="13" name="TextBox 16"/>
          <p:cNvSpPr txBox="1">
            <a:spLocks noChangeArrowheads="1"/>
          </p:cNvSpPr>
          <p:nvPr/>
        </p:nvSpPr>
        <p:spPr bwMode="auto">
          <a:xfrm>
            <a:off x="5181600" y="2792988"/>
            <a:ext cx="787883" cy="235962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lnSpc>
                <a:spcPct val="60000"/>
              </a:lnSpc>
            </a:pPr>
            <a:r>
              <a:rPr lang="en-US" sz="1400" dirty="0">
                <a:latin typeface="Calibri"/>
                <a:cs typeface="Calibri"/>
              </a:rPr>
              <a:t>deletion</a:t>
            </a:r>
          </a:p>
        </p:txBody>
      </p:sp>
      <p:sp>
        <p:nvSpPr>
          <p:cNvPr id="14" name="TextBox 17"/>
          <p:cNvSpPr txBox="1">
            <a:spLocks noChangeArrowheads="1"/>
          </p:cNvSpPr>
          <p:nvPr/>
        </p:nvSpPr>
        <p:spPr bwMode="auto">
          <a:xfrm>
            <a:off x="7790329" y="3319182"/>
            <a:ext cx="1066800" cy="235962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lnSpc>
                <a:spcPct val="60000"/>
              </a:lnSpc>
            </a:pPr>
            <a:r>
              <a:rPr lang="en-US" sz="1400" dirty="0">
                <a:latin typeface="Calibri"/>
                <a:cs typeface="Calibri"/>
              </a:rPr>
              <a:t>substitution</a:t>
            </a:r>
          </a:p>
        </p:txBody>
      </p:sp>
    </p:spTree>
    <p:extLst>
      <p:ext uri="{BB962C8B-B14F-4D97-AF65-F5344CB8AC3E}">
        <p14:creationId xmlns:p14="http://schemas.microsoft.com/office/powerpoint/2010/main" val="25225509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0" y="510778"/>
            <a:ext cx="4800600" cy="1298972"/>
          </a:xfrm>
        </p:spPr>
        <p:txBody>
          <a:bodyPr/>
          <a:lstStyle/>
          <a:p>
            <a:r>
              <a:rPr lang="en-US" sz="4400" dirty="0"/>
              <a:t>Minimum Edit Distance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191000" y="2286000"/>
            <a:ext cx="4419600" cy="1714500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3200" dirty="0">
                <a:solidFill>
                  <a:srgbClr val="A50021"/>
                </a:solidFill>
                <a:latin typeface="Calibri" charset="0"/>
              </a:rPr>
              <a:t>Minimum Edit Distance in Computational Biology</a:t>
            </a:r>
            <a:endParaRPr lang="en-US" sz="3200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1108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Alignment</a:t>
            </a:r>
          </a:p>
        </p:txBody>
      </p:sp>
      <p:sp>
        <p:nvSpPr>
          <p:cNvPr id="103427" name="Text Box 3"/>
          <p:cNvSpPr txBox="1">
            <a:spLocks noChangeArrowheads="1"/>
          </p:cNvSpPr>
          <p:nvPr/>
        </p:nvSpPr>
        <p:spPr bwMode="auto">
          <a:xfrm>
            <a:off x="990601" y="2731353"/>
            <a:ext cx="7018418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-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AG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G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CTATCAC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CT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GACC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T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CA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GG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C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CGA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--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TGCCC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---</a:t>
            </a:r>
          </a:p>
          <a:p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T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AG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-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CTATCAC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--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GACC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G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--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GG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T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CGA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TT</a:t>
            </a:r>
            <a:r>
              <a:rPr lang="en-US" sz="2400" b="1" dirty="0">
                <a:solidFill>
                  <a:srgbClr val="000066"/>
                </a:solidFill>
                <a:latin typeface="Courier New" charset="0"/>
              </a:rPr>
              <a:t>TGCCC</a:t>
            </a:r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GAC</a:t>
            </a:r>
          </a:p>
        </p:txBody>
      </p:sp>
      <p:sp>
        <p:nvSpPr>
          <p:cNvPr id="110597" name="Text Box 5"/>
          <p:cNvSpPr txBox="1">
            <a:spLocks noChangeArrowheads="1"/>
          </p:cNvSpPr>
          <p:nvPr/>
        </p:nvSpPr>
        <p:spPr bwMode="auto">
          <a:xfrm>
            <a:off x="1600200" y="1474053"/>
            <a:ext cx="6094938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AGGCTATCACCTGACCTCCAGGCCGATGCCC</a:t>
            </a:r>
          </a:p>
          <a:p>
            <a:r>
              <a:rPr lang="en-US" sz="2400" dirty="0">
                <a:solidFill>
                  <a:srgbClr val="006699"/>
                </a:solidFill>
                <a:latin typeface="Courier New" charset="0"/>
              </a:rPr>
              <a:t>TAGCTATCACGACCGCGGTCGATTTGCCCGAC</a:t>
            </a:r>
          </a:p>
        </p:txBody>
      </p:sp>
    </p:spTree>
    <p:extLst>
      <p:ext uri="{BB962C8B-B14F-4D97-AF65-F5344CB8AC3E}">
        <p14:creationId xmlns:p14="http://schemas.microsoft.com/office/powerpoint/2010/main" val="730734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sequence alignment?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Comparing genes or regions from different species</a:t>
            </a:r>
          </a:p>
          <a:p>
            <a:pPr lvl="1"/>
            <a:r>
              <a:rPr lang="en-US" sz="2400" dirty="0"/>
              <a:t>to find important regions</a:t>
            </a:r>
          </a:p>
          <a:p>
            <a:pPr lvl="1"/>
            <a:r>
              <a:rPr lang="en-US" sz="2400" dirty="0"/>
              <a:t>determine function</a:t>
            </a:r>
          </a:p>
          <a:p>
            <a:pPr lvl="1"/>
            <a:r>
              <a:rPr lang="en-US" sz="2400" dirty="0"/>
              <a:t>uncover evolutionary forces</a:t>
            </a:r>
          </a:p>
          <a:p>
            <a:r>
              <a:rPr lang="en-US" sz="2800" dirty="0"/>
              <a:t>Assembling fragments to sequence DNA</a:t>
            </a:r>
          </a:p>
          <a:p>
            <a:r>
              <a:rPr lang="en-US" sz="2800" dirty="0"/>
              <a:t>Compare individuals to looking for mutations</a:t>
            </a:r>
          </a:p>
        </p:txBody>
      </p:sp>
    </p:spTree>
    <p:extLst>
      <p:ext uri="{BB962C8B-B14F-4D97-AF65-F5344CB8AC3E}">
        <p14:creationId xmlns:p14="http://schemas.microsoft.com/office/powerpoint/2010/main" val="17449748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Alignments in two fields</a:t>
            </a:r>
          </a:p>
        </p:txBody>
      </p:sp>
      <p:sp>
        <p:nvSpPr>
          <p:cNvPr id="114691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3200" dirty="0"/>
              <a:t>In Natural Language Processing</a:t>
            </a:r>
          </a:p>
          <a:p>
            <a:pPr lvl="1"/>
            <a:r>
              <a:rPr lang="en-US" sz="3200" dirty="0"/>
              <a:t>We generally talk about </a:t>
            </a:r>
            <a:r>
              <a:rPr lang="en-US" sz="3200" dirty="0">
                <a:solidFill>
                  <a:srgbClr val="B63027"/>
                </a:solidFill>
              </a:rPr>
              <a:t>distance </a:t>
            </a:r>
            <a:r>
              <a:rPr lang="en-US" sz="3200" dirty="0"/>
              <a:t>(minimized)</a:t>
            </a:r>
          </a:p>
          <a:p>
            <a:pPr lvl="2"/>
            <a:r>
              <a:rPr lang="en-US" sz="2800" dirty="0"/>
              <a:t>And </a:t>
            </a:r>
            <a:r>
              <a:rPr lang="en-US" sz="2800" dirty="0">
                <a:solidFill>
                  <a:srgbClr val="B63027"/>
                </a:solidFill>
              </a:rPr>
              <a:t>weights</a:t>
            </a:r>
          </a:p>
          <a:p>
            <a:r>
              <a:rPr lang="en-US" sz="3200" dirty="0"/>
              <a:t>In Computational Biology</a:t>
            </a:r>
          </a:p>
          <a:p>
            <a:pPr lvl="1"/>
            <a:r>
              <a:rPr lang="en-US" sz="3200" dirty="0"/>
              <a:t>We generally talk about </a:t>
            </a:r>
            <a:r>
              <a:rPr lang="en-US" sz="3200" dirty="0">
                <a:solidFill>
                  <a:srgbClr val="B63027"/>
                </a:solidFill>
              </a:rPr>
              <a:t>similarity </a:t>
            </a:r>
            <a:r>
              <a:rPr lang="en-US" sz="3200" dirty="0"/>
              <a:t>(maximized)</a:t>
            </a:r>
          </a:p>
          <a:p>
            <a:pPr lvl="2"/>
            <a:r>
              <a:rPr lang="en-US" sz="2800" dirty="0"/>
              <a:t>And </a:t>
            </a:r>
            <a:r>
              <a:rPr lang="en-US" sz="2800" dirty="0">
                <a:solidFill>
                  <a:srgbClr val="B63027"/>
                </a:solidFill>
              </a:rPr>
              <a:t>scores</a:t>
            </a:r>
          </a:p>
        </p:txBody>
      </p:sp>
    </p:spTree>
    <p:extLst>
      <p:ext uri="{BB962C8B-B14F-4D97-AF65-F5344CB8AC3E}">
        <p14:creationId xmlns:p14="http://schemas.microsoft.com/office/powerpoint/2010/main" val="13133214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09550"/>
            <a:ext cx="594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  <a:cs typeface="Arial" pitchFamily="34" charset="0"/>
              </a:rPr>
              <a:t>Longest Common  Subsequence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600200"/>
            <a:ext cx="7620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Arial" pitchFamily="34" charset="0"/>
                <a:cs typeface="Arial" pitchFamily="34" charset="0"/>
              </a:rPr>
              <a:t>x=ABCBDAB and 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y=BDCABA, </a:t>
            </a:r>
          </a:p>
          <a:p>
            <a:endParaRPr lang="en-US" sz="2600" dirty="0">
              <a:latin typeface="Arial" pitchFamily="34" charset="0"/>
              <a:cs typeface="Arial" pitchFamily="34" charset="0"/>
            </a:endParaRP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BCA is a common subsequence and </a:t>
            </a:r>
          </a:p>
          <a:p>
            <a:endParaRPr lang="en-US" sz="2600" dirty="0">
              <a:latin typeface="Arial" pitchFamily="34" charset="0"/>
              <a:cs typeface="Arial" pitchFamily="34" charset="0"/>
            </a:endParaRP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BCBA and BDAB are two LCSs</a:t>
            </a:r>
          </a:p>
          <a:p>
            <a:pPr>
              <a:lnSpc>
                <a:spcPct val="150000"/>
              </a:lnSpc>
            </a:pPr>
            <a:endParaRPr lang="en-US" sz="26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699043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52600" y="209550"/>
            <a:ext cx="4514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  <a:cs typeface="Arial" pitchFamily="34" charset="0"/>
              </a:rPr>
              <a:t>N- grams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85851"/>
            <a:ext cx="8305800" cy="4293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600" dirty="0">
                <a:latin typeface="Arial" pitchFamily="34" charset="0"/>
                <a:cs typeface="Arial" pitchFamily="34" charset="0"/>
              </a:rPr>
              <a:t>Subdivide words into N-grams -set of overlapping substrings of length N</a:t>
            </a:r>
            <a:br>
              <a:rPr lang="en-GB" sz="2600" dirty="0">
                <a:latin typeface="Arial" pitchFamily="34" charset="0"/>
                <a:cs typeface="Arial" pitchFamily="34" charset="0"/>
              </a:rPr>
            </a:br>
            <a:r>
              <a:rPr lang="en-GB" sz="2600" b="1" dirty="0">
                <a:latin typeface="Arial" pitchFamily="34" charset="0"/>
                <a:cs typeface="Arial" pitchFamily="34" charset="0"/>
              </a:rPr>
              <a:t>N=2: </a:t>
            </a:r>
          </a:p>
          <a:p>
            <a:pPr>
              <a:lnSpc>
                <a:spcPct val="150000"/>
              </a:lnSpc>
            </a:pPr>
            <a:r>
              <a:rPr lang="en-GB" sz="2600" dirty="0">
                <a:latin typeface="Arial" pitchFamily="34" charset="0"/>
                <a:cs typeface="Arial" pitchFamily="34" charset="0"/>
              </a:rPr>
              <a:t>(radio) </a:t>
            </a:r>
            <a:r>
              <a:rPr lang="en-GB" sz="2600" dirty="0">
                <a:latin typeface="Arial" pitchFamily="34" charset="0"/>
                <a:cs typeface="Arial" pitchFamily="34" charset="0"/>
                <a:sym typeface="Symbol" pitchFamily="18" charset="2"/>
              </a:rPr>
              <a:t></a:t>
            </a:r>
            <a:r>
              <a:rPr lang="en-GB" sz="2600" dirty="0">
                <a:latin typeface="Arial" pitchFamily="34" charset="0"/>
                <a:cs typeface="Arial" pitchFamily="34" charset="0"/>
              </a:rPr>
              <a:t> (</a:t>
            </a:r>
            <a:r>
              <a:rPr lang="en-GB" sz="2600" dirty="0" err="1">
                <a:latin typeface="Arial" pitchFamily="34" charset="0"/>
                <a:cs typeface="Arial" pitchFamily="34" charset="0"/>
              </a:rPr>
              <a:t>ra</a:t>
            </a:r>
            <a:r>
              <a:rPr lang="en-GB" sz="2600" dirty="0">
                <a:latin typeface="Arial" pitchFamily="34" charset="0"/>
                <a:cs typeface="Arial" pitchFamily="34" charset="0"/>
              </a:rPr>
              <a:t> - ad - </a:t>
            </a:r>
            <a:r>
              <a:rPr lang="en-GB" sz="2600" dirty="0" err="1">
                <a:latin typeface="Arial" pitchFamily="34" charset="0"/>
                <a:cs typeface="Arial" pitchFamily="34" charset="0"/>
              </a:rPr>
              <a:t>di</a:t>
            </a:r>
            <a:r>
              <a:rPr lang="en-GB" sz="2600" dirty="0">
                <a:latin typeface="Arial" pitchFamily="34" charset="0"/>
                <a:cs typeface="Arial" pitchFamily="34" charset="0"/>
              </a:rPr>
              <a:t> -</a:t>
            </a:r>
            <a:r>
              <a:rPr lang="en-GB" sz="2600" dirty="0" err="1">
                <a:latin typeface="Arial" pitchFamily="34" charset="0"/>
                <a:cs typeface="Arial" pitchFamily="34" charset="0"/>
              </a:rPr>
              <a:t>io</a:t>
            </a:r>
            <a:r>
              <a:rPr lang="en-GB" sz="2600" dirty="0">
                <a:latin typeface="Arial" pitchFamily="34" charset="0"/>
                <a:cs typeface="Arial" pitchFamily="34" charset="0"/>
              </a:rPr>
              <a:t>)</a:t>
            </a:r>
            <a:br>
              <a:rPr lang="en-GB" sz="2600" dirty="0">
                <a:latin typeface="Arial" pitchFamily="34" charset="0"/>
                <a:cs typeface="Arial" pitchFamily="34" charset="0"/>
              </a:rPr>
            </a:br>
            <a:r>
              <a:rPr lang="en-GB" sz="2600" b="1" dirty="0">
                <a:latin typeface="Arial" pitchFamily="34" charset="0"/>
                <a:cs typeface="Arial" pitchFamily="34" charset="0"/>
              </a:rPr>
              <a:t>N=3: </a:t>
            </a:r>
          </a:p>
          <a:p>
            <a:pPr>
              <a:lnSpc>
                <a:spcPct val="150000"/>
              </a:lnSpc>
            </a:pPr>
            <a:r>
              <a:rPr lang="en-GB" sz="2600" dirty="0">
                <a:latin typeface="Arial" pitchFamily="34" charset="0"/>
                <a:cs typeface="Arial" pitchFamily="34" charset="0"/>
              </a:rPr>
              <a:t>(radio) </a:t>
            </a:r>
            <a:r>
              <a:rPr lang="en-GB" sz="2600" dirty="0">
                <a:latin typeface="Arial" pitchFamily="34" charset="0"/>
                <a:cs typeface="Arial" pitchFamily="34" charset="0"/>
                <a:sym typeface="Symbol" pitchFamily="18" charset="2"/>
              </a:rPr>
              <a:t></a:t>
            </a:r>
            <a:r>
              <a:rPr lang="en-GB" sz="2600" dirty="0">
                <a:latin typeface="Arial" pitchFamily="34" charset="0"/>
                <a:cs typeface="Arial" pitchFamily="34" charset="0"/>
              </a:rPr>
              <a:t> (</a:t>
            </a:r>
            <a:r>
              <a:rPr lang="en-GB" sz="2600" dirty="0" err="1">
                <a:latin typeface="Arial" pitchFamily="34" charset="0"/>
                <a:cs typeface="Arial" pitchFamily="34" charset="0"/>
              </a:rPr>
              <a:t>rad</a:t>
            </a:r>
            <a:r>
              <a:rPr lang="en-GB" sz="2600" dirty="0">
                <a:latin typeface="Arial" pitchFamily="34" charset="0"/>
                <a:cs typeface="Arial" pitchFamily="34" charset="0"/>
              </a:rPr>
              <a:t> - </a:t>
            </a:r>
            <a:r>
              <a:rPr lang="en-GB" sz="2600" dirty="0" err="1">
                <a:latin typeface="Arial" pitchFamily="34" charset="0"/>
                <a:cs typeface="Arial" pitchFamily="34" charset="0"/>
              </a:rPr>
              <a:t>adi</a:t>
            </a:r>
            <a:r>
              <a:rPr lang="en-GB" sz="2600" dirty="0">
                <a:latin typeface="Arial" pitchFamily="34" charset="0"/>
                <a:cs typeface="Arial" pitchFamily="34" charset="0"/>
              </a:rPr>
              <a:t> - </a:t>
            </a:r>
            <a:r>
              <a:rPr lang="en-GB" sz="2600" dirty="0" err="1">
                <a:latin typeface="Arial" pitchFamily="34" charset="0"/>
                <a:cs typeface="Arial" pitchFamily="34" charset="0"/>
              </a:rPr>
              <a:t>dio</a:t>
            </a:r>
            <a:r>
              <a:rPr lang="en-GB" sz="2600" dirty="0">
                <a:latin typeface="Arial" pitchFamily="34" charset="0"/>
                <a:cs typeface="Arial" pitchFamily="34" charset="0"/>
              </a:rPr>
              <a:t>)</a:t>
            </a:r>
            <a:endParaRPr lang="en-US" sz="26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699043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8E5E2-1321-4548-96C8-615581C5A8C2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1428750"/>
            <a:ext cx="3657600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2667000" y="285750"/>
            <a:ext cx="4514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  <a:cs typeface="Arial" pitchFamily="34" charset="0"/>
              </a:rPr>
              <a:t>Global / Local Alignment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85750"/>
            <a:ext cx="792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  <a:cs typeface="Arial" pitchFamily="34" charset="0"/>
              </a:rPr>
              <a:t>Approaches to </a:t>
            </a:r>
            <a:r>
              <a:rPr lang="en-US" sz="3200" b="1" dirty="0" err="1">
                <a:latin typeface="+mj-lt"/>
                <a:cs typeface="Arial" pitchFamily="34" charset="0"/>
              </a:rPr>
              <a:t>Pairwise</a:t>
            </a:r>
            <a:r>
              <a:rPr lang="en-US" sz="3200" b="1" dirty="0">
                <a:latin typeface="+mj-lt"/>
                <a:cs typeface="Arial" pitchFamily="34" charset="0"/>
              </a:rPr>
              <a:t> Sequence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047750"/>
            <a:ext cx="7467600" cy="4293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Dot Matrix.</a:t>
            </a:r>
          </a:p>
          <a:p>
            <a:pPr marL="457200" indent="-457200">
              <a:lnSpc>
                <a:spcPct val="150000"/>
              </a:lnSpc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Dynamic Programming.</a:t>
            </a:r>
          </a:p>
          <a:p>
            <a:pPr lvl="1">
              <a:buFont typeface="Arial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 Simpler approach.</a:t>
            </a:r>
          </a:p>
          <a:p>
            <a:pPr lvl="1">
              <a:buFont typeface="Arial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 Visual Alignment </a:t>
            </a:r>
          </a:p>
          <a:p>
            <a:pPr lvl="1">
              <a:buFont typeface="Arial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 Two sequences to be matched are lined as 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	axes on a grid.</a:t>
            </a:r>
          </a:p>
          <a:p>
            <a:pPr lvl="1">
              <a:buFont typeface="Arial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 Rows – characters in first sequence</a:t>
            </a:r>
          </a:p>
          <a:p>
            <a:pPr lvl="1">
              <a:buFont typeface="Arial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 Columns – chars in 2</a:t>
            </a:r>
            <a:r>
              <a:rPr lang="en-US" sz="2600" baseline="30000" dirty="0">
                <a:latin typeface="Arial" pitchFamily="34" charset="0"/>
                <a:cs typeface="Arial" pitchFamily="34" charset="0"/>
              </a:rPr>
              <a:t>nd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sequence</a:t>
            </a:r>
          </a:p>
          <a:p>
            <a:pPr marL="457200" indent="-457200">
              <a:lnSpc>
                <a:spcPct val="150000"/>
              </a:lnSpc>
            </a:pPr>
            <a:endParaRPr lang="en-US" sz="2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699043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250507"/>
            <a:ext cx="4514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  <a:cs typeface="Arial" pitchFamily="34" charset="0"/>
              </a:rPr>
              <a:t>           Procedure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143000"/>
            <a:ext cx="8534400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A dot is placed wherever there is an exact match.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Any region of similarity is revealed by a row of dots.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It can be easy to visually identify certain sequence features such as insertions,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deletions,repeats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699043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17145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+mj-lt"/>
                <a:cs typeface="Arial" panose="020B0604020202020204" pitchFamily="34" charset="0"/>
              </a:rPr>
              <a:t>Dot Plots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5029200"/>
            <a:ext cx="1905000" cy="342900"/>
          </a:xfrm>
        </p:spPr>
        <p:txBody>
          <a:bodyPr/>
          <a:lstStyle/>
          <a:p>
            <a:fld id="{24621F41-78C5-4487-8CDC-9065B1E7487A}" type="slidenum">
              <a:rPr lang="en-US" altLang="zh-TW"/>
              <a:pPr/>
              <a:t>33</a:t>
            </a:fld>
            <a:endParaRPr lang="en-US" altLang="zh-TW"/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>
          <a:xfrm>
            <a:off x="533400" y="848342"/>
            <a:ext cx="7772400" cy="2107848"/>
          </a:xfrm>
          <a:prstGeom prst="rect">
            <a:avLst/>
          </a:prstGeom>
          <a:noFill/>
          <a:ln/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TW" sz="2600" dirty="0">
                <a:latin typeface="Arial" pitchFamily="34" charset="0"/>
                <a:cs typeface="Arial" pitchFamily="34" charset="0"/>
              </a:rPr>
              <a:t>	</a:t>
            </a:r>
            <a:r>
              <a:rPr lang="en-US" altLang="zh-TW" sz="2600" b="1" dirty="0" err="1">
                <a:latin typeface="Arial" pitchFamily="34" charset="0"/>
                <a:cs typeface="Arial" pitchFamily="34" charset="0"/>
              </a:rPr>
              <a:t>Seq</a:t>
            </a:r>
            <a:r>
              <a:rPr lang="en-US" altLang="zh-TW" sz="2600" b="1" dirty="0">
                <a:latin typeface="Arial" pitchFamily="34" charset="0"/>
                <a:cs typeface="Arial" pitchFamily="34" charset="0"/>
              </a:rPr>
              <a:t> A:  </a:t>
            </a:r>
            <a:r>
              <a:rPr lang="en-US" altLang="zh-TW" sz="2600" dirty="0">
                <a:latin typeface="Arial" pitchFamily="34" charset="0"/>
                <a:cs typeface="Arial" pitchFamily="34" charset="0"/>
              </a:rPr>
              <a:t>CTTAACT 	  </a:t>
            </a:r>
            <a:r>
              <a:rPr lang="en-US" altLang="zh-TW" sz="2600" b="1" dirty="0" err="1">
                <a:latin typeface="Arial" pitchFamily="34" charset="0"/>
                <a:cs typeface="Arial" pitchFamily="34" charset="0"/>
              </a:rPr>
              <a:t>SeqB</a:t>
            </a:r>
            <a:r>
              <a:rPr lang="zh-TW" altLang="en-US" sz="2600" b="1" dirty="0">
                <a:latin typeface="Arial" pitchFamily="34" charset="0"/>
                <a:cs typeface="Arial" pitchFamily="34" charset="0"/>
              </a:rPr>
              <a:t>：</a:t>
            </a:r>
            <a:r>
              <a:rPr lang="en-US" altLang="zh-TW" sz="2600" dirty="0">
                <a:latin typeface="Arial" pitchFamily="34" charset="0"/>
                <a:cs typeface="Arial" pitchFamily="34" charset="0"/>
              </a:rPr>
              <a:t>CGGATCAT</a:t>
            </a:r>
          </a:p>
        </p:txBody>
      </p:sp>
      <p:graphicFrame>
        <p:nvGraphicFramePr>
          <p:cNvPr id="9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161204"/>
              </p:ext>
            </p:extLst>
          </p:nvPr>
        </p:nvGraphicFramePr>
        <p:xfrm>
          <a:off x="2438400" y="1828798"/>
          <a:ext cx="4724400" cy="2720340"/>
        </p:xfrm>
        <a:graphic>
          <a:graphicData uri="http://schemas.openxmlformats.org/drawingml/2006/table">
            <a:tbl>
              <a:tblPr/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86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6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Box 80"/>
          <p:cNvSpPr txBox="1">
            <a:spLocks noChangeArrowheads="1"/>
          </p:cNvSpPr>
          <p:nvPr/>
        </p:nvSpPr>
        <p:spPr bwMode="auto">
          <a:xfrm>
            <a:off x="2286000" y="1428750"/>
            <a:ext cx="57308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TW" sz="2400" dirty="0"/>
              <a:t>  C    G     </a:t>
            </a:r>
            <a:r>
              <a:rPr lang="en-US" altLang="zh-TW" sz="2400" dirty="0" err="1"/>
              <a:t>G</a:t>
            </a:r>
            <a:r>
              <a:rPr lang="en-US" altLang="zh-TW" sz="2400" dirty="0"/>
              <a:t>   A    T    C   A     T</a:t>
            </a:r>
          </a:p>
        </p:txBody>
      </p:sp>
      <p:sp>
        <p:nvSpPr>
          <p:cNvPr id="11" name="Oval 81"/>
          <p:cNvSpPr>
            <a:spLocks noChangeArrowheads="1"/>
          </p:cNvSpPr>
          <p:nvPr/>
        </p:nvSpPr>
        <p:spPr bwMode="auto">
          <a:xfrm>
            <a:off x="2667000" y="1943100"/>
            <a:ext cx="203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Oval 82"/>
          <p:cNvSpPr>
            <a:spLocks noChangeArrowheads="1"/>
          </p:cNvSpPr>
          <p:nvPr/>
        </p:nvSpPr>
        <p:spPr bwMode="auto">
          <a:xfrm>
            <a:off x="2590800" y="3886200"/>
            <a:ext cx="203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Oval 83"/>
          <p:cNvSpPr>
            <a:spLocks noChangeArrowheads="1"/>
          </p:cNvSpPr>
          <p:nvPr/>
        </p:nvSpPr>
        <p:spPr bwMode="auto">
          <a:xfrm>
            <a:off x="5562600" y="1943100"/>
            <a:ext cx="203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Oval 84"/>
          <p:cNvSpPr>
            <a:spLocks noChangeArrowheads="1"/>
          </p:cNvSpPr>
          <p:nvPr/>
        </p:nvSpPr>
        <p:spPr bwMode="auto">
          <a:xfrm>
            <a:off x="4953000" y="2343150"/>
            <a:ext cx="203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Oval 85"/>
          <p:cNvSpPr>
            <a:spLocks noChangeArrowheads="1"/>
          </p:cNvSpPr>
          <p:nvPr/>
        </p:nvSpPr>
        <p:spPr bwMode="auto">
          <a:xfrm>
            <a:off x="6781800" y="2743200"/>
            <a:ext cx="203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Oval 86"/>
          <p:cNvSpPr>
            <a:spLocks noChangeArrowheads="1"/>
          </p:cNvSpPr>
          <p:nvPr/>
        </p:nvSpPr>
        <p:spPr bwMode="auto">
          <a:xfrm>
            <a:off x="4343400" y="3086100"/>
            <a:ext cx="203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Oval 87"/>
          <p:cNvSpPr>
            <a:spLocks noChangeArrowheads="1"/>
          </p:cNvSpPr>
          <p:nvPr/>
        </p:nvSpPr>
        <p:spPr bwMode="auto">
          <a:xfrm>
            <a:off x="6172200" y="3086100"/>
            <a:ext cx="203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Oval 88"/>
          <p:cNvSpPr>
            <a:spLocks noChangeArrowheads="1"/>
          </p:cNvSpPr>
          <p:nvPr/>
        </p:nvSpPr>
        <p:spPr bwMode="auto">
          <a:xfrm>
            <a:off x="6172200" y="3543300"/>
            <a:ext cx="203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Oval 89"/>
          <p:cNvSpPr>
            <a:spLocks noChangeArrowheads="1"/>
          </p:cNvSpPr>
          <p:nvPr/>
        </p:nvSpPr>
        <p:spPr bwMode="auto">
          <a:xfrm>
            <a:off x="6781800" y="4286250"/>
            <a:ext cx="203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Oval 92"/>
          <p:cNvSpPr>
            <a:spLocks noChangeArrowheads="1"/>
          </p:cNvSpPr>
          <p:nvPr/>
        </p:nvSpPr>
        <p:spPr bwMode="auto">
          <a:xfrm>
            <a:off x="5562600" y="3886200"/>
            <a:ext cx="203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Oval 93"/>
          <p:cNvSpPr>
            <a:spLocks noChangeArrowheads="1"/>
          </p:cNvSpPr>
          <p:nvPr/>
        </p:nvSpPr>
        <p:spPr bwMode="auto">
          <a:xfrm>
            <a:off x="4343400" y="3486150"/>
            <a:ext cx="203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Oval 94"/>
          <p:cNvSpPr>
            <a:spLocks noChangeArrowheads="1"/>
          </p:cNvSpPr>
          <p:nvPr/>
        </p:nvSpPr>
        <p:spPr bwMode="auto">
          <a:xfrm>
            <a:off x="5027613" y="4342210"/>
            <a:ext cx="203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Text Box 95"/>
          <p:cNvSpPr txBox="1">
            <a:spLocks noChangeArrowheads="1"/>
          </p:cNvSpPr>
          <p:nvPr/>
        </p:nvSpPr>
        <p:spPr bwMode="auto">
          <a:xfrm>
            <a:off x="1930400" y="1828800"/>
            <a:ext cx="50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400" dirty="0"/>
              <a:t>C</a:t>
            </a:r>
          </a:p>
        </p:txBody>
      </p:sp>
      <p:sp>
        <p:nvSpPr>
          <p:cNvPr id="26" name="Oval 85"/>
          <p:cNvSpPr>
            <a:spLocks noChangeArrowheads="1"/>
          </p:cNvSpPr>
          <p:nvPr/>
        </p:nvSpPr>
        <p:spPr bwMode="auto">
          <a:xfrm>
            <a:off x="6781800" y="2286000"/>
            <a:ext cx="203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Oval 85"/>
          <p:cNvSpPr>
            <a:spLocks noChangeArrowheads="1"/>
          </p:cNvSpPr>
          <p:nvPr/>
        </p:nvSpPr>
        <p:spPr bwMode="auto">
          <a:xfrm>
            <a:off x="4953000" y="2743200"/>
            <a:ext cx="2032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Text Box 95"/>
          <p:cNvSpPr txBox="1">
            <a:spLocks noChangeArrowheads="1"/>
          </p:cNvSpPr>
          <p:nvPr/>
        </p:nvSpPr>
        <p:spPr bwMode="auto">
          <a:xfrm>
            <a:off x="1905000" y="2628900"/>
            <a:ext cx="50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400" dirty="0"/>
              <a:t>T</a:t>
            </a:r>
          </a:p>
        </p:txBody>
      </p:sp>
      <p:sp>
        <p:nvSpPr>
          <p:cNvPr id="29" name="Text Box 95"/>
          <p:cNvSpPr txBox="1">
            <a:spLocks noChangeArrowheads="1"/>
          </p:cNvSpPr>
          <p:nvPr/>
        </p:nvSpPr>
        <p:spPr bwMode="auto">
          <a:xfrm>
            <a:off x="1930400" y="2225502"/>
            <a:ext cx="50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400" dirty="0"/>
              <a:t>T</a:t>
            </a:r>
          </a:p>
        </p:txBody>
      </p:sp>
      <p:sp>
        <p:nvSpPr>
          <p:cNvPr id="30" name="Text Box 95"/>
          <p:cNvSpPr txBox="1">
            <a:spLocks noChangeArrowheads="1"/>
          </p:cNvSpPr>
          <p:nvPr/>
        </p:nvSpPr>
        <p:spPr bwMode="auto">
          <a:xfrm>
            <a:off x="1905000" y="3025602"/>
            <a:ext cx="50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400" dirty="0"/>
              <a:t>A</a:t>
            </a:r>
          </a:p>
        </p:txBody>
      </p:sp>
      <p:sp>
        <p:nvSpPr>
          <p:cNvPr id="31" name="Text Box 95"/>
          <p:cNvSpPr txBox="1">
            <a:spLocks noChangeArrowheads="1"/>
          </p:cNvSpPr>
          <p:nvPr/>
        </p:nvSpPr>
        <p:spPr bwMode="auto">
          <a:xfrm>
            <a:off x="1905000" y="3771900"/>
            <a:ext cx="50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400" dirty="0"/>
              <a:t>C</a:t>
            </a:r>
          </a:p>
        </p:txBody>
      </p:sp>
      <p:sp>
        <p:nvSpPr>
          <p:cNvPr id="32" name="Text Box 95"/>
          <p:cNvSpPr txBox="1">
            <a:spLocks noChangeArrowheads="1"/>
          </p:cNvSpPr>
          <p:nvPr/>
        </p:nvSpPr>
        <p:spPr bwMode="auto">
          <a:xfrm>
            <a:off x="1930400" y="3371850"/>
            <a:ext cx="50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400" dirty="0"/>
              <a:t>A</a:t>
            </a:r>
          </a:p>
        </p:txBody>
      </p:sp>
      <p:sp>
        <p:nvSpPr>
          <p:cNvPr id="34" name="Text Box 95"/>
          <p:cNvSpPr txBox="1">
            <a:spLocks noChangeArrowheads="1"/>
          </p:cNvSpPr>
          <p:nvPr/>
        </p:nvSpPr>
        <p:spPr bwMode="auto">
          <a:xfrm>
            <a:off x="1905000" y="4171950"/>
            <a:ext cx="50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400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687302766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38200" y="285750"/>
            <a:ext cx="8001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Arial" pitchFamily="34" charset="0"/>
                <a:cs typeface="Arial" pitchFamily="34" charset="0"/>
              </a:rPr>
              <a:t>Dynamic Programming</a:t>
            </a:r>
          </a:p>
          <a:p>
            <a:endParaRPr lang="en-US" sz="2600" dirty="0">
              <a:latin typeface="Arial" pitchFamily="34" charset="0"/>
              <a:cs typeface="Arial" pitchFamily="34" charset="0"/>
            </a:endParaRP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Solve a problem by taking solutions for subparts of the problem.</a:t>
            </a:r>
          </a:p>
          <a:p>
            <a:pPr>
              <a:buFont typeface="Arial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 Store sub-problem solutions for further use 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in the problem</a:t>
            </a:r>
          </a:p>
          <a:p>
            <a:pPr>
              <a:buFont typeface="Arial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 Avoid recalculating the scores already considered.</a:t>
            </a:r>
          </a:p>
          <a:p>
            <a:pPr lvl="1">
              <a:buFont typeface="Arial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 Needleman-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Wunch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Algorithm </a:t>
            </a:r>
          </a:p>
          <a:p>
            <a:pPr lvl="1">
              <a:buFont typeface="Arial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 Smith-Waterman Algorithm</a:t>
            </a:r>
          </a:p>
        </p:txBody>
      </p:sp>
    </p:spTree>
    <p:extLst>
      <p:ext uri="{BB962C8B-B14F-4D97-AF65-F5344CB8AC3E}">
        <p14:creationId xmlns:p14="http://schemas.microsoft.com/office/powerpoint/2010/main" val="2144699043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2201" y="1028701"/>
            <a:ext cx="495299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Setting up DP Matrix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24001" y="1748790"/>
          <a:ext cx="6095999" cy="1645920"/>
        </p:xfrm>
        <a:graphic>
          <a:graphicData uri="http://schemas.openxmlformats.org/drawingml/2006/table">
            <a:tbl>
              <a:tblPr/>
              <a:tblGrid>
                <a:gridCol w="468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-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C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-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C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17145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+mj-lt"/>
                <a:cs typeface="Arial" pitchFamily="34" charset="0"/>
              </a:rPr>
              <a:t>Needleman </a:t>
            </a:r>
            <a:r>
              <a:rPr lang="en-US" sz="3200" b="1" dirty="0" err="1">
                <a:latin typeface="+mj-lt"/>
                <a:cs typeface="Arial" pitchFamily="34" charset="0"/>
              </a:rPr>
              <a:t>Wunch</a:t>
            </a:r>
            <a:r>
              <a:rPr lang="en-US" sz="3200" b="1" dirty="0">
                <a:latin typeface="+mj-lt"/>
                <a:cs typeface="Arial" pitchFamily="34" charset="0"/>
              </a:rPr>
              <a:t> Algorithm</a:t>
            </a:r>
          </a:p>
        </p:txBody>
      </p:sp>
    </p:spTree>
    <p:extLst>
      <p:ext uri="{BB962C8B-B14F-4D97-AF65-F5344CB8AC3E}">
        <p14:creationId xmlns:p14="http://schemas.microsoft.com/office/powerpoint/2010/main" val="2144699043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17145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+mj-lt"/>
                <a:cs typeface="Arial" pitchFamily="34" charset="0"/>
              </a:rPr>
              <a:t> Global Alignment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38201" y="895350"/>
            <a:ext cx="495299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Scoring Scheme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95800" y="1085851"/>
            <a:ext cx="4572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085850"/>
            <a:ext cx="8153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600" dirty="0">
              <a:latin typeface="Arial" pitchFamily="34" charset="0"/>
              <a:cs typeface="Arial" pitchFamily="34" charset="0"/>
            </a:endParaRPr>
          </a:p>
          <a:p>
            <a:r>
              <a:rPr lang="en-US" sz="2600" b="1" dirty="0">
                <a:latin typeface="Arial" pitchFamily="34" charset="0"/>
                <a:cs typeface="Arial" pitchFamily="34" charset="0"/>
              </a:rPr>
              <a:t>S(</a:t>
            </a:r>
            <a:r>
              <a:rPr lang="en-US" sz="2600" b="1" dirty="0" err="1">
                <a:latin typeface="Arial" pitchFamily="34" charset="0"/>
                <a:cs typeface="Arial" pitchFamily="34" charset="0"/>
              </a:rPr>
              <a:t>a</a:t>
            </a:r>
            <a:r>
              <a:rPr lang="en-US" sz="2600" b="1" baseline="-25000" dirty="0" err="1">
                <a:latin typeface="Arial" pitchFamily="34" charset="0"/>
                <a:cs typeface="Arial" pitchFamily="34" charset="0"/>
              </a:rPr>
              <a:t>i</a:t>
            </a:r>
            <a:r>
              <a:rPr lang="en-US" sz="2600" b="1" dirty="0" err="1">
                <a:latin typeface="Arial" pitchFamily="34" charset="0"/>
                <a:cs typeface="Arial" pitchFamily="34" charset="0"/>
              </a:rPr>
              <a:t>b</a:t>
            </a:r>
            <a:r>
              <a:rPr lang="en-US" sz="2600" b="1" baseline="-25000" dirty="0" err="1">
                <a:latin typeface="Arial" pitchFamily="34" charset="0"/>
                <a:cs typeface="Arial" pitchFamily="34" charset="0"/>
              </a:rPr>
              <a:t>i</a:t>
            </a:r>
            <a:r>
              <a:rPr lang="en-US" sz="2600" b="1" dirty="0">
                <a:latin typeface="Arial" pitchFamily="34" charset="0"/>
                <a:cs typeface="Arial" pitchFamily="34" charset="0"/>
              </a:rPr>
              <a:t>): 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match/mismatch score</a:t>
            </a:r>
          </a:p>
          <a:p>
            <a:endParaRPr lang="en-US" sz="2600" dirty="0">
              <a:latin typeface="Arial" pitchFamily="34" charset="0"/>
              <a:cs typeface="Arial" pitchFamily="34" charset="0"/>
            </a:endParaRPr>
          </a:p>
          <a:p>
            <a:r>
              <a:rPr lang="en-US" sz="2600" b="1" dirty="0">
                <a:latin typeface="Arial" pitchFamily="34" charset="0"/>
                <a:cs typeface="Arial" pitchFamily="34" charset="0"/>
              </a:rPr>
              <a:t>W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: gap penalty score</a:t>
            </a:r>
          </a:p>
          <a:p>
            <a:endParaRPr lang="en-US" sz="2600" dirty="0">
              <a:latin typeface="Arial" pitchFamily="34" charset="0"/>
              <a:cs typeface="Arial" pitchFamily="34" charset="0"/>
            </a:endParaRP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S(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a</a:t>
            </a:r>
            <a:r>
              <a:rPr lang="en-US" sz="2600" baseline="-25000" dirty="0" err="1">
                <a:latin typeface="Arial" pitchFamily="34" charset="0"/>
                <a:cs typeface="Arial" pitchFamily="34" charset="0"/>
              </a:rPr>
              <a:t>i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b</a:t>
            </a:r>
            <a:r>
              <a:rPr lang="en-US" sz="2600" baseline="-25000" dirty="0" err="1">
                <a:latin typeface="Arial" pitchFamily="34" charset="0"/>
                <a:cs typeface="Arial" pitchFamily="34" charset="0"/>
              </a:rPr>
              <a:t>i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)= +5 match score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S(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a</a:t>
            </a:r>
            <a:r>
              <a:rPr lang="en-US" sz="2600" baseline="-25000" dirty="0" err="1">
                <a:latin typeface="Arial" pitchFamily="34" charset="0"/>
                <a:cs typeface="Arial" pitchFamily="34" charset="0"/>
              </a:rPr>
              <a:t>i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b</a:t>
            </a:r>
            <a:r>
              <a:rPr lang="en-US" sz="2600" baseline="-25000" dirty="0" err="1">
                <a:latin typeface="Arial" pitchFamily="34" charset="0"/>
                <a:cs typeface="Arial" pitchFamily="34" charset="0"/>
              </a:rPr>
              <a:t>i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)= -3 mismatch 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score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W=-4 gap penalty</a:t>
            </a:r>
          </a:p>
        </p:txBody>
      </p:sp>
    </p:spTree>
    <p:extLst>
      <p:ext uri="{BB962C8B-B14F-4D97-AF65-F5344CB8AC3E}">
        <p14:creationId xmlns:p14="http://schemas.microsoft.com/office/powerpoint/2010/main" val="2312942770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52600" y="250507"/>
            <a:ext cx="495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  <a:cs typeface="Arial" pitchFamily="34" charset="0"/>
              </a:rPr>
              <a:t>Steps for DP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95800" y="1085851"/>
            <a:ext cx="4572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1173540"/>
            <a:ext cx="45720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Arial" pitchFamily="34" charset="0"/>
                <a:cs typeface="Arial" pitchFamily="34" charset="0"/>
              </a:rPr>
              <a:t>Three steps: </a:t>
            </a:r>
          </a:p>
          <a:p>
            <a:pPr>
              <a:buFont typeface="Arial" pitchFamily="34" charset="0"/>
              <a:buChar char="•"/>
            </a:pPr>
            <a:endParaRPr lang="en-US" sz="2600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 Initialization</a:t>
            </a:r>
          </a:p>
          <a:p>
            <a:pPr>
              <a:buFont typeface="Arial" pitchFamily="34" charset="0"/>
              <a:buChar char="•"/>
            </a:pPr>
            <a:endParaRPr lang="en-US" sz="2600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 Matrix Fill(scoring)</a:t>
            </a:r>
          </a:p>
          <a:p>
            <a:pPr>
              <a:buFont typeface="Arial" pitchFamily="34" charset="0"/>
              <a:buChar char="•"/>
            </a:pPr>
            <a:endParaRPr lang="en-US" sz="2600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Traceback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(alignment)</a:t>
            </a:r>
          </a:p>
          <a:p>
            <a:pPr>
              <a:buFont typeface="Arial" pitchFamily="34" charset="0"/>
              <a:buChar char="•"/>
            </a:pPr>
            <a:endParaRPr lang="en-US" sz="2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942770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285750"/>
            <a:ext cx="495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  <a:cs typeface="Arial" pitchFamily="34" charset="0"/>
              </a:rPr>
              <a:t>Initialization Step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1" y="2343150"/>
          <a:ext cx="6095999" cy="1645920"/>
        </p:xfrm>
        <a:graphic>
          <a:graphicData uri="http://schemas.openxmlformats.org/drawingml/2006/table">
            <a:tbl>
              <a:tblPr/>
              <a:tblGrid>
                <a:gridCol w="468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-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C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-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-4</a:t>
                      </a:r>
                      <a:endParaRPr lang="en-US" sz="9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-8</a:t>
                      </a:r>
                      <a:endParaRPr lang="en-US" sz="9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 dirty="0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-12</a:t>
                      </a: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-16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-28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-32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-36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-40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-44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-4</a:t>
                      </a:r>
                      <a:endParaRPr lang="en-US" sz="9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-8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-12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-16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C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-28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752600" y="1047750"/>
            <a:ext cx="45720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Arial" pitchFamily="34" charset="0"/>
                <a:cs typeface="Arial" pitchFamily="34" charset="0"/>
              </a:rPr>
              <a:t>Each row S</a:t>
            </a:r>
            <a:r>
              <a:rPr lang="en-US" sz="2600" baseline="-25000" dirty="0">
                <a:latin typeface="Arial" pitchFamily="34" charset="0"/>
                <a:cs typeface="Arial" pitchFamily="34" charset="0"/>
              </a:rPr>
              <a:t>i,0 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is set to w</a:t>
            </a:r>
            <a:r>
              <a:rPr lang="en-US" sz="2600" baseline="-25000" dirty="0">
                <a:latin typeface="Arial" pitchFamily="34" charset="0"/>
                <a:cs typeface="Arial" pitchFamily="34" charset="0"/>
              </a:rPr>
              <a:t>*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i</a:t>
            </a:r>
            <a:endParaRPr lang="en-US" sz="2600" dirty="0">
              <a:latin typeface="Arial" pitchFamily="34" charset="0"/>
              <a:cs typeface="Arial" pitchFamily="34" charset="0"/>
            </a:endParaRP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Each Col S</a:t>
            </a:r>
            <a:r>
              <a:rPr lang="en-US" sz="2600" baseline="-25000" dirty="0">
                <a:latin typeface="Arial" pitchFamily="34" charset="0"/>
                <a:cs typeface="Arial" pitchFamily="34" charset="0"/>
              </a:rPr>
              <a:t>0,j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set to w</a:t>
            </a:r>
            <a:r>
              <a:rPr lang="en-US" sz="2600" baseline="-25000" dirty="0">
                <a:latin typeface="Arial" pitchFamily="34" charset="0"/>
                <a:cs typeface="Arial" pitchFamily="34" charset="0"/>
              </a:rPr>
              <a:t>*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i</a:t>
            </a:r>
            <a:endParaRPr lang="en-US" sz="2600" dirty="0">
              <a:latin typeface="Arial" pitchFamily="34" charset="0"/>
              <a:cs typeface="Arial" pitchFamily="34" charset="0"/>
            </a:endParaRPr>
          </a:p>
          <a:p>
            <a:endParaRPr lang="en-US" sz="2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699043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47801" y="133350"/>
            <a:ext cx="495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  <a:cs typeface="Arial" pitchFamily="34" charset="0"/>
              </a:rPr>
              <a:t>Matrix Fill Step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1" y="2686050"/>
          <a:ext cx="6095999" cy="1645920"/>
        </p:xfrm>
        <a:graphic>
          <a:graphicData uri="http://schemas.openxmlformats.org/drawingml/2006/table">
            <a:tbl>
              <a:tblPr/>
              <a:tblGrid>
                <a:gridCol w="468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-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CCFF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C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-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FF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-4</a:t>
                      </a: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-8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 dirty="0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-12</a:t>
                      </a: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-16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-28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-32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-36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-40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-44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CCFF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3399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9933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5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-8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-12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-16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C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-28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2286000" y="2914650"/>
            <a:ext cx="342900" cy="257175"/>
            <a:chOff x="3600" y="3060"/>
            <a:chExt cx="540" cy="540"/>
          </a:xfrm>
        </p:grpSpPr>
        <p:sp>
          <p:nvSpPr>
            <p:cNvPr id="44038" name="Line 6"/>
            <p:cNvSpPr>
              <a:spLocks noChangeShapeType="1"/>
            </p:cNvSpPr>
            <p:nvPr/>
          </p:nvSpPr>
          <p:spPr bwMode="auto">
            <a:xfrm>
              <a:off x="4140" y="3060"/>
              <a:ext cx="0" cy="36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039" name="Line 7"/>
            <p:cNvSpPr>
              <a:spLocks noChangeShapeType="1"/>
            </p:cNvSpPr>
            <p:nvPr/>
          </p:nvSpPr>
          <p:spPr bwMode="auto">
            <a:xfrm>
              <a:off x="3600" y="3600"/>
              <a:ext cx="360" cy="0"/>
            </a:xfrm>
            <a:prstGeom prst="line">
              <a:avLst/>
            </a:prstGeom>
            <a:noFill/>
            <a:ln w="9525">
              <a:solidFill>
                <a:srgbClr val="339966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040" name="Line 8"/>
            <p:cNvSpPr>
              <a:spLocks noChangeShapeType="1"/>
            </p:cNvSpPr>
            <p:nvPr/>
          </p:nvSpPr>
          <p:spPr bwMode="auto">
            <a:xfrm>
              <a:off x="3600" y="3060"/>
              <a:ext cx="360" cy="36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209800" y="819150"/>
            <a:ext cx="72390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latin typeface="Arial" pitchFamily="34" charset="0"/>
                <a:cs typeface="Arial" pitchFamily="34" charset="0"/>
              </a:rPr>
              <a:t>S</a:t>
            </a:r>
            <a:r>
              <a:rPr lang="en-US" sz="2600" baseline="-25000" dirty="0" err="1">
                <a:latin typeface="Arial" pitchFamily="34" charset="0"/>
                <a:cs typeface="Arial" pitchFamily="34" charset="0"/>
              </a:rPr>
              <a:t>i,j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= Maximum [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S</a:t>
            </a:r>
            <a:r>
              <a:rPr lang="en-US" sz="2600" baseline="-25000" dirty="0">
                <a:latin typeface="Arial" pitchFamily="34" charset="0"/>
                <a:cs typeface="Arial" pitchFamily="34" charset="0"/>
              </a:rPr>
              <a:t>i-1, j-1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+ s(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a</a:t>
            </a:r>
            <a:r>
              <a:rPr lang="en-US" sz="2600" baseline="-25000" dirty="0" err="1">
                <a:latin typeface="Arial" pitchFamily="34" charset="0"/>
                <a:cs typeface="Arial" pitchFamily="34" charset="0"/>
              </a:rPr>
              <a:t>i,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b</a:t>
            </a:r>
            <a:r>
              <a:rPr lang="en-US" sz="2600" baseline="-25000" dirty="0" err="1">
                <a:latin typeface="Arial" pitchFamily="34" charset="0"/>
                <a:cs typeface="Arial" pitchFamily="34" charset="0"/>
              </a:rPr>
              <a:t>j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) match/mismatch in diagonal),     S</a:t>
            </a:r>
            <a:r>
              <a:rPr lang="en-US" sz="2600" baseline="-25000" dirty="0">
                <a:latin typeface="Arial" pitchFamily="34" charset="0"/>
                <a:cs typeface="Arial" pitchFamily="34" charset="0"/>
              </a:rPr>
              <a:t>i,j-1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+ w (gap in sequence #1),     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S</a:t>
            </a:r>
            <a:r>
              <a:rPr lang="en-US" sz="2600" baseline="-25000" dirty="0">
                <a:latin typeface="Arial" pitchFamily="34" charset="0"/>
                <a:cs typeface="Arial" pitchFamily="34" charset="0"/>
              </a:rPr>
              <a:t>i-1,j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+ w (gap in sequence #2)]</a:t>
            </a:r>
          </a:p>
        </p:txBody>
      </p:sp>
    </p:spTree>
    <p:extLst>
      <p:ext uri="{BB962C8B-B14F-4D97-AF65-F5344CB8AC3E}">
        <p14:creationId xmlns:p14="http://schemas.microsoft.com/office/powerpoint/2010/main" val="2144699043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52600" y="285750"/>
            <a:ext cx="495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  <a:cs typeface="Arial" pitchFamily="34" charset="0"/>
              </a:rPr>
              <a:t>Matrix Fill Step – 2</a:t>
            </a:r>
            <a:r>
              <a:rPr lang="en-US" sz="3200" b="1" baseline="30000" dirty="0">
                <a:latin typeface="+mj-lt"/>
                <a:cs typeface="Arial" pitchFamily="34" charset="0"/>
              </a:rPr>
              <a:t>nd</a:t>
            </a:r>
            <a:r>
              <a:rPr lang="en-US" sz="3200" b="1" dirty="0">
                <a:latin typeface="+mj-lt"/>
                <a:cs typeface="Arial" pitchFamily="34" charset="0"/>
              </a:rPr>
              <a:t> Cell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1" y="1748790"/>
          <a:ext cx="6095999" cy="1645920"/>
        </p:xfrm>
        <a:graphic>
          <a:graphicData uri="http://schemas.openxmlformats.org/drawingml/2006/table">
            <a:tbl>
              <a:tblPr/>
              <a:tblGrid>
                <a:gridCol w="468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-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CCFF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C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-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 dirty="0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-8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-12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-16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-28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-32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-36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-40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-44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CCFF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9933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5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9933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1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-8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-12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-16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C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-28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2781300" y="2000250"/>
            <a:ext cx="342900" cy="257175"/>
            <a:chOff x="3600" y="3060"/>
            <a:chExt cx="540" cy="540"/>
          </a:xfrm>
        </p:grpSpPr>
        <p:sp>
          <p:nvSpPr>
            <p:cNvPr id="41991" name="Line 7"/>
            <p:cNvSpPr>
              <a:spLocks noChangeShapeType="1"/>
            </p:cNvSpPr>
            <p:nvPr/>
          </p:nvSpPr>
          <p:spPr bwMode="auto">
            <a:xfrm>
              <a:off x="4140" y="3060"/>
              <a:ext cx="0" cy="36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92" name="Line 8"/>
            <p:cNvSpPr>
              <a:spLocks noChangeShapeType="1"/>
            </p:cNvSpPr>
            <p:nvPr/>
          </p:nvSpPr>
          <p:spPr bwMode="auto">
            <a:xfrm>
              <a:off x="3600" y="3600"/>
              <a:ext cx="360" cy="0"/>
            </a:xfrm>
            <a:prstGeom prst="line">
              <a:avLst/>
            </a:prstGeom>
            <a:noFill/>
            <a:ln w="9525">
              <a:solidFill>
                <a:srgbClr val="339966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93" name="Line 9"/>
            <p:cNvSpPr>
              <a:spLocks noChangeShapeType="1"/>
            </p:cNvSpPr>
            <p:nvPr/>
          </p:nvSpPr>
          <p:spPr bwMode="auto">
            <a:xfrm>
              <a:off x="3600" y="3060"/>
              <a:ext cx="360" cy="36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1994" name="Line 10"/>
          <p:cNvSpPr>
            <a:spLocks noChangeShapeType="1"/>
          </p:cNvSpPr>
          <p:nvPr/>
        </p:nvSpPr>
        <p:spPr bwMode="auto">
          <a:xfrm flipH="1" flipV="1">
            <a:off x="2286000" y="2000250"/>
            <a:ext cx="228600" cy="171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99043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45877" y="361950"/>
            <a:ext cx="495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  <a:cs typeface="Arial" pitchFamily="34" charset="0"/>
              </a:rPr>
              <a:t>Completion of First Row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1" y="1748790"/>
          <a:ext cx="6095999" cy="1645920"/>
        </p:xfrm>
        <a:graphic>
          <a:graphicData uri="http://schemas.openxmlformats.org/drawingml/2006/table">
            <a:tbl>
              <a:tblPr/>
              <a:tblGrid>
                <a:gridCol w="468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-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C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-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-8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-12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-16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-28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-32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-36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-40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-44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9933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5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dirty="0">
                          <a:solidFill>
                            <a:srgbClr val="9933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1</a:t>
                      </a: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9933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-3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9933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-7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9933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-11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9933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-15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9933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-19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9933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-23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9933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-27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9933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-31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9933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-35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-8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-12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-16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C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-28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9949" name="Line 13"/>
          <p:cNvSpPr>
            <a:spLocks noChangeShapeType="1"/>
          </p:cNvSpPr>
          <p:nvPr/>
        </p:nvSpPr>
        <p:spPr bwMode="auto">
          <a:xfrm flipH="1" flipV="1">
            <a:off x="2286000" y="2000250"/>
            <a:ext cx="228600" cy="171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950" name="Line 14"/>
          <p:cNvSpPr>
            <a:spLocks noChangeShapeType="1"/>
          </p:cNvSpPr>
          <p:nvPr/>
        </p:nvSpPr>
        <p:spPr bwMode="auto">
          <a:xfrm flipH="1">
            <a:off x="2743200" y="222885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951" name="Line 15"/>
          <p:cNvSpPr>
            <a:spLocks noChangeShapeType="1"/>
          </p:cNvSpPr>
          <p:nvPr/>
        </p:nvSpPr>
        <p:spPr bwMode="auto">
          <a:xfrm flipH="1">
            <a:off x="3200400" y="222885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952" name="Line 16"/>
          <p:cNvSpPr>
            <a:spLocks noChangeShapeType="1"/>
          </p:cNvSpPr>
          <p:nvPr/>
        </p:nvSpPr>
        <p:spPr bwMode="auto">
          <a:xfrm flipH="1">
            <a:off x="3657600" y="222885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953" name="Line 17"/>
          <p:cNvSpPr>
            <a:spLocks noChangeShapeType="1"/>
          </p:cNvSpPr>
          <p:nvPr/>
        </p:nvSpPr>
        <p:spPr bwMode="auto">
          <a:xfrm flipH="1">
            <a:off x="4191000" y="222885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954" name="Line 18"/>
          <p:cNvSpPr>
            <a:spLocks noChangeShapeType="1"/>
          </p:cNvSpPr>
          <p:nvPr/>
        </p:nvSpPr>
        <p:spPr bwMode="auto">
          <a:xfrm flipH="1">
            <a:off x="4648200" y="222885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955" name="Line 19"/>
          <p:cNvSpPr>
            <a:spLocks noChangeShapeType="1"/>
          </p:cNvSpPr>
          <p:nvPr/>
        </p:nvSpPr>
        <p:spPr bwMode="auto">
          <a:xfrm flipH="1">
            <a:off x="5181600" y="222885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956" name="Line 20"/>
          <p:cNvSpPr>
            <a:spLocks noChangeShapeType="1"/>
          </p:cNvSpPr>
          <p:nvPr/>
        </p:nvSpPr>
        <p:spPr bwMode="auto">
          <a:xfrm flipH="1">
            <a:off x="5638800" y="222885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957" name="Line 21"/>
          <p:cNvSpPr>
            <a:spLocks noChangeShapeType="1"/>
          </p:cNvSpPr>
          <p:nvPr/>
        </p:nvSpPr>
        <p:spPr bwMode="auto">
          <a:xfrm flipH="1">
            <a:off x="6096000" y="222885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958" name="Line 22"/>
          <p:cNvSpPr>
            <a:spLocks noChangeShapeType="1"/>
          </p:cNvSpPr>
          <p:nvPr/>
        </p:nvSpPr>
        <p:spPr bwMode="auto">
          <a:xfrm flipH="1">
            <a:off x="6553200" y="222885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959" name="Line 23"/>
          <p:cNvSpPr>
            <a:spLocks noChangeShapeType="1"/>
          </p:cNvSpPr>
          <p:nvPr/>
        </p:nvSpPr>
        <p:spPr bwMode="auto">
          <a:xfrm flipH="1">
            <a:off x="7010400" y="228600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99043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7401" y="285750"/>
            <a:ext cx="495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  <a:cs typeface="Arial" pitchFamily="34" charset="0"/>
              </a:rPr>
              <a:t>Matrix Fill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1" y="1748790"/>
          <a:ext cx="6095999" cy="1645920"/>
        </p:xfrm>
        <a:graphic>
          <a:graphicData uri="http://schemas.openxmlformats.org/drawingml/2006/table">
            <a:tbl>
              <a:tblPr/>
              <a:tblGrid>
                <a:gridCol w="468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-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C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-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-8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-12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-16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-28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-32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-36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-40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-44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 dirty="0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-4</a:t>
                      </a: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 dirty="0">
                          <a:solidFill>
                            <a:srgbClr val="9933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5</a:t>
                      </a: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dirty="0">
                          <a:solidFill>
                            <a:srgbClr val="9933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1</a:t>
                      </a: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9933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-3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9933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-7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9933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-11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9933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-15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9933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-19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9933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-23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9933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-27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9933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-31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9933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-35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 dirty="0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-8</a:t>
                      </a: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 kern="1200" dirty="0">
                          <a:solidFill>
                            <a:srgbClr val="9933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-12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-16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C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-28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8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9949" name="Line 13"/>
          <p:cNvSpPr>
            <a:spLocks noChangeShapeType="1"/>
          </p:cNvSpPr>
          <p:nvPr/>
        </p:nvSpPr>
        <p:spPr bwMode="auto">
          <a:xfrm flipH="1" flipV="1">
            <a:off x="2286000" y="2000250"/>
            <a:ext cx="228600" cy="171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950" name="Line 14"/>
          <p:cNvSpPr>
            <a:spLocks noChangeShapeType="1"/>
          </p:cNvSpPr>
          <p:nvPr/>
        </p:nvSpPr>
        <p:spPr bwMode="auto">
          <a:xfrm flipH="1">
            <a:off x="2743200" y="222885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951" name="Line 15"/>
          <p:cNvSpPr>
            <a:spLocks noChangeShapeType="1"/>
          </p:cNvSpPr>
          <p:nvPr/>
        </p:nvSpPr>
        <p:spPr bwMode="auto">
          <a:xfrm flipH="1">
            <a:off x="3200400" y="222885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952" name="Line 16"/>
          <p:cNvSpPr>
            <a:spLocks noChangeShapeType="1"/>
          </p:cNvSpPr>
          <p:nvPr/>
        </p:nvSpPr>
        <p:spPr bwMode="auto">
          <a:xfrm flipH="1">
            <a:off x="3657600" y="222885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953" name="Line 17"/>
          <p:cNvSpPr>
            <a:spLocks noChangeShapeType="1"/>
          </p:cNvSpPr>
          <p:nvPr/>
        </p:nvSpPr>
        <p:spPr bwMode="auto">
          <a:xfrm flipH="1">
            <a:off x="4191000" y="222885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954" name="Line 18"/>
          <p:cNvSpPr>
            <a:spLocks noChangeShapeType="1"/>
          </p:cNvSpPr>
          <p:nvPr/>
        </p:nvSpPr>
        <p:spPr bwMode="auto">
          <a:xfrm flipH="1">
            <a:off x="4648200" y="222885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955" name="Line 19"/>
          <p:cNvSpPr>
            <a:spLocks noChangeShapeType="1"/>
          </p:cNvSpPr>
          <p:nvPr/>
        </p:nvSpPr>
        <p:spPr bwMode="auto">
          <a:xfrm flipH="1">
            <a:off x="5181600" y="222885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956" name="Line 20"/>
          <p:cNvSpPr>
            <a:spLocks noChangeShapeType="1"/>
          </p:cNvSpPr>
          <p:nvPr/>
        </p:nvSpPr>
        <p:spPr bwMode="auto">
          <a:xfrm flipH="1">
            <a:off x="5638800" y="222885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957" name="Line 21"/>
          <p:cNvSpPr>
            <a:spLocks noChangeShapeType="1"/>
          </p:cNvSpPr>
          <p:nvPr/>
        </p:nvSpPr>
        <p:spPr bwMode="auto">
          <a:xfrm flipH="1">
            <a:off x="6096000" y="222885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958" name="Line 22"/>
          <p:cNvSpPr>
            <a:spLocks noChangeShapeType="1"/>
          </p:cNvSpPr>
          <p:nvPr/>
        </p:nvSpPr>
        <p:spPr bwMode="auto">
          <a:xfrm flipH="1">
            <a:off x="6553200" y="222885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959" name="Line 23"/>
          <p:cNvSpPr>
            <a:spLocks noChangeShapeType="1"/>
          </p:cNvSpPr>
          <p:nvPr/>
        </p:nvSpPr>
        <p:spPr bwMode="auto">
          <a:xfrm flipH="1">
            <a:off x="7010400" y="228600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058" name="Line 2"/>
          <p:cNvSpPr>
            <a:spLocks noChangeShapeType="1"/>
          </p:cNvSpPr>
          <p:nvPr/>
        </p:nvSpPr>
        <p:spPr bwMode="auto">
          <a:xfrm>
            <a:off x="2667000" y="2228850"/>
            <a:ext cx="0" cy="17145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059" name="Line 3"/>
          <p:cNvSpPr>
            <a:spLocks noChangeShapeType="1"/>
          </p:cNvSpPr>
          <p:nvPr/>
        </p:nvSpPr>
        <p:spPr bwMode="auto">
          <a:xfrm>
            <a:off x="2286000" y="2400300"/>
            <a:ext cx="228600" cy="0"/>
          </a:xfrm>
          <a:prstGeom prst="line">
            <a:avLst/>
          </a:prstGeom>
          <a:noFill/>
          <a:ln w="9525">
            <a:solidFill>
              <a:srgbClr val="339966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060" name="Line 4"/>
          <p:cNvSpPr>
            <a:spLocks noChangeShapeType="1"/>
          </p:cNvSpPr>
          <p:nvPr/>
        </p:nvSpPr>
        <p:spPr bwMode="auto">
          <a:xfrm>
            <a:off x="2286000" y="2171700"/>
            <a:ext cx="228600" cy="1714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99043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3600" y="285750"/>
            <a:ext cx="495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  <a:cs typeface="Arial" pitchFamily="34" charset="0"/>
              </a:rPr>
              <a:t>Filled Matrix</a:t>
            </a:r>
          </a:p>
        </p:txBody>
      </p:sp>
      <p:pic>
        <p:nvPicPr>
          <p:cNvPr id="38084" name="Picture 19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07007" y="1200151"/>
            <a:ext cx="7278027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44699043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09550"/>
            <a:ext cx="495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latin typeface="+mj-lt"/>
                <a:cs typeface="Arial" pitchFamily="34" charset="0"/>
              </a:rPr>
              <a:t>Traceback</a:t>
            </a:r>
            <a:endParaRPr lang="en-US" sz="3200" b="1" dirty="0">
              <a:latin typeface="+mj-lt"/>
              <a:cs typeface="Arial" pitchFamily="34" charset="0"/>
            </a:endParaRPr>
          </a:p>
        </p:txBody>
      </p:sp>
      <p:pic>
        <p:nvPicPr>
          <p:cNvPr id="52379" name="Picture 15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8327" y="2038350"/>
            <a:ext cx="6932673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838200" y="895350"/>
            <a:ext cx="74676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Arial" pitchFamily="34" charset="0"/>
                <a:cs typeface="Arial" pitchFamily="34" charset="0"/>
              </a:rPr>
              <a:t>Actual alignment for maximum score begins in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postion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S</a:t>
            </a:r>
            <a:r>
              <a:rPr lang="en-US" sz="2600" baseline="-25000" dirty="0" err="1">
                <a:latin typeface="Arial" pitchFamily="34" charset="0"/>
                <a:cs typeface="Arial" pitchFamily="34" charset="0"/>
              </a:rPr>
              <a:t>m,n</a:t>
            </a:r>
            <a:endParaRPr lang="en-US" sz="2600" baseline="-25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699043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52600" y="285750"/>
            <a:ext cx="495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latin typeface="+mj-lt"/>
                <a:cs typeface="Arial" pitchFamily="34" charset="0"/>
              </a:rPr>
              <a:t>Traceback</a:t>
            </a:r>
            <a:endParaRPr lang="en-US" sz="3200" b="1" dirty="0">
              <a:latin typeface="+mj-lt"/>
              <a:cs typeface="Arial" pitchFamily="34" charset="0"/>
            </a:endParaRPr>
          </a:p>
        </p:txBody>
      </p:sp>
      <p:graphicFrame>
        <p:nvGraphicFramePr>
          <p:cNvPr id="103" name="Table 102"/>
          <p:cNvGraphicFramePr>
            <a:graphicFrameLocks noGrp="1"/>
          </p:cNvGraphicFramePr>
          <p:nvPr/>
        </p:nvGraphicFramePr>
        <p:xfrm>
          <a:off x="1524001" y="1714500"/>
          <a:ext cx="6095999" cy="1645920"/>
        </p:xfrm>
        <a:graphic>
          <a:graphicData uri="http://schemas.openxmlformats.org/drawingml/2006/table">
            <a:tbl>
              <a:tblPr/>
              <a:tblGrid>
                <a:gridCol w="468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-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C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-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00FF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-8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-12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-16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-28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-32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-36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-40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-44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00FF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5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1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-3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-7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-11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-15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-19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-23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-27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-31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-35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00FF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2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-6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-18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-18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-22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-26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-12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-3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6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7</a:t>
                      </a: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00FF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3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-5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-9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-13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-17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-21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-17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-16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-7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2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3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12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00FF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8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-8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-12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-16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C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-11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8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9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00FF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13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00FF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9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5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1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-3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-7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-15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-6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5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5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9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10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00FF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14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00FF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10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00FF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6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2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-28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-19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-1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1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5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14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10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11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7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 dirty="0">
                          <a:solidFill>
                            <a:srgbClr val="0000FF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11</a:t>
                      </a: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0188" name="Line 12"/>
          <p:cNvSpPr>
            <a:spLocks noChangeShapeType="1"/>
          </p:cNvSpPr>
          <p:nvPr/>
        </p:nvSpPr>
        <p:spPr bwMode="auto">
          <a:xfrm flipH="1" flipV="1">
            <a:off x="2286000" y="2000250"/>
            <a:ext cx="228600" cy="171450"/>
          </a:xfrm>
          <a:prstGeom prst="line">
            <a:avLst/>
          </a:prstGeom>
          <a:noFill/>
          <a:ln w="9525">
            <a:solidFill>
              <a:schemeClr val="accent2">
                <a:lumMod val="75000"/>
              </a:schemeClr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189" name="Line 13"/>
          <p:cNvSpPr>
            <a:spLocks noChangeShapeType="1"/>
          </p:cNvSpPr>
          <p:nvPr/>
        </p:nvSpPr>
        <p:spPr bwMode="auto">
          <a:xfrm flipH="1" flipV="1">
            <a:off x="2743200" y="2171700"/>
            <a:ext cx="228600" cy="171450"/>
          </a:xfrm>
          <a:prstGeom prst="line">
            <a:avLst/>
          </a:prstGeom>
          <a:noFill/>
          <a:ln w="9525">
            <a:solidFill>
              <a:schemeClr val="accent2">
                <a:lumMod val="75000"/>
              </a:schemeClr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190" name="Line 14"/>
          <p:cNvSpPr>
            <a:spLocks noChangeShapeType="1"/>
          </p:cNvSpPr>
          <p:nvPr/>
        </p:nvSpPr>
        <p:spPr bwMode="auto">
          <a:xfrm flipH="1" flipV="1">
            <a:off x="3200400" y="2343150"/>
            <a:ext cx="228600" cy="171450"/>
          </a:xfrm>
          <a:prstGeom prst="line">
            <a:avLst/>
          </a:prstGeom>
          <a:noFill/>
          <a:ln w="9525">
            <a:solidFill>
              <a:schemeClr val="accent2">
                <a:lumMod val="75000"/>
              </a:schemeClr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191" name="Line 15"/>
          <p:cNvSpPr>
            <a:spLocks noChangeShapeType="1"/>
          </p:cNvSpPr>
          <p:nvPr/>
        </p:nvSpPr>
        <p:spPr bwMode="auto">
          <a:xfrm flipH="1">
            <a:off x="3733800" y="2571750"/>
            <a:ext cx="228600" cy="0"/>
          </a:xfrm>
          <a:prstGeom prst="line">
            <a:avLst/>
          </a:prstGeom>
          <a:noFill/>
          <a:ln w="9525">
            <a:solidFill>
              <a:schemeClr val="accent2">
                <a:lumMod val="75000"/>
              </a:schemeClr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192" name="Line 16"/>
          <p:cNvSpPr>
            <a:spLocks noChangeShapeType="1"/>
          </p:cNvSpPr>
          <p:nvPr/>
        </p:nvSpPr>
        <p:spPr bwMode="auto">
          <a:xfrm flipH="1" flipV="1">
            <a:off x="4191000" y="2571750"/>
            <a:ext cx="228600" cy="171450"/>
          </a:xfrm>
          <a:prstGeom prst="line">
            <a:avLst/>
          </a:prstGeom>
          <a:noFill/>
          <a:ln w="9525">
            <a:solidFill>
              <a:schemeClr val="accent2">
                <a:lumMod val="75000"/>
              </a:schemeClr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193" name="Line 17"/>
          <p:cNvSpPr>
            <a:spLocks noChangeShapeType="1"/>
          </p:cNvSpPr>
          <p:nvPr/>
        </p:nvSpPr>
        <p:spPr bwMode="auto">
          <a:xfrm flipH="1" flipV="1">
            <a:off x="4572000" y="2743200"/>
            <a:ext cx="228600" cy="85725"/>
          </a:xfrm>
          <a:prstGeom prst="line">
            <a:avLst/>
          </a:prstGeom>
          <a:noFill/>
          <a:ln w="9525">
            <a:solidFill>
              <a:schemeClr val="accent2">
                <a:lumMod val="75000"/>
              </a:schemeClr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194" name="Line 18"/>
          <p:cNvSpPr>
            <a:spLocks noChangeShapeType="1"/>
          </p:cNvSpPr>
          <p:nvPr/>
        </p:nvSpPr>
        <p:spPr bwMode="auto">
          <a:xfrm flipH="1">
            <a:off x="5105400" y="2914650"/>
            <a:ext cx="228600" cy="0"/>
          </a:xfrm>
          <a:prstGeom prst="line">
            <a:avLst/>
          </a:prstGeom>
          <a:noFill/>
          <a:ln w="9525">
            <a:solidFill>
              <a:schemeClr val="accent2">
                <a:lumMod val="75000"/>
              </a:schemeClr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195" name="Line 19"/>
          <p:cNvSpPr>
            <a:spLocks noChangeShapeType="1"/>
          </p:cNvSpPr>
          <p:nvPr/>
        </p:nvSpPr>
        <p:spPr bwMode="auto">
          <a:xfrm flipH="1" flipV="1">
            <a:off x="5562600" y="2971800"/>
            <a:ext cx="228600" cy="85725"/>
          </a:xfrm>
          <a:prstGeom prst="line">
            <a:avLst/>
          </a:prstGeom>
          <a:noFill/>
          <a:ln w="9525">
            <a:solidFill>
              <a:schemeClr val="accent2">
                <a:lumMod val="75000"/>
              </a:schemeClr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196" name="Line 20"/>
          <p:cNvSpPr>
            <a:spLocks noChangeShapeType="1"/>
          </p:cNvSpPr>
          <p:nvPr/>
        </p:nvSpPr>
        <p:spPr bwMode="auto">
          <a:xfrm flipH="1">
            <a:off x="6019800" y="3143250"/>
            <a:ext cx="228600" cy="0"/>
          </a:xfrm>
          <a:prstGeom prst="line">
            <a:avLst/>
          </a:prstGeom>
          <a:noFill/>
          <a:ln w="9525">
            <a:solidFill>
              <a:schemeClr val="accent2">
                <a:lumMod val="75000"/>
              </a:schemeClr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197" name="Line 21"/>
          <p:cNvSpPr>
            <a:spLocks noChangeShapeType="1"/>
          </p:cNvSpPr>
          <p:nvPr/>
        </p:nvSpPr>
        <p:spPr bwMode="auto">
          <a:xfrm flipH="1">
            <a:off x="6477000" y="3143250"/>
            <a:ext cx="228600" cy="0"/>
          </a:xfrm>
          <a:prstGeom prst="line">
            <a:avLst/>
          </a:prstGeom>
          <a:noFill/>
          <a:ln w="9525">
            <a:solidFill>
              <a:schemeClr val="accent2">
                <a:lumMod val="75000"/>
              </a:schemeClr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198" name="Line 22"/>
          <p:cNvSpPr>
            <a:spLocks noChangeShapeType="1"/>
          </p:cNvSpPr>
          <p:nvPr/>
        </p:nvSpPr>
        <p:spPr bwMode="auto">
          <a:xfrm flipH="1" flipV="1">
            <a:off x="7010400" y="3143250"/>
            <a:ext cx="228600" cy="85725"/>
          </a:xfrm>
          <a:prstGeom prst="line">
            <a:avLst/>
          </a:prstGeom>
          <a:noFill/>
          <a:ln w="9525">
            <a:solidFill>
              <a:schemeClr val="accent2">
                <a:lumMod val="75000"/>
              </a:schemeClr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667000" y="3486150"/>
            <a:ext cx="4572000" cy="129266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600" b="1" dirty="0">
                <a:latin typeface="Arial" pitchFamily="34" charset="0"/>
                <a:cs typeface="Arial" pitchFamily="34" charset="0"/>
              </a:rPr>
              <a:t>G A </a:t>
            </a:r>
            <a:r>
              <a:rPr lang="en-US" sz="2600" b="1" dirty="0" err="1">
                <a:latin typeface="Arial" pitchFamily="34" charset="0"/>
                <a:cs typeface="Arial" pitchFamily="34" charset="0"/>
              </a:rPr>
              <a:t>A</a:t>
            </a:r>
            <a:r>
              <a:rPr lang="en-US" sz="2600" b="1" dirty="0">
                <a:latin typeface="Arial" pitchFamily="34" charset="0"/>
                <a:cs typeface="Arial" pitchFamily="34" charset="0"/>
              </a:rPr>
              <a:t> T </a:t>
            </a:r>
            <a:r>
              <a:rPr lang="en-US" sz="2600" b="1" dirty="0" err="1">
                <a:latin typeface="Arial" pitchFamily="34" charset="0"/>
                <a:cs typeface="Arial" pitchFamily="34" charset="0"/>
              </a:rPr>
              <a:t>T</a:t>
            </a:r>
            <a:r>
              <a:rPr lang="en-US" sz="2600" b="1" dirty="0">
                <a:latin typeface="Arial" pitchFamily="34" charset="0"/>
                <a:cs typeface="Arial" pitchFamily="34" charset="0"/>
              </a:rPr>
              <a:t> C A G T </a:t>
            </a:r>
            <a:r>
              <a:rPr lang="en-US" sz="2600" b="1" dirty="0" err="1">
                <a:latin typeface="Arial" pitchFamily="34" charset="0"/>
                <a:cs typeface="Arial" pitchFamily="34" charset="0"/>
              </a:rPr>
              <a:t>T</a:t>
            </a:r>
            <a:r>
              <a:rPr lang="en-US" sz="2600" b="1" dirty="0">
                <a:latin typeface="Arial" pitchFamily="34" charset="0"/>
                <a:cs typeface="Arial" pitchFamily="34" charset="0"/>
              </a:rPr>
              <a:t> A</a:t>
            </a:r>
            <a:endParaRPr lang="en-US" sz="2600" dirty="0">
              <a:latin typeface="Arial" pitchFamily="34" charset="0"/>
              <a:cs typeface="Arial" pitchFamily="34" charset="0"/>
            </a:endParaRPr>
          </a:p>
          <a:p>
            <a:r>
              <a:rPr lang="en-US" sz="2600" b="1" dirty="0">
                <a:latin typeface="Arial" pitchFamily="34" charset="0"/>
                <a:cs typeface="Arial" pitchFamily="34" charset="0"/>
              </a:rPr>
              <a:t>|       |     |   |     |          |</a:t>
            </a:r>
            <a:endParaRPr lang="en-US" sz="2600" dirty="0">
              <a:latin typeface="Arial" pitchFamily="34" charset="0"/>
              <a:cs typeface="Arial" pitchFamily="34" charset="0"/>
            </a:endParaRPr>
          </a:p>
          <a:p>
            <a:r>
              <a:rPr lang="en-US" sz="2600" b="1" dirty="0">
                <a:latin typeface="Arial" pitchFamily="34" charset="0"/>
                <a:cs typeface="Arial" pitchFamily="34" charset="0"/>
              </a:rPr>
              <a:t>G </a:t>
            </a:r>
            <a:r>
              <a:rPr lang="en-US" sz="2600" b="1" dirty="0" err="1">
                <a:latin typeface="Arial" pitchFamily="34" charset="0"/>
                <a:cs typeface="Arial" pitchFamily="34" charset="0"/>
              </a:rPr>
              <a:t>G</a:t>
            </a:r>
            <a:r>
              <a:rPr lang="en-US" sz="2600" b="1" dirty="0">
                <a:latin typeface="Arial" pitchFamily="34" charset="0"/>
                <a:cs typeface="Arial" pitchFamily="34" charset="0"/>
              </a:rPr>
              <a:t> A – T C – G  - -  A</a:t>
            </a:r>
          </a:p>
        </p:txBody>
      </p:sp>
    </p:spTree>
    <p:extLst>
      <p:ext uri="{BB962C8B-B14F-4D97-AF65-F5344CB8AC3E}">
        <p14:creationId xmlns:p14="http://schemas.microsoft.com/office/powerpoint/2010/main" val="2144699043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09801" y="174307"/>
            <a:ext cx="495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  <a:cs typeface="Arial" pitchFamily="34" charset="0"/>
              </a:rPr>
              <a:t>Verification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52400" y="742950"/>
            <a:ext cx="7696200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>
                <a:latin typeface="Arial" pitchFamily="34" charset="0"/>
                <a:cs typeface="Arial" pitchFamily="34" charset="0"/>
              </a:rPr>
              <a:t>	The resulting global alignment is as follows: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 </a:t>
            </a:r>
            <a:endParaRPr lang="en-US" sz="2600" b="1" dirty="0">
              <a:latin typeface="Arial" pitchFamily="34" charset="0"/>
              <a:cs typeface="Arial" pitchFamily="34" charset="0"/>
            </a:endParaRPr>
          </a:p>
          <a:p>
            <a:r>
              <a:rPr lang="en-US" sz="2600" b="1" dirty="0">
                <a:latin typeface="Arial" pitchFamily="34" charset="0"/>
                <a:cs typeface="Arial" pitchFamily="34" charset="0"/>
              </a:rPr>
              <a:t>	G A </a:t>
            </a:r>
            <a:r>
              <a:rPr lang="en-US" sz="2600" b="1" dirty="0" err="1">
                <a:latin typeface="Arial" pitchFamily="34" charset="0"/>
                <a:cs typeface="Arial" pitchFamily="34" charset="0"/>
              </a:rPr>
              <a:t>A</a:t>
            </a:r>
            <a:r>
              <a:rPr lang="en-US" sz="2600" b="1" dirty="0">
                <a:latin typeface="Arial" pitchFamily="34" charset="0"/>
                <a:cs typeface="Arial" pitchFamily="34" charset="0"/>
              </a:rPr>
              <a:t> T </a:t>
            </a:r>
            <a:r>
              <a:rPr lang="en-US" sz="2600" b="1" dirty="0" err="1">
                <a:latin typeface="Arial" pitchFamily="34" charset="0"/>
                <a:cs typeface="Arial" pitchFamily="34" charset="0"/>
              </a:rPr>
              <a:t>T</a:t>
            </a:r>
            <a:r>
              <a:rPr lang="en-US" sz="2600" b="1" dirty="0">
                <a:latin typeface="Arial" pitchFamily="34" charset="0"/>
                <a:cs typeface="Arial" pitchFamily="34" charset="0"/>
              </a:rPr>
              <a:t> C A G T </a:t>
            </a:r>
            <a:r>
              <a:rPr lang="en-US" sz="2600" b="1" dirty="0" err="1">
                <a:latin typeface="Arial" pitchFamily="34" charset="0"/>
                <a:cs typeface="Arial" pitchFamily="34" charset="0"/>
              </a:rPr>
              <a:t>T</a:t>
            </a:r>
            <a:r>
              <a:rPr lang="en-US" sz="2600" b="1" dirty="0">
                <a:latin typeface="Arial" pitchFamily="34" charset="0"/>
                <a:cs typeface="Arial" pitchFamily="34" charset="0"/>
              </a:rPr>
              <a:t> A</a:t>
            </a:r>
            <a:endParaRPr lang="en-US" sz="2600" dirty="0">
              <a:latin typeface="Arial" pitchFamily="34" charset="0"/>
              <a:cs typeface="Arial" pitchFamily="34" charset="0"/>
            </a:endParaRPr>
          </a:p>
          <a:p>
            <a:r>
              <a:rPr lang="en-US" sz="2600" b="1" dirty="0">
                <a:latin typeface="Arial" pitchFamily="34" charset="0"/>
                <a:cs typeface="Arial" pitchFamily="34" charset="0"/>
              </a:rPr>
              <a:t>	 |      |     |   |      |        |</a:t>
            </a:r>
            <a:endParaRPr lang="en-US" sz="2600" dirty="0">
              <a:latin typeface="Arial" pitchFamily="34" charset="0"/>
              <a:cs typeface="Arial" pitchFamily="34" charset="0"/>
            </a:endParaRPr>
          </a:p>
          <a:p>
            <a:r>
              <a:rPr lang="en-US" sz="2600" b="1" dirty="0">
                <a:latin typeface="Arial" pitchFamily="34" charset="0"/>
                <a:cs typeface="Arial" pitchFamily="34" charset="0"/>
              </a:rPr>
              <a:t>	G </a:t>
            </a:r>
            <a:r>
              <a:rPr lang="en-US" sz="2600" b="1" dirty="0" err="1">
                <a:latin typeface="Arial" pitchFamily="34" charset="0"/>
                <a:cs typeface="Arial" pitchFamily="34" charset="0"/>
              </a:rPr>
              <a:t>G</a:t>
            </a:r>
            <a:r>
              <a:rPr lang="en-US" sz="2600" b="1" dirty="0">
                <a:latin typeface="Arial" pitchFamily="34" charset="0"/>
                <a:cs typeface="Arial" pitchFamily="34" charset="0"/>
              </a:rPr>
              <a:t> A – T C – G - — A</a:t>
            </a:r>
            <a:endParaRPr lang="en-US" sz="2600" dirty="0">
              <a:latin typeface="Arial" pitchFamily="34" charset="0"/>
              <a:cs typeface="Arial" pitchFamily="34" charset="0"/>
            </a:endParaRP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 	+  -  +  - + + - + - - +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	5 3 5 4 5 5 4 5 4 4 5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 	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	5 – 3 + 5 – 4 + 5 + 5 – 4 + 5 – 4 –4 + 5 = 11</a:t>
            </a:r>
          </a:p>
          <a:p>
            <a:endParaRPr lang="en-US" sz="2600" dirty="0">
              <a:latin typeface="Arial" pitchFamily="34" charset="0"/>
              <a:cs typeface="Arial" pitchFamily="34" charset="0"/>
            </a:endParaRPr>
          </a:p>
          <a:p>
            <a:endParaRPr lang="en-US" sz="2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699043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1" y="133350"/>
            <a:ext cx="495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  <a:cs typeface="Arial" pitchFamily="34" charset="0"/>
              </a:rPr>
              <a:t>Local Alignment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819150"/>
            <a:ext cx="74676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Arial" pitchFamily="34" charset="0"/>
                <a:cs typeface="Arial" pitchFamily="34" charset="0"/>
              </a:rPr>
              <a:t>Negative scores for mismatches</a:t>
            </a:r>
          </a:p>
          <a:p>
            <a:endParaRPr lang="en-US" sz="2600" dirty="0">
              <a:latin typeface="Arial" pitchFamily="34" charset="0"/>
              <a:cs typeface="Arial" pitchFamily="34" charset="0"/>
            </a:endParaRP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When the dynamic programming scoring matrix value becomes negative, the value is set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to zero, which has the effect of terminating any alignment up to that point.</a:t>
            </a:r>
          </a:p>
        </p:txBody>
      </p:sp>
    </p:spTree>
    <p:extLst>
      <p:ext uri="{BB962C8B-B14F-4D97-AF65-F5344CB8AC3E}">
        <p14:creationId xmlns:p14="http://schemas.microsoft.com/office/powerpoint/2010/main" val="2144699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5000" y="209550"/>
            <a:ext cx="495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  <a:cs typeface="Arial" pitchFamily="34" charset="0"/>
              </a:rPr>
              <a:t>Matrix Fill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1123950"/>
            <a:ext cx="7239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latin typeface="Arial" pitchFamily="34" charset="0"/>
                <a:cs typeface="Arial" pitchFamily="34" charset="0"/>
              </a:rPr>
              <a:t>S</a:t>
            </a:r>
            <a:r>
              <a:rPr lang="en-US" sz="2600" baseline="-25000" dirty="0" err="1">
                <a:latin typeface="Arial" pitchFamily="34" charset="0"/>
                <a:cs typeface="Arial" pitchFamily="34" charset="0"/>
              </a:rPr>
              <a:t>i,j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= Maximum [S</a:t>
            </a:r>
            <a:r>
              <a:rPr lang="en-US" sz="2600" baseline="-25000" dirty="0">
                <a:latin typeface="Arial" pitchFamily="34" charset="0"/>
                <a:cs typeface="Arial" pitchFamily="34" charset="0"/>
              </a:rPr>
              <a:t>i-1, j-1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+ s(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a</a:t>
            </a:r>
            <a:r>
              <a:rPr lang="en-US" sz="2600" baseline="-25000" dirty="0" err="1">
                <a:latin typeface="Arial" pitchFamily="34" charset="0"/>
                <a:cs typeface="Arial" pitchFamily="34" charset="0"/>
              </a:rPr>
              <a:t>i,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b</a:t>
            </a:r>
            <a:r>
              <a:rPr lang="en-US" sz="2600" baseline="-25000" dirty="0" err="1">
                <a:latin typeface="Arial" pitchFamily="34" charset="0"/>
                <a:cs typeface="Arial" pitchFamily="34" charset="0"/>
              </a:rPr>
              <a:t>j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) match/mismatch in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diag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),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		S</a:t>
            </a:r>
            <a:r>
              <a:rPr lang="en-US" sz="2600" baseline="-25000" dirty="0">
                <a:latin typeface="Arial" pitchFamily="34" charset="0"/>
                <a:cs typeface="Arial" pitchFamily="34" charset="0"/>
              </a:rPr>
              <a:t>i,j-1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+ w  (gap in sequence #1),     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		S</a:t>
            </a:r>
            <a:r>
              <a:rPr lang="en-US" sz="2600" baseline="-25000" dirty="0">
                <a:latin typeface="Arial" pitchFamily="34" charset="0"/>
                <a:cs typeface="Arial" pitchFamily="34" charset="0"/>
              </a:rPr>
              <a:t>i-1,j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+ w  (gap in sequence #2)],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		 0]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The local alignments are then produced by starting at the highest-scoring positions in the scoring matrix and following a trace path from those positions up to a box that scores zero.</a:t>
            </a:r>
          </a:p>
          <a:p>
            <a:endParaRPr lang="en-US" sz="2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699043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7400" y="285750"/>
            <a:ext cx="495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  <a:cs typeface="Arial" pitchFamily="34" charset="0"/>
              </a:rPr>
              <a:t>Initialization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1" y="1748790"/>
          <a:ext cx="6095999" cy="1645920"/>
        </p:xfrm>
        <a:graphic>
          <a:graphicData uri="http://schemas.openxmlformats.org/drawingml/2006/table">
            <a:tbl>
              <a:tblPr/>
              <a:tblGrid>
                <a:gridCol w="468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-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C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-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C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4699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5000" y="361950"/>
            <a:ext cx="495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  <a:cs typeface="Arial" pitchFamily="34" charset="0"/>
              </a:rPr>
              <a:t>Matrix Fill Step</a:t>
            </a:r>
          </a:p>
        </p:txBody>
      </p: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2286000" y="2000250"/>
            <a:ext cx="342900" cy="257175"/>
            <a:chOff x="3600" y="3060"/>
            <a:chExt cx="540" cy="540"/>
          </a:xfrm>
        </p:grpSpPr>
        <p:sp>
          <p:nvSpPr>
            <p:cNvPr id="44038" name="Line 6"/>
            <p:cNvSpPr>
              <a:spLocks noChangeShapeType="1"/>
            </p:cNvSpPr>
            <p:nvPr/>
          </p:nvSpPr>
          <p:spPr bwMode="auto">
            <a:xfrm>
              <a:off x="4140" y="3060"/>
              <a:ext cx="0" cy="36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039" name="Line 7"/>
            <p:cNvSpPr>
              <a:spLocks noChangeShapeType="1"/>
            </p:cNvSpPr>
            <p:nvPr/>
          </p:nvSpPr>
          <p:spPr bwMode="auto">
            <a:xfrm>
              <a:off x="3600" y="3600"/>
              <a:ext cx="360" cy="0"/>
            </a:xfrm>
            <a:prstGeom prst="line">
              <a:avLst/>
            </a:prstGeom>
            <a:noFill/>
            <a:ln w="9525">
              <a:solidFill>
                <a:srgbClr val="339966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040" name="Line 8"/>
            <p:cNvSpPr>
              <a:spLocks noChangeShapeType="1"/>
            </p:cNvSpPr>
            <p:nvPr/>
          </p:nvSpPr>
          <p:spPr bwMode="auto">
            <a:xfrm>
              <a:off x="3600" y="3060"/>
              <a:ext cx="360" cy="36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524001" y="1783080"/>
          <a:ext cx="6095999" cy="1645920"/>
        </p:xfrm>
        <a:graphic>
          <a:graphicData uri="http://schemas.openxmlformats.org/drawingml/2006/table">
            <a:tbl>
              <a:tblPr/>
              <a:tblGrid>
                <a:gridCol w="468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-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CCFF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C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-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FF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0000FF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CCFF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3399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9933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5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C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4699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52600" y="285750"/>
            <a:ext cx="495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  <a:cs typeface="Arial" pitchFamily="34" charset="0"/>
              </a:rPr>
              <a:t>Matrix Fill Step</a:t>
            </a:r>
          </a:p>
        </p:txBody>
      </p: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2781300" y="2000250"/>
            <a:ext cx="342900" cy="257175"/>
            <a:chOff x="3600" y="3060"/>
            <a:chExt cx="540" cy="540"/>
          </a:xfrm>
        </p:grpSpPr>
        <p:sp>
          <p:nvSpPr>
            <p:cNvPr id="41991" name="Line 7"/>
            <p:cNvSpPr>
              <a:spLocks noChangeShapeType="1"/>
            </p:cNvSpPr>
            <p:nvPr/>
          </p:nvSpPr>
          <p:spPr bwMode="auto">
            <a:xfrm>
              <a:off x="4140" y="3060"/>
              <a:ext cx="0" cy="36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92" name="Line 8"/>
            <p:cNvSpPr>
              <a:spLocks noChangeShapeType="1"/>
            </p:cNvSpPr>
            <p:nvPr/>
          </p:nvSpPr>
          <p:spPr bwMode="auto">
            <a:xfrm>
              <a:off x="3600" y="3600"/>
              <a:ext cx="360" cy="0"/>
            </a:xfrm>
            <a:prstGeom prst="line">
              <a:avLst/>
            </a:prstGeom>
            <a:noFill/>
            <a:ln w="9525">
              <a:solidFill>
                <a:srgbClr val="339966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93" name="Line 9"/>
            <p:cNvSpPr>
              <a:spLocks noChangeShapeType="1"/>
            </p:cNvSpPr>
            <p:nvPr/>
          </p:nvSpPr>
          <p:spPr bwMode="auto">
            <a:xfrm>
              <a:off x="3600" y="3060"/>
              <a:ext cx="360" cy="36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1994" name="Line 10"/>
          <p:cNvSpPr>
            <a:spLocks noChangeShapeType="1"/>
          </p:cNvSpPr>
          <p:nvPr/>
        </p:nvSpPr>
        <p:spPr bwMode="auto">
          <a:xfrm flipH="1" flipV="1">
            <a:off x="2286000" y="2000250"/>
            <a:ext cx="228600" cy="171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524001" y="1748790"/>
          <a:ext cx="6095999" cy="1645920"/>
        </p:xfrm>
        <a:graphic>
          <a:graphicData uri="http://schemas.openxmlformats.org/drawingml/2006/table">
            <a:tbl>
              <a:tblPr/>
              <a:tblGrid>
                <a:gridCol w="468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-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3366FF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C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-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FF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0000FF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3366FF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3399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5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>
                          <a:solidFill>
                            <a:srgbClr val="80008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1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C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4699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6400" y="285750"/>
            <a:ext cx="7543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  <a:cs typeface="Arial" pitchFamily="34" charset="0"/>
              </a:rPr>
              <a:t>Completing the Remaining Cells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1" y="1748790"/>
          <a:ext cx="6095999" cy="1645920"/>
        </p:xfrm>
        <a:graphic>
          <a:graphicData uri="http://schemas.openxmlformats.org/drawingml/2006/table">
            <a:tbl>
              <a:tblPr/>
              <a:tblGrid>
                <a:gridCol w="468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-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3366FF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C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-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 dirty="0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  0</a:t>
                      </a: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FF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0000FF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solidFill>
                            <a:srgbClr val="3366FF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 dirty="0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5</a:t>
                      </a:r>
                      <a:endParaRPr lang="en-U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>
                          <a:solidFill>
                            <a:srgbClr val="339966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1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T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C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G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200" b="1">
                          <a:latin typeface="Arial"/>
                          <a:ea typeface="Times New Roman"/>
                          <a:cs typeface="Times New Roman"/>
                        </a:rPr>
                        <a:t>A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r>
                        <a:rPr lang="en-US" sz="1100" b="1">
                          <a:solidFill>
                            <a:srgbClr val="8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n-U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</a:tabLst>
                      </a:pPr>
                      <a:endParaRPr lang="en-US" sz="11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4519" name="Line 7"/>
          <p:cNvSpPr>
            <a:spLocks noChangeShapeType="1"/>
          </p:cNvSpPr>
          <p:nvPr/>
        </p:nvSpPr>
        <p:spPr bwMode="auto">
          <a:xfrm>
            <a:off x="2362200" y="2057400"/>
            <a:ext cx="228600" cy="171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20" name="Line 8"/>
          <p:cNvSpPr>
            <a:spLocks noChangeShapeType="1"/>
          </p:cNvSpPr>
          <p:nvPr/>
        </p:nvSpPr>
        <p:spPr bwMode="auto">
          <a:xfrm>
            <a:off x="2819400" y="2228850"/>
            <a:ext cx="1143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3200400" y="1943100"/>
            <a:ext cx="381000" cy="257175"/>
            <a:chOff x="3540" y="3060"/>
            <a:chExt cx="600" cy="540"/>
          </a:xfrm>
        </p:grpSpPr>
        <p:sp>
          <p:nvSpPr>
            <p:cNvPr id="64522" name="Line 10"/>
            <p:cNvSpPr>
              <a:spLocks noChangeShapeType="1"/>
            </p:cNvSpPr>
            <p:nvPr/>
          </p:nvSpPr>
          <p:spPr bwMode="auto">
            <a:xfrm>
              <a:off x="4140" y="3060"/>
              <a:ext cx="0" cy="36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23" name="Line 11"/>
            <p:cNvSpPr>
              <a:spLocks noChangeShapeType="1"/>
            </p:cNvSpPr>
            <p:nvPr/>
          </p:nvSpPr>
          <p:spPr bwMode="auto">
            <a:xfrm>
              <a:off x="3600" y="3600"/>
              <a:ext cx="360" cy="0"/>
            </a:xfrm>
            <a:prstGeom prst="line">
              <a:avLst/>
            </a:prstGeom>
            <a:noFill/>
            <a:ln w="9525">
              <a:solidFill>
                <a:srgbClr val="339966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24" name="Line 12"/>
            <p:cNvSpPr>
              <a:spLocks noChangeShapeType="1"/>
            </p:cNvSpPr>
            <p:nvPr/>
          </p:nvSpPr>
          <p:spPr bwMode="auto">
            <a:xfrm>
              <a:off x="3540" y="3180"/>
              <a:ext cx="360" cy="36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44699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52600" y="285750"/>
            <a:ext cx="495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  <a:cs typeface="Arial" pitchFamily="34" charset="0"/>
              </a:rPr>
              <a:t>Filled Matrix</a:t>
            </a:r>
          </a:p>
        </p:txBody>
      </p:sp>
      <p:pic>
        <p:nvPicPr>
          <p:cNvPr id="60417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05260" y="1732360"/>
            <a:ext cx="5533740" cy="2210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44699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52600" y="285750"/>
            <a:ext cx="495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latin typeface="+mj-lt"/>
                <a:cs typeface="Arial" pitchFamily="34" charset="0"/>
              </a:rPr>
              <a:t>Traceback</a:t>
            </a:r>
            <a:endParaRPr lang="en-US" sz="3200" b="1" dirty="0">
              <a:latin typeface="+mj-lt"/>
              <a:cs typeface="Arial" pitchFamily="34" charset="0"/>
            </a:endParaRPr>
          </a:p>
        </p:txBody>
      </p:sp>
      <p:pic>
        <p:nvPicPr>
          <p:cNvPr id="58369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03990" y="1485900"/>
            <a:ext cx="5611210" cy="2335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44699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6400" y="209550"/>
            <a:ext cx="495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latin typeface="+mj-lt"/>
                <a:cs typeface="Arial" pitchFamily="34" charset="0"/>
              </a:rPr>
              <a:t>Traceback</a:t>
            </a:r>
            <a:endParaRPr lang="en-US" sz="3200" b="1" dirty="0">
              <a:latin typeface="+mj-lt"/>
              <a:cs typeface="Arial" pitchFamily="34" charset="0"/>
            </a:endParaRPr>
          </a:p>
        </p:txBody>
      </p:sp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2350" y="1314450"/>
            <a:ext cx="5260450" cy="2150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886201" y="3486151"/>
            <a:ext cx="121919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Arial" pitchFamily="34" charset="0"/>
                <a:cs typeface="Arial" pitchFamily="34" charset="0"/>
              </a:rPr>
              <a:t>C  -   A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 |       |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C G  A </a:t>
            </a: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144699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2200" y="285750"/>
            <a:ext cx="495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latin typeface="+mj-lt"/>
                <a:cs typeface="Arial" pitchFamily="34" charset="0"/>
              </a:rPr>
              <a:t>Traceback</a:t>
            </a:r>
            <a:endParaRPr lang="en-US" sz="3200" b="1" dirty="0">
              <a:latin typeface="+mj-lt"/>
              <a:cs typeface="Arial" pitchFamily="34" charset="0"/>
            </a:endParaRPr>
          </a:p>
        </p:txBody>
      </p:sp>
      <p:pic>
        <p:nvPicPr>
          <p:cNvPr id="54273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0" y="1542637"/>
            <a:ext cx="5715000" cy="240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44699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0600" y="57150"/>
            <a:ext cx="495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  <a:cs typeface="Arial" pitchFamily="34" charset="0"/>
              </a:rPr>
              <a:t>Verification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90860"/>
            <a:ext cx="60198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	</a:t>
            </a:r>
            <a:r>
              <a:rPr lang="en-US" b="1" dirty="0"/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G A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A</a:t>
            </a:r>
            <a:r>
              <a:rPr lang="en-US" dirty="0">
                <a:latin typeface="Arial" pitchFamily="34" charset="0"/>
                <a:cs typeface="Arial" pitchFamily="34" charset="0"/>
              </a:rPr>
              <a:t> T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</a:t>
            </a:r>
            <a:r>
              <a:rPr lang="en-US" dirty="0">
                <a:latin typeface="Arial" pitchFamily="34" charset="0"/>
                <a:cs typeface="Arial" pitchFamily="34" charset="0"/>
              </a:rPr>
              <a:t> C   - A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	  |      |  |     |      |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	 G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G</a:t>
            </a:r>
            <a:r>
              <a:rPr lang="en-US" dirty="0">
                <a:latin typeface="Arial" pitchFamily="34" charset="0"/>
                <a:cs typeface="Arial" pitchFamily="34" charset="0"/>
              </a:rPr>
              <a:t> A T – C G A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 	  + -  + + -  +  -  +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	  5 3  5 5 4 5  4 5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 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	  G A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A</a:t>
            </a:r>
            <a:r>
              <a:rPr lang="en-US" dirty="0">
                <a:latin typeface="Arial" pitchFamily="34" charset="0"/>
                <a:cs typeface="Arial" pitchFamily="34" charset="0"/>
              </a:rPr>
              <a:t> T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</a:t>
            </a:r>
            <a:r>
              <a:rPr lang="en-US" dirty="0">
                <a:latin typeface="Arial" pitchFamily="34" charset="0"/>
                <a:cs typeface="Arial" pitchFamily="34" charset="0"/>
              </a:rPr>
              <a:t> C -  A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	   |      |     |  |      |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	  G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G</a:t>
            </a:r>
            <a:r>
              <a:rPr lang="en-US" dirty="0">
                <a:latin typeface="Arial" pitchFamily="34" charset="0"/>
                <a:cs typeface="Arial" pitchFamily="34" charset="0"/>
              </a:rPr>
              <a:t> A – T C G A</a:t>
            </a:r>
          </a:p>
          <a:p>
            <a:r>
              <a:rPr lang="en-US" dirty="0"/>
              <a:t>           +  -  +  -  + +   - +</a:t>
            </a:r>
          </a:p>
          <a:p>
            <a:r>
              <a:rPr lang="en-US" dirty="0"/>
              <a:t>	  5 3  5 4  5 5  4 5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69904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NLP-jurafsky">
  <a:themeElements>
    <a:clrScheme name="NLP Class">
      <a:dk1>
        <a:sysClr val="windowText" lastClr="000000"/>
      </a:dk1>
      <a:lt1>
        <a:sysClr val="window" lastClr="FFFFFF"/>
      </a:lt1>
      <a:dk2>
        <a:srgbClr val="605435"/>
      </a:dk2>
      <a:lt2>
        <a:srgbClr val="E7D19A"/>
      </a:lt2>
      <a:accent1>
        <a:srgbClr val="A4001D"/>
      </a:accent1>
      <a:accent2>
        <a:srgbClr val="2584BB"/>
      </a:accent2>
      <a:accent3>
        <a:srgbClr val="BB57BE"/>
      </a:accent3>
      <a:accent4>
        <a:srgbClr val="177245"/>
      </a:accent4>
      <a:accent5>
        <a:srgbClr val="35ACA2"/>
      </a:accent5>
      <a:accent6>
        <a:srgbClr val="FF8700"/>
      </a:accent6>
      <a:hlink>
        <a:srgbClr val="EF8E1C"/>
      </a:hlink>
      <a:folHlink>
        <a:srgbClr val="FEC60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>
            <a:lumMod val="40000"/>
            <a:lumOff val="60000"/>
          </a:schemeClr>
        </a:solidFill>
        <a:ln w="9525" cap="flat" cmpd="sng" algn="ctr">
          <a:noFill/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A50021"/>
            </a:gs>
            <a:gs pos="100000">
              <a:schemeClr val="tx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" pitchFamily="-65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1800" dirty="0">
            <a:latin typeface="+mn-lt"/>
          </a:defRPr>
        </a:defPPr>
      </a:lstStyle>
    </a:txDef>
  </a:objectDefaults>
  <a:extraClrSchemeLst>
    <a:extraClrScheme>
      <a:clrScheme name="nlp-lucida-schem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lp-lucida-schem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lp-lucida-schem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NLP-jurafsky.potx</Template>
  <TotalTime>7527</TotalTime>
  <Words>3423</Words>
  <Application>Microsoft Office PowerPoint</Application>
  <PresentationFormat>On-screen Show (16:9)</PresentationFormat>
  <Paragraphs>1276</Paragraphs>
  <Slides>57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7" baseType="lpstr">
      <vt:lpstr>Arial</vt:lpstr>
      <vt:lpstr>Calibri</vt:lpstr>
      <vt:lpstr>Courier</vt:lpstr>
      <vt:lpstr>Courier New</vt:lpstr>
      <vt:lpstr>Lucida Sans</vt:lpstr>
      <vt:lpstr>Tahoma</vt:lpstr>
      <vt:lpstr>Times</vt:lpstr>
      <vt:lpstr>Times New Roman</vt:lpstr>
      <vt:lpstr>Wingdings</vt:lpstr>
      <vt:lpstr>NLP-jurafsky</vt:lpstr>
      <vt:lpstr>Minimum Edit Distance</vt:lpstr>
      <vt:lpstr>How similar are two strings?</vt:lpstr>
      <vt:lpstr>Edit Distance</vt:lpstr>
      <vt:lpstr>Minimum Edit Distance</vt:lpstr>
      <vt:lpstr>Minimum Edit Distance</vt:lpstr>
      <vt:lpstr>Alignment in Computational Biology</vt:lpstr>
      <vt:lpstr>Other uses of Edit Distance in NLP</vt:lpstr>
      <vt:lpstr>How to find the Min Edit Distance?</vt:lpstr>
      <vt:lpstr>Minimum Edit as Search</vt:lpstr>
      <vt:lpstr>Defining Min Edit Distance</vt:lpstr>
      <vt:lpstr>Minimum Edit Distance</vt:lpstr>
      <vt:lpstr>Dynamic Programming for Minimum Edit Distance</vt:lpstr>
      <vt:lpstr>Defining Min Edit Distance (Levenshtein)</vt:lpstr>
      <vt:lpstr>The Edit Distance Table</vt:lpstr>
      <vt:lpstr>PowerPoint Presentation</vt:lpstr>
      <vt:lpstr>Edit Distance</vt:lpstr>
      <vt:lpstr>PowerPoint Presentation</vt:lpstr>
      <vt:lpstr>Minimum Edit Distance</vt:lpstr>
      <vt:lpstr>Minimum Edit Distance</vt:lpstr>
      <vt:lpstr>Computing alignments</vt:lpstr>
      <vt:lpstr>Edit Distance</vt:lpstr>
      <vt:lpstr>MinEdit with Backtrace</vt:lpstr>
      <vt:lpstr>Adding Backtrace to Minimum Edit Distance</vt:lpstr>
      <vt:lpstr>Minimum Edit Distance</vt:lpstr>
      <vt:lpstr>Sequence Alignment</vt:lpstr>
      <vt:lpstr>Why sequence alignment?</vt:lpstr>
      <vt:lpstr>Alignments in two fields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Stanford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Extraction</dc:title>
  <dc:creator>Christopher Manning</dc:creator>
  <cp:lastModifiedBy>Dr. Usman Ghani</cp:lastModifiedBy>
  <cp:revision>117</cp:revision>
  <cp:lastPrinted>2009-04-20T16:46:08Z</cp:lastPrinted>
  <dcterms:created xsi:type="dcterms:W3CDTF">2010-04-19T15:31:24Z</dcterms:created>
  <dcterms:modified xsi:type="dcterms:W3CDTF">2023-09-23T06:28:25Z</dcterms:modified>
</cp:coreProperties>
</file>