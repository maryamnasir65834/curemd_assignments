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9" r:id="rId1"/>
  </p:sldMasterIdLst>
  <p:notesMasterIdLst>
    <p:notesMasterId r:id="rId54"/>
  </p:notesMasterIdLst>
  <p:handoutMasterIdLst>
    <p:handoutMasterId r:id="rId55"/>
  </p:handoutMasterIdLst>
  <p:sldIdLst>
    <p:sldId id="268" r:id="rId2"/>
    <p:sldId id="386" r:id="rId3"/>
    <p:sldId id="436" r:id="rId4"/>
    <p:sldId id="435" r:id="rId5"/>
    <p:sldId id="434" r:id="rId6"/>
    <p:sldId id="472" r:id="rId7"/>
    <p:sldId id="387" r:id="rId8"/>
    <p:sldId id="388" r:id="rId9"/>
    <p:sldId id="390" r:id="rId10"/>
    <p:sldId id="439" r:id="rId11"/>
    <p:sldId id="391" r:id="rId12"/>
    <p:sldId id="514" r:id="rId13"/>
    <p:sldId id="515" r:id="rId14"/>
    <p:sldId id="392" r:id="rId15"/>
    <p:sldId id="544" r:id="rId16"/>
    <p:sldId id="447" r:id="rId17"/>
    <p:sldId id="516" r:id="rId18"/>
    <p:sldId id="517" r:id="rId19"/>
    <p:sldId id="400" r:id="rId20"/>
    <p:sldId id="450" r:id="rId21"/>
    <p:sldId id="451" r:id="rId22"/>
    <p:sldId id="453" r:id="rId23"/>
    <p:sldId id="454" r:id="rId24"/>
    <p:sldId id="455" r:id="rId25"/>
    <p:sldId id="456" r:id="rId26"/>
    <p:sldId id="555" r:id="rId27"/>
    <p:sldId id="556" r:id="rId28"/>
    <p:sldId id="518" r:id="rId29"/>
    <p:sldId id="519" r:id="rId30"/>
    <p:sldId id="458" r:id="rId31"/>
    <p:sldId id="477" r:id="rId32"/>
    <p:sldId id="459" r:id="rId33"/>
    <p:sldId id="409" r:id="rId34"/>
    <p:sldId id="410" r:id="rId35"/>
    <p:sldId id="610" r:id="rId36"/>
    <p:sldId id="611" r:id="rId37"/>
    <p:sldId id="520" r:id="rId38"/>
    <p:sldId id="521" r:id="rId39"/>
    <p:sldId id="489" r:id="rId40"/>
    <p:sldId id="473" r:id="rId41"/>
    <p:sldId id="461" r:id="rId42"/>
    <p:sldId id="460" r:id="rId43"/>
    <p:sldId id="522" r:id="rId44"/>
    <p:sldId id="523" r:id="rId45"/>
    <p:sldId id="474" r:id="rId46"/>
    <p:sldId id="484" r:id="rId47"/>
    <p:sldId id="485" r:id="rId48"/>
    <p:sldId id="524" r:id="rId49"/>
    <p:sldId id="537" r:id="rId50"/>
    <p:sldId id="538" r:id="rId51"/>
    <p:sldId id="539" r:id="rId52"/>
    <p:sldId id="540" r:id="rId53"/>
  </p:sldIdLst>
  <p:sldSz cx="9144000" cy="5143500" type="screen16x9"/>
  <p:notesSz cx="6845300" cy="9396413"/>
  <p:defaultTex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66"/>
    <a:srgbClr val="A4001D"/>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14" autoAdjust="0"/>
    <p:restoredTop sz="68275" autoAdjust="0"/>
  </p:normalViewPr>
  <p:slideViewPr>
    <p:cSldViewPr>
      <p:cViewPr varScale="1">
        <p:scale>
          <a:sx n="77" d="100"/>
          <a:sy n="77" d="100"/>
        </p:scale>
        <p:origin x="1411" y="6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charset="0"/>
              </a:defRPr>
            </a:lvl1pPr>
          </a:lstStyle>
          <a:p>
            <a:fld id="{8A029216-D615-3945-A1F3-D96FC886DA62}" type="slidenum">
              <a:rPr lang="en-US"/>
              <a:pPr/>
              <a:t>‹#›</a:t>
            </a:fld>
            <a:endParaRPr lang="en-US"/>
          </a:p>
        </p:txBody>
      </p:sp>
    </p:spTree>
    <p:extLst>
      <p:ext uri="{BB962C8B-B14F-4D97-AF65-F5344CB8AC3E}">
        <p14:creationId xmlns:p14="http://schemas.microsoft.com/office/powerpoint/2010/main" val="32517263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EB9031F-EB71-7642-8F3C-6FDC1408CB92}" type="slidenum">
              <a:rPr lang="en-US"/>
              <a:pPr/>
              <a:t>‹#›</a:t>
            </a:fld>
            <a:endParaRPr lang="en-US"/>
          </a:p>
        </p:txBody>
      </p:sp>
    </p:spTree>
    <p:extLst>
      <p:ext uri="{BB962C8B-B14F-4D97-AF65-F5344CB8AC3E}">
        <p14:creationId xmlns:p14="http://schemas.microsoft.com/office/powerpoint/2010/main" val="37862732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131352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#1: Saigon. Grey, Anthony</a:t>
            </a:r>
          </a:p>
          <a:p>
            <a:r>
              <a:rPr lang="en-US" dirty="0"/>
              <a:t>#2: </a:t>
            </a:r>
            <a:r>
              <a:rPr lang="en-US" baseline="0" dirty="0"/>
              <a:t> </a:t>
            </a:r>
            <a:r>
              <a:rPr lang="en-US" dirty="0"/>
              <a:t>Jerusalem the Golden. Drabble, Margaret</a:t>
            </a:r>
          </a:p>
          <a:p>
            <a:r>
              <a:rPr lang="en-US" dirty="0"/>
              <a:t>From </a:t>
            </a:r>
            <a:r>
              <a:rPr lang="en-US" dirty="0" err="1"/>
              <a:t>shlomo</a:t>
            </a:r>
            <a:r>
              <a:rPr lang="en-US" baseline="0" dirty="0"/>
              <a:t> </a:t>
            </a:r>
            <a:r>
              <a:rPr lang="en-US" baseline="0" dirty="0" err="1"/>
              <a:t>argamon</a:t>
            </a:r>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4</a:t>
            </a:fld>
            <a:endParaRPr lang="en-US"/>
          </a:p>
        </p:txBody>
      </p:sp>
    </p:spTree>
    <p:extLst>
      <p:ext uri="{BB962C8B-B14F-4D97-AF65-F5344CB8AC3E}">
        <p14:creationId xmlns:p14="http://schemas.microsoft.com/office/powerpoint/2010/main" val="4000279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61E6D798-0D31-0647-AB71-9E94307BC9C4}" type="slidenum">
              <a:rPr lang="en-US"/>
              <a:pPr/>
              <a:t>9</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124898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1041FE78-3ECD-CD47-AF85-D701825482C7}" type="slidenum">
              <a:rPr lang="en-US"/>
              <a:pPr/>
              <a:t>11</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145151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12</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943190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13</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541417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17</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245036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18</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877068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28</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956134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29</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390865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37</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44470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38</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888482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43</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209379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44</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037335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48</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874960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ko-KR" alt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49</a:t>
            </a:fld>
            <a:endParaRPr lang="en-US"/>
          </a:p>
        </p:txBody>
      </p:sp>
    </p:spTree>
    <p:extLst>
      <p:ext uri="{BB962C8B-B14F-4D97-AF65-F5344CB8AC3E}">
        <p14:creationId xmlns:p14="http://schemas.microsoft.com/office/powerpoint/2010/main" val="547407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742846" indent="-285710" eaLnBrk="0" hangingPunct="0">
              <a:defRPr sz="2400">
                <a:solidFill>
                  <a:schemeClr val="tx1"/>
                </a:solidFill>
                <a:latin typeface="Lucida Sans" charset="0"/>
                <a:ea typeface="ＭＳ Ｐゴシック" charset="0"/>
              </a:defRPr>
            </a:lvl2pPr>
            <a:lvl3pPr marL="1142840" indent="-228568" eaLnBrk="0" hangingPunct="0">
              <a:defRPr sz="2400">
                <a:solidFill>
                  <a:schemeClr val="tx1"/>
                </a:solidFill>
                <a:latin typeface="Lucida Sans" charset="0"/>
                <a:ea typeface="ＭＳ Ｐゴシック" charset="0"/>
              </a:defRPr>
            </a:lvl3pPr>
            <a:lvl4pPr marL="1599975" indent="-228568" eaLnBrk="0" hangingPunct="0">
              <a:defRPr sz="2400">
                <a:solidFill>
                  <a:schemeClr val="tx1"/>
                </a:solidFill>
                <a:latin typeface="Lucida Sans" charset="0"/>
                <a:ea typeface="ＭＳ Ｐゴシック" charset="0"/>
              </a:defRPr>
            </a:lvl4pPr>
            <a:lvl5pPr marL="2057111" indent="-228568" eaLnBrk="0" hangingPunct="0">
              <a:defRPr sz="2400">
                <a:solidFill>
                  <a:schemeClr val="tx1"/>
                </a:solidFill>
                <a:latin typeface="Lucida Sans" charset="0"/>
                <a:ea typeface="ＭＳ Ｐゴシック" charset="0"/>
              </a:defRPr>
            </a:lvl5pPr>
            <a:lvl6pPr marL="2514247" indent="-228568" eaLnBrk="0" fontAlgn="base" hangingPunct="0">
              <a:spcBef>
                <a:spcPct val="0"/>
              </a:spcBef>
              <a:spcAft>
                <a:spcPct val="0"/>
              </a:spcAft>
              <a:defRPr sz="2400">
                <a:solidFill>
                  <a:schemeClr val="tx1"/>
                </a:solidFill>
                <a:latin typeface="Lucida Sans" charset="0"/>
                <a:ea typeface="ＭＳ Ｐゴシック" charset="0"/>
              </a:defRPr>
            </a:lvl6pPr>
            <a:lvl7pPr marL="2971383" indent="-228568" eaLnBrk="0" fontAlgn="base" hangingPunct="0">
              <a:spcBef>
                <a:spcPct val="0"/>
              </a:spcBef>
              <a:spcAft>
                <a:spcPct val="0"/>
              </a:spcAft>
              <a:defRPr sz="2400">
                <a:solidFill>
                  <a:schemeClr val="tx1"/>
                </a:solidFill>
                <a:latin typeface="Lucida Sans" charset="0"/>
                <a:ea typeface="ＭＳ Ｐゴシック" charset="0"/>
              </a:defRPr>
            </a:lvl7pPr>
            <a:lvl8pPr marL="3428519" indent="-228568" eaLnBrk="0" fontAlgn="base" hangingPunct="0">
              <a:spcBef>
                <a:spcPct val="0"/>
              </a:spcBef>
              <a:spcAft>
                <a:spcPct val="0"/>
              </a:spcAft>
              <a:defRPr sz="2400">
                <a:solidFill>
                  <a:schemeClr val="tx1"/>
                </a:solidFill>
                <a:latin typeface="Lucida Sans" charset="0"/>
                <a:ea typeface="ＭＳ Ｐゴシック" charset="0"/>
              </a:defRPr>
            </a:lvl8pPr>
            <a:lvl9pPr marL="3885655" indent="-228568"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384C32A9-5A2D-B045-843B-D06D034130F2}" type="slidenum">
              <a:rPr lang="en-US" sz="1200"/>
              <a:pPr eaLnBrk="1" hangingPunct="1"/>
              <a:t>50</a:t>
            </a:fld>
            <a:endParaRPr lang="en-US" sz="1200"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Arial" charset="0"/>
                <a:ea typeface="ＭＳ Ｐゴシック" charset="0"/>
                <a:cs typeface="ＭＳ Ｐゴシック" charset="0"/>
              </a:rPr>
              <a:t>precision, recall, f-measure [many have seen before]</a:t>
            </a:r>
          </a:p>
          <a:p>
            <a:r>
              <a:rPr lang="en-US">
                <a:latin typeface="Arial" charset="0"/>
                <a:ea typeface="ＭＳ Ｐゴシック" charset="0"/>
                <a:cs typeface="ＭＳ Ｐゴシック" charset="0"/>
              </a:rPr>
              <a:t>there are two sets: CORRECT entities and SELECTED entities</a:t>
            </a:r>
          </a:p>
          <a:p>
            <a:r>
              <a:rPr lang="en-US">
                <a:latin typeface="Arial" charset="0"/>
                <a:ea typeface="ＭＳ Ｐゴシック" charset="0"/>
                <a:cs typeface="ＭＳ Ｐゴシック" charset="0"/>
              </a:rPr>
              <a:t>2x2 contingency table, four possible outcomes</a:t>
            </a:r>
          </a:p>
          <a:p>
            <a:r>
              <a:rPr lang="en-US">
                <a:latin typeface="Arial" charset="0"/>
                <a:ea typeface="ＭＳ Ｐゴシック" charset="0"/>
                <a:cs typeface="ＭＳ Ｐゴシック" charset="0"/>
              </a:rPr>
              <a:t>for precision &amp; recall, you're ignoring bottom corner (where you get O right)</a:t>
            </a:r>
          </a:p>
          <a:p>
            <a:r>
              <a:rPr lang="en-US">
                <a:latin typeface="Arial" charset="0"/>
                <a:ea typeface="ＭＳ Ｐゴシック" charset="0"/>
                <a:cs typeface="ＭＳ Ｐゴシック" charset="0"/>
              </a:rPr>
              <a:t>precision: what proportion of your guesses are correct?</a:t>
            </a:r>
          </a:p>
          <a:p>
            <a:r>
              <a:rPr lang="en-US">
                <a:latin typeface="Arial" charset="0"/>
                <a:ea typeface="ＭＳ Ｐゴシック" charset="0"/>
                <a:cs typeface="ＭＳ Ｐゴシック" charset="0"/>
              </a:rPr>
              <a:t>note that correctness means (a) correct boundaries, and (b) correct label</a:t>
            </a:r>
          </a:p>
          <a:p>
            <a:r>
              <a:rPr lang="en-US">
                <a:latin typeface="Arial" charset="0"/>
                <a:ea typeface="ＭＳ Ｐゴシック" charset="0"/>
                <a:cs typeface="ＭＳ Ｐゴシック" charset="0"/>
              </a:rPr>
              <a:t>recall: what proportion of true entities did you get right?</a:t>
            </a:r>
          </a:p>
          <a:p>
            <a:r>
              <a:rPr lang="en-US">
                <a:latin typeface="Arial" charset="0"/>
                <a:ea typeface="ＭＳ Ｐゴシック" charset="0"/>
                <a:cs typeface="ＭＳ Ｐゴシック" charset="0"/>
              </a:rPr>
              <a:t>ASK STUDENTS HERE ABOUT WHY NOT TO USE ACCURACY</a:t>
            </a:r>
          </a:p>
          <a:p>
            <a:r>
              <a:rPr lang="en-US">
                <a:latin typeface="Arial" charset="0"/>
                <a:ea typeface="ＭＳ Ｐゴシック" charset="0"/>
                <a:cs typeface="ＭＳ Ｐゴシック" charset="0"/>
              </a:rPr>
              <a:t>[note that there is typically a trade-off between precision and recall!]</a:t>
            </a:r>
          </a:p>
          <a:p>
            <a:r>
              <a:rPr lang="en-US">
                <a:latin typeface="Arial" charset="0"/>
                <a:ea typeface="ＭＳ Ｐゴシック" charset="0"/>
                <a:cs typeface="ＭＳ Ｐゴシック" charset="0"/>
              </a:rPr>
              <a:t>[to get high precision, be very reluctant to make guesses – but then you may have poor recall]</a:t>
            </a:r>
          </a:p>
          <a:p>
            <a:r>
              <a:rPr lang="en-US">
                <a:latin typeface="Arial" charset="0"/>
                <a:ea typeface="ＭＳ Ｐゴシック" charset="0"/>
                <a:cs typeface="ＭＳ Ｐゴシック" charset="0"/>
              </a:rPr>
              <a:t>[to get high recall, be very promiscuous in making guesses – but then you may have poor precision]</a:t>
            </a:r>
          </a:p>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540846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742846" indent="-285710" eaLnBrk="0" hangingPunct="0">
              <a:defRPr sz="2400">
                <a:solidFill>
                  <a:schemeClr val="tx1"/>
                </a:solidFill>
                <a:latin typeface="Lucida Sans" charset="0"/>
                <a:ea typeface="ＭＳ Ｐゴシック" charset="0"/>
              </a:defRPr>
            </a:lvl2pPr>
            <a:lvl3pPr marL="1142840" indent="-228568" eaLnBrk="0" hangingPunct="0">
              <a:defRPr sz="2400">
                <a:solidFill>
                  <a:schemeClr val="tx1"/>
                </a:solidFill>
                <a:latin typeface="Lucida Sans" charset="0"/>
                <a:ea typeface="ＭＳ Ｐゴシック" charset="0"/>
              </a:defRPr>
            </a:lvl3pPr>
            <a:lvl4pPr marL="1599975" indent="-228568" eaLnBrk="0" hangingPunct="0">
              <a:defRPr sz="2400">
                <a:solidFill>
                  <a:schemeClr val="tx1"/>
                </a:solidFill>
                <a:latin typeface="Lucida Sans" charset="0"/>
                <a:ea typeface="ＭＳ Ｐゴシック" charset="0"/>
              </a:defRPr>
            </a:lvl4pPr>
            <a:lvl5pPr marL="2057111" indent="-228568" eaLnBrk="0" hangingPunct="0">
              <a:defRPr sz="2400">
                <a:solidFill>
                  <a:schemeClr val="tx1"/>
                </a:solidFill>
                <a:latin typeface="Lucida Sans" charset="0"/>
                <a:ea typeface="ＭＳ Ｐゴシック" charset="0"/>
              </a:defRPr>
            </a:lvl5pPr>
            <a:lvl6pPr marL="2514247" indent="-228568" eaLnBrk="0" fontAlgn="base" hangingPunct="0">
              <a:spcBef>
                <a:spcPct val="0"/>
              </a:spcBef>
              <a:spcAft>
                <a:spcPct val="0"/>
              </a:spcAft>
              <a:defRPr sz="2400">
                <a:solidFill>
                  <a:schemeClr val="tx1"/>
                </a:solidFill>
                <a:latin typeface="Lucida Sans" charset="0"/>
                <a:ea typeface="ＭＳ Ｐゴシック" charset="0"/>
              </a:defRPr>
            </a:lvl6pPr>
            <a:lvl7pPr marL="2971383" indent="-228568" eaLnBrk="0" fontAlgn="base" hangingPunct="0">
              <a:spcBef>
                <a:spcPct val="0"/>
              </a:spcBef>
              <a:spcAft>
                <a:spcPct val="0"/>
              </a:spcAft>
              <a:defRPr sz="2400">
                <a:solidFill>
                  <a:schemeClr val="tx1"/>
                </a:solidFill>
                <a:latin typeface="Lucida Sans" charset="0"/>
                <a:ea typeface="ＭＳ Ｐゴシック" charset="0"/>
              </a:defRPr>
            </a:lvl7pPr>
            <a:lvl8pPr marL="3428519" indent="-228568" eaLnBrk="0" fontAlgn="base" hangingPunct="0">
              <a:spcBef>
                <a:spcPct val="0"/>
              </a:spcBef>
              <a:spcAft>
                <a:spcPct val="0"/>
              </a:spcAft>
              <a:defRPr sz="2400">
                <a:solidFill>
                  <a:schemeClr val="tx1"/>
                </a:solidFill>
                <a:latin typeface="Lucida Sans" charset="0"/>
                <a:ea typeface="ＭＳ Ｐゴシック" charset="0"/>
              </a:defRPr>
            </a:lvl8pPr>
            <a:lvl9pPr marL="3885655" indent="-228568"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384C32A9-5A2D-B045-843B-D06D034130F2}" type="slidenum">
              <a:rPr lang="en-US" sz="1200"/>
              <a:pPr eaLnBrk="1" hangingPunct="1"/>
              <a:t>51</a:t>
            </a:fld>
            <a:endParaRPr lang="en-US" sz="1200"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eaLnBrk="1" hangingPunct="1">
              <a:buFont typeface="Times" charset="0"/>
              <a:buNone/>
            </a:pPr>
            <a:r>
              <a:rPr lang="en-US" sz="1600" dirty="0">
                <a:latin typeface="Lucida Sans" charset="0"/>
                <a:ea typeface="ＭＳ Ｐゴシック" charset="0"/>
                <a:cs typeface="ＭＳ Ｐゴシック" charset="0"/>
              </a:rPr>
              <a:t>Precision P = </a:t>
            </a:r>
            <a:r>
              <a:rPr lang="en-US" sz="1600" dirty="0" err="1">
                <a:latin typeface="Lucida Sans" charset="0"/>
                <a:ea typeface="ＭＳ Ｐゴシック" charset="0"/>
                <a:cs typeface="ＭＳ Ｐゴシック" charset="0"/>
              </a:rPr>
              <a:t>tp</a:t>
            </a:r>
            <a:r>
              <a:rPr lang="en-US" sz="1600" dirty="0">
                <a:latin typeface="Lucida Sans" charset="0"/>
                <a:ea typeface="ＭＳ Ｐゴシック" charset="0"/>
                <a:cs typeface="ＭＳ Ｐゴシック" charset="0"/>
              </a:rPr>
              <a:t>/(</a:t>
            </a:r>
            <a:r>
              <a:rPr lang="en-US" sz="1600" dirty="0" err="1">
                <a:latin typeface="Lucida Sans" charset="0"/>
                <a:ea typeface="ＭＳ Ｐゴシック" charset="0"/>
                <a:cs typeface="ＭＳ Ｐゴシック" charset="0"/>
              </a:rPr>
              <a:t>tp</a:t>
            </a:r>
            <a:r>
              <a:rPr lang="en-US" sz="1600" dirty="0">
                <a:latin typeface="Lucida Sans" charset="0"/>
                <a:ea typeface="ＭＳ Ｐゴシック" charset="0"/>
                <a:cs typeface="ＭＳ Ｐゴシック" charset="0"/>
              </a:rPr>
              <a:t> + </a:t>
            </a:r>
            <a:r>
              <a:rPr lang="en-US" sz="1600" dirty="0" err="1">
                <a:latin typeface="Lucida Sans" charset="0"/>
                <a:ea typeface="ＭＳ Ｐゴシック" charset="0"/>
                <a:cs typeface="ＭＳ Ｐゴシック" charset="0"/>
              </a:rPr>
              <a:t>fp</a:t>
            </a:r>
            <a:r>
              <a:rPr lang="en-US" sz="1600" dirty="0">
                <a:latin typeface="Lucida Sans" charset="0"/>
                <a:ea typeface="ＭＳ Ｐゴシック" charset="0"/>
                <a:cs typeface="ＭＳ Ｐゴシック" charset="0"/>
              </a:rPr>
              <a:t>)</a:t>
            </a:r>
          </a:p>
          <a:p>
            <a:pPr algn="l" eaLnBrk="1" hangingPunct="1">
              <a:buFont typeface="Times" charset="0"/>
              <a:buNone/>
            </a:pPr>
            <a:r>
              <a:rPr lang="en-US" sz="1600" dirty="0">
                <a:latin typeface="Lucida Sans" charset="0"/>
                <a:ea typeface="ＭＳ Ｐゴシック" charset="0"/>
                <a:cs typeface="ＭＳ Ｐゴシック" charset="0"/>
              </a:rPr>
              <a:t>Recall  </a:t>
            </a:r>
            <a:r>
              <a:rPr lang="en-US" dirty="0">
                <a:latin typeface="Lucida Sans" charset="0"/>
                <a:ea typeface="ＭＳ Ｐゴシック" charset="0"/>
                <a:cs typeface="ＭＳ Ｐゴシック" charset="0"/>
              </a:rPr>
              <a:t> </a:t>
            </a:r>
            <a:r>
              <a:rPr lang="en-US" sz="1600" dirty="0">
                <a:latin typeface="Lucida Sans" charset="0"/>
                <a:ea typeface="ＭＳ Ｐゴシック" charset="0"/>
                <a:cs typeface="ＭＳ Ｐゴシック" charset="0"/>
              </a:rPr>
              <a:t>   R = </a:t>
            </a:r>
            <a:r>
              <a:rPr lang="en-US" sz="1600" dirty="0" err="1">
                <a:latin typeface="Lucida Sans" charset="0"/>
                <a:ea typeface="ＭＳ Ｐゴシック" charset="0"/>
                <a:cs typeface="ＭＳ Ｐゴシック" charset="0"/>
              </a:rPr>
              <a:t>tp</a:t>
            </a:r>
            <a:r>
              <a:rPr lang="en-US" sz="1600" dirty="0">
                <a:latin typeface="Lucida Sans" charset="0"/>
                <a:ea typeface="ＭＳ Ｐゴシック" charset="0"/>
                <a:cs typeface="ＭＳ Ｐゴシック" charset="0"/>
              </a:rPr>
              <a:t>/(</a:t>
            </a:r>
            <a:r>
              <a:rPr lang="en-US" sz="1600" dirty="0" err="1">
                <a:latin typeface="Lucida Sans" charset="0"/>
                <a:ea typeface="ＭＳ Ｐゴシック" charset="0"/>
                <a:cs typeface="ＭＳ Ｐゴシック" charset="0"/>
              </a:rPr>
              <a:t>tp</a:t>
            </a:r>
            <a:r>
              <a:rPr lang="en-US" sz="1600" dirty="0">
                <a:latin typeface="Lucida Sans" charset="0"/>
                <a:ea typeface="ＭＳ Ｐゴシック" charset="0"/>
                <a:cs typeface="ＭＳ Ｐゴシック" charset="0"/>
              </a:rPr>
              <a:t> + </a:t>
            </a:r>
            <a:r>
              <a:rPr lang="en-US" sz="1600" dirty="0" err="1">
                <a:latin typeface="Lucida Sans" charset="0"/>
                <a:ea typeface="ＭＳ Ｐゴシック" charset="0"/>
                <a:cs typeface="ＭＳ Ｐゴシック" charset="0"/>
              </a:rPr>
              <a:t>fn</a:t>
            </a:r>
            <a:r>
              <a:rPr lang="en-US" sz="1600" dirty="0">
                <a:latin typeface="Lucida Sans" charset="0"/>
                <a:ea typeface="ＭＳ Ｐゴシック" charset="0"/>
                <a:cs typeface="ＭＳ Ｐゴシック" charset="0"/>
              </a:rPr>
              <a:t>)</a:t>
            </a:r>
          </a:p>
          <a:p>
            <a:pPr algn="l" eaLnBrk="1" hangingPunct="1">
              <a:buFont typeface="Times" charset="0"/>
              <a:buNone/>
            </a:pPr>
            <a:r>
              <a:rPr lang="en-US" sz="1600" dirty="0">
                <a:latin typeface="Lucida Sans" charset="0"/>
                <a:ea typeface="ＭＳ Ｐゴシック" charset="0"/>
                <a:cs typeface="ＭＳ Ｐゴシック" charset="0"/>
              </a:rPr>
              <a:t>Mention precision recall tradeoff.</a:t>
            </a:r>
          </a:p>
          <a:p>
            <a:endParaRPr lang="en-US" dirty="0">
              <a:latin typeface="Arial" charset="0"/>
              <a:ea typeface="ＭＳ Ｐゴシック" charset="0"/>
              <a:cs typeface="ＭＳ Ｐゴシック" charset="0"/>
            </a:endParaRPr>
          </a:p>
          <a:p>
            <a:endParaRPr lang="en-US" dirty="0">
              <a:latin typeface="Arial" charset="0"/>
              <a:ea typeface="ＭＳ Ｐゴシック" charset="0"/>
              <a:cs typeface="ＭＳ Ｐゴシック" charset="0"/>
            </a:endParaRPr>
          </a:p>
          <a:p>
            <a:r>
              <a:rPr lang="en-US" dirty="0">
                <a:latin typeface="Arial" charset="0"/>
                <a:ea typeface="ＭＳ Ｐゴシック" charset="0"/>
                <a:cs typeface="ＭＳ Ｐゴシック" charset="0"/>
              </a:rPr>
              <a:t>precision, recall, f-measure [many have seen before]</a:t>
            </a:r>
          </a:p>
          <a:p>
            <a:r>
              <a:rPr lang="en-US" dirty="0">
                <a:latin typeface="Arial" charset="0"/>
                <a:ea typeface="ＭＳ Ｐゴシック" charset="0"/>
                <a:cs typeface="ＭＳ Ｐゴシック" charset="0"/>
              </a:rPr>
              <a:t>there are two sets: CORRECT entities and SELECTED entities</a:t>
            </a:r>
          </a:p>
          <a:p>
            <a:r>
              <a:rPr lang="en-US" dirty="0">
                <a:latin typeface="Arial" charset="0"/>
                <a:ea typeface="ＭＳ Ｐゴシック" charset="0"/>
                <a:cs typeface="ＭＳ Ｐゴシック" charset="0"/>
              </a:rPr>
              <a:t>2x2 contingency table, four possible outcomes</a:t>
            </a:r>
          </a:p>
          <a:p>
            <a:r>
              <a:rPr lang="en-US" dirty="0">
                <a:latin typeface="Arial" charset="0"/>
                <a:ea typeface="ＭＳ Ｐゴシック" charset="0"/>
                <a:cs typeface="ＭＳ Ｐゴシック" charset="0"/>
              </a:rPr>
              <a:t>for precision &amp; recall, you're ignoring bottom corner (where you get O right)</a:t>
            </a:r>
          </a:p>
          <a:p>
            <a:r>
              <a:rPr lang="en-US" dirty="0">
                <a:latin typeface="Arial" charset="0"/>
                <a:ea typeface="ＭＳ Ｐゴシック" charset="0"/>
                <a:cs typeface="ＭＳ Ｐゴシック" charset="0"/>
              </a:rPr>
              <a:t>precision: what proportion of your guesses are correct?</a:t>
            </a:r>
          </a:p>
          <a:p>
            <a:r>
              <a:rPr lang="en-US" dirty="0">
                <a:latin typeface="Arial" charset="0"/>
                <a:ea typeface="ＭＳ Ｐゴシック" charset="0"/>
                <a:cs typeface="ＭＳ Ｐゴシック" charset="0"/>
              </a:rPr>
              <a:t>note that correctness means (a) correct boundaries, and (b) correct label</a:t>
            </a:r>
          </a:p>
          <a:p>
            <a:r>
              <a:rPr lang="en-US" dirty="0">
                <a:latin typeface="Arial" charset="0"/>
                <a:ea typeface="ＭＳ Ｐゴシック" charset="0"/>
                <a:cs typeface="ＭＳ Ｐゴシック" charset="0"/>
              </a:rPr>
              <a:t>recall: what proportion of true entities did you get right?</a:t>
            </a:r>
          </a:p>
          <a:p>
            <a:r>
              <a:rPr lang="en-US" dirty="0">
                <a:latin typeface="Arial" charset="0"/>
                <a:ea typeface="ＭＳ Ｐゴシック" charset="0"/>
                <a:cs typeface="ＭＳ Ｐゴシック" charset="0"/>
              </a:rPr>
              <a:t>ASK STUDENTS HERE ABOUT WHY NOT TO USE ACCURACY</a:t>
            </a:r>
          </a:p>
          <a:p>
            <a:r>
              <a:rPr lang="en-US" dirty="0">
                <a:latin typeface="Arial" charset="0"/>
                <a:ea typeface="ＭＳ Ｐゴシック" charset="0"/>
                <a:cs typeface="ＭＳ Ｐゴシック" charset="0"/>
              </a:rPr>
              <a:t>[note that there is typically a trade-off between precision and recall!]</a:t>
            </a:r>
          </a:p>
          <a:p>
            <a:r>
              <a:rPr lang="en-US" dirty="0">
                <a:latin typeface="Arial" charset="0"/>
                <a:ea typeface="ＭＳ Ｐゴシック" charset="0"/>
                <a:cs typeface="ＭＳ Ｐゴシック" charset="0"/>
              </a:rPr>
              <a:t>[to get high precision, be very reluctant to make guesses – but then you may have poor recall]</a:t>
            </a:r>
          </a:p>
          <a:p>
            <a:r>
              <a:rPr lang="en-US" dirty="0">
                <a:latin typeface="Arial" charset="0"/>
                <a:ea typeface="ＭＳ Ｐゴシック" charset="0"/>
                <a:cs typeface="ＭＳ Ｐゴシック" charset="0"/>
              </a:rPr>
              <a:t>[to get high recall, be very promiscuous in making guesses – but then you may have poor precision]</a:t>
            </a:r>
          </a:p>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1018041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742846" indent="-285710" eaLnBrk="0" hangingPunct="0">
              <a:defRPr sz="2400">
                <a:solidFill>
                  <a:schemeClr val="tx1"/>
                </a:solidFill>
                <a:latin typeface="Lucida Sans" charset="0"/>
                <a:ea typeface="ＭＳ Ｐゴシック" charset="0"/>
              </a:defRPr>
            </a:lvl2pPr>
            <a:lvl3pPr marL="1142840" indent="-228568" eaLnBrk="0" hangingPunct="0">
              <a:defRPr sz="2400">
                <a:solidFill>
                  <a:schemeClr val="tx1"/>
                </a:solidFill>
                <a:latin typeface="Lucida Sans" charset="0"/>
                <a:ea typeface="ＭＳ Ｐゴシック" charset="0"/>
              </a:defRPr>
            </a:lvl3pPr>
            <a:lvl4pPr marL="1599975" indent="-228568" eaLnBrk="0" hangingPunct="0">
              <a:defRPr sz="2400">
                <a:solidFill>
                  <a:schemeClr val="tx1"/>
                </a:solidFill>
                <a:latin typeface="Lucida Sans" charset="0"/>
                <a:ea typeface="ＭＳ Ｐゴシック" charset="0"/>
              </a:defRPr>
            </a:lvl4pPr>
            <a:lvl5pPr marL="2057111" indent="-228568" eaLnBrk="0" hangingPunct="0">
              <a:defRPr sz="2400">
                <a:solidFill>
                  <a:schemeClr val="tx1"/>
                </a:solidFill>
                <a:latin typeface="Lucida Sans" charset="0"/>
                <a:ea typeface="ＭＳ Ｐゴシック" charset="0"/>
              </a:defRPr>
            </a:lvl5pPr>
            <a:lvl6pPr marL="2514247" indent="-228568" eaLnBrk="0" fontAlgn="base" hangingPunct="0">
              <a:spcBef>
                <a:spcPct val="0"/>
              </a:spcBef>
              <a:spcAft>
                <a:spcPct val="0"/>
              </a:spcAft>
              <a:defRPr sz="2400">
                <a:solidFill>
                  <a:schemeClr val="tx1"/>
                </a:solidFill>
                <a:latin typeface="Lucida Sans" charset="0"/>
                <a:ea typeface="ＭＳ Ｐゴシック" charset="0"/>
              </a:defRPr>
            </a:lvl6pPr>
            <a:lvl7pPr marL="2971383" indent="-228568" eaLnBrk="0" fontAlgn="base" hangingPunct="0">
              <a:spcBef>
                <a:spcPct val="0"/>
              </a:spcBef>
              <a:spcAft>
                <a:spcPct val="0"/>
              </a:spcAft>
              <a:defRPr sz="2400">
                <a:solidFill>
                  <a:schemeClr val="tx1"/>
                </a:solidFill>
                <a:latin typeface="Lucida Sans" charset="0"/>
                <a:ea typeface="ＭＳ Ｐゴシック" charset="0"/>
              </a:defRPr>
            </a:lvl7pPr>
            <a:lvl8pPr marL="3428519" indent="-228568" eaLnBrk="0" fontAlgn="base" hangingPunct="0">
              <a:spcBef>
                <a:spcPct val="0"/>
              </a:spcBef>
              <a:spcAft>
                <a:spcPct val="0"/>
              </a:spcAft>
              <a:defRPr sz="2400">
                <a:solidFill>
                  <a:schemeClr val="tx1"/>
                </a:solidFill>
                <a:latin typeface="Lucida Sans" charset="0"/>
                <a:ea typeface="ＭＳ Ｐゴシック" charset="0"/>
              </a:defRPr>
            </a:lvl8pPr>
            <a:lvl9pPr marL="3885655" indent="-228568"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CE933F43-4F06-6E4C-A88E-635F26D155D2}" type="slidenum">
              <a:rPr lang="en-US" sz="1200"/>
              <a:pPr eaLnBrk="1" hangingPunct="1"/>
              <a:t>52</a:t>
            </a:fld>
            <a:endParaRPr lang="en-US" sz="1200"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Arial" charset="0"/>
                <a:ea typeface="ＭＳ Ｐゴシック" charset="0"/>
                <a:cs typeface="ＭＳ Ｐゴシック" charset="0"/>
              </a:rPr>
              <a:t>a combined measure: F-measure: weighted harmonic mean between precision and recall</a:t>
            </a:r>
          </a:p>
          <a:p>
            <a:r>
              <a:rPr lang="en-US">
                <a:latin typeface="Arial" charset="0"/>
                <a:ea typeface="ＭＳ Ｐゴシック" charset="0"/>
                <a:cs typeface="ＭＳ Ｐゴシック" charset="0"/>
              </a:rPr>
              <a:t>[why weighted?  in some applications you may care more about P or R]</a:t>
            </a:r>
          </a:p>
          <a:p>
            <a:r>
              <a:rPr lang="en-US">
                <a:latin typeface="Arial" charset="0"/>
                <a:ea typeface="ＭＳ Ｐゴシック" charset="0"/>
                <a:cs typeface="ＭＳ Ｐゴシック" charset="0"/>
              </a:rPr>
              <a:t>[why harmonic?  it's conservative -- lower than arith or geo mean]</a:t>
            </a:r>
          </a:p>
          <a:p>
            <a:r>
              <a:rPr lang="en-US">
                <a:latin typeface="Arial" charset="0"/>
                <a:ea typeface="ＭＳ Ｐゴシック" charset="0"/>
                <a:cs typeface="ＭＳ Ｐゴシック" charset="0"/>
              </a:rPr>
              <a:t>[if P and R are far apart, F tends to be near lower value]</a:t>
            </a:r>
          </a:p>
          <a:p>
            <a:r>
              <a:rPr lang="en-US">
                <a:latin typeface="Arial" charset="0"/>
                <a:ea typeface="ＭＳ Ｐゴシック" charset="0"/>
                <a:cs typeface="ＭＳ Ｐゴシック" charset="0"/>
              </a:rPr>
              <a:t>[in order to do well on F1, need to do well on BOTH P and R]</a:t>
            </a:r>
          </a:p>
          <a:p>
            <a:r>
              <a:rPr lang="en-US">
                <a:latin typeface="Arial" charset="0"/>
                <a:ea typeface="ＭＳ Ｐゴシック" charset="0"/>
                <a:cs typeface="ＭＳ Ｐゴシック" charset="0"/>
              </a:rPr>
              <a:t>[this way, can't beat the system by being either too reluctant or too promiscuous]</a:t>
            </a:r>
          </a:p>
          <a:p>
            <a:endParaRPr lang="en-US">
              <a:latin typeface="Arial" charset="0"/>
              <a:ea typeface="ＭＳ Ｐゴシック" charset="0"/>
              <a:cs typeface="ＭＳ Ｐゴシック" charset="0"/>
            </a:endParaRPr>
          </a:p>
          <a:p>
            <a:r>
              <a:rPr lang="en-US">
                <a:latin typeface="Arial" charset="0"/>
                <a:ea typeface="ＭＳ Ｐゴシック" charset="0"/>
                <a:cs typeface="ＭＳ Ｐゴシック" charset="0"/>
              </a:rPr>
              <a:t>Comment: when ppl say f-measure w/o specifying beta, they mean balanced, and this is by far the most common way of doing it</a:t>
            </a:r>
          </a:p>
        </p:txBody>
      </p:sp>
    </p:spTree>
    <p:extLst>
      <p:ext uri="{BB962C8B-B14F-4D97-AF65-F5344CB8AC3E}">
        <p14:creationId xmlns:p14="http://schemas.microsoft.com/office/powerpoint/2010/main" val="1848096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4572000" y="510778"/>
            <a:ext cx="3890964" cy="1298972"/>
          </a:xfrm>
        </p:spPr>
        <p:txBody>
          <a:bodyPr/>
          <a:lstStyle>
            <a:lvl1pPr algn="ctr">
              <a:defRPr sz="3200" b="1"/>
            </a:lvl1pPr>
          </a:lstStyle>
          <a:p>
            <a:r>
              <a:rPr lang="en-US"/>
              <a:t>Click to edit Master title style</a:t>
            </a:r>
            <a:endParaRPr lang="en-US" dirty="0"/>
          </a:p>
        </p:txBody>
      </p:sp>
      <p:sp>
        <p:nvSpPr>
          <p:cNvPr id="205827" name="Rectangle 3"/>
          <p:cNvSpPr>
            <a:spLocks noGrp="1" noChangeArrowheads="1"/>
          </p:cNvSpPr>
          <p:nvPr>
            <p:ph type="subTitle" idx="1"/>
          </p:nvPr>
        </p:nvSpPr>
        <p:spPr>
          <a:xfrm>
            <a:off x="4572000" y="2876550"/>
            <a:ext cx="3886200" cy="1676400"/>
          </a:xfrm>
        </p:spPr>
        <p:txBody>
          <a:bodyPr/>
          <a:lstStyle>
            <a:lvl1pPr marL="0" indent="0" algn="ctr">
              <a:spcBef>
                <a:spcPts val="900"/>
              </a:spcBef>
              <a:buFont typeface="Times" pitchFamily="-65" charset="0"/>
              <a:buNone/>
              <a:defRPr/>
            </a:lvl1pPr>
          </a:lstStyle>
          <a:p>
            <a:r>
              <a:rPr lang="en-US"/>
              <a:t>Click to edit Master subtitle style</a:t>
            </a:r>
            <a:endParaRPr lang="en-US" dirty="0"/>
          </a:p>
        </p:txBody>
      </p:sp>
      <p:sp>
        <p:nvSpPr>
          <p:cNvPr id="5" name="Rectangle 4"/>
          <p:cNvSpPr>
            <a:spLocks noGrp="1" noChangeArrowheads="1"/>
          </p:cNvSpPr>
          <p:nvPr>
            <p:ph type="dt" sz="half" idx="10"/>
          </p:nvPr>
        </p:nvSpPr>
        <p:spPr>
          <a:xfrm>
            <a:off x="7239000" y="4705350"/>
            <a:ext cx="1219200" cy="342900"/>
          </a:xfrm>
        </p:spPr>
        <p:txBody>
          <a:bodyPr anchor="b"/>
          <a:lstStyle>
            <a:lvl1pPr>
              <a:defRPr>
                <a:solidFill>
                  <a:schemeClr val="bg2"/>
                </a:solidFill>
              </a:defRPr>
            </a:lvl1pPr>
          </a:lstStyle>
          <a:p>
            <a:pPr>
              <a:defRPr/>
            </a:pPr>
            <a:endParaRPr lang="en-US" dirty="0"/>
          </a:p>
        </p:txBody>
      </p:sp>
      <p:sp>
        <p:nvSpPr>
          <p:cNvPr id="6" name="Rectangle 5"/>
          <p:cNvSpPr>
            <a:spLocks noGrp="1" noChangeArrowheads="1"/>
          </p:cNvSpPr>
          <p:nvPr>
            <p:ph type="ftr" sz="quarter" idx="11"/>
          </p:nvPr>
        </p:nvSpPr>
        <p:spPr>
          <a:xfrm>
            <a:off x="5334000" y="4705350"/>
            <a:ext cx="1905000" cy="342900"/>
          </a:xfrm>
        </p:spPr>
        <p:txBody>
          <a:bodyPr anchor="b"/>
          <a:lstStyle>
            <a:lvl1pPr>
              <a:defRPr>
                <a:solidFill>
                  <a:schemeClr val="bg2"/>
                </a:solidFill>
              </a:defRPr>
            </a:lvl1pPr>
          </a:lstStyle>
          <a:p>
            <a:pPr>
              <a:defRPr/>
            </a:pPr>
            <a:endParaRPr lang="en-US" dirty="0"/>
          </a:p>
        </p:txBody>
      </p:sp>
      <p:sp>
        <p:nvSpPr>
          <p:cNvPr id="11" name="Rectangle 6"/>
          <p:cNvSpPr>
            <a:spLocks noGrp="1" noChangeArrowheads="1"/>
          </p:cNvSpPr>
          <p:nvPr>
            <p:ph type="sldNum" sz="quarter" idx="12"/>
          </p:nvPr>
        </p:nvSpPr>
        <p:spPr>
          <a:xfrm>
            <a:off x="4572000" y="4705350"/>
            <a:ext cx="765174" cy="342900"/>
          </a:xfrm>
        </p:spPr>
        <p:txBody>
          <a:bodyPr anchor="b"/>
          <a:lstStyle>
            <a:lvl1pPr>
              <a:defRPr>
                <a:solidFill>
                  <a:schemeClr val="bg2"/>
                </a:solidFill>
              </a:defRPr>
            </a:lvl1pPr>
          </a:lstStyle>
          <a:p>
            <a:fld id="{E74C7FEE-6B48-4643-BCFB-F13B0E13E171}" type="slidenum">
              <a:rPr lang="en-US"/>
              <a:pPr/>
              <a:t>‹#›</a:t>
            </a:fld>
            <a:endParaRPr lang="en-US" dirty="0"/>
          </a:p>
        </p:txBody>
      </p:sp>
    </p:spTree>
    <p:extLst>
      <p:ext uri="{BB962C8B-B14F-4D97-AF65-F5344CB8AC3E}">
        <p14:creationId xmlns:p14="http://schemas.microsoft.com/office/powerpoint/2010/main" val="2807211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04800" y="1352550"/>
            <a:ext cx="8534400" cy="3333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5"/>
          <p:cNvSpPr>
            <a:spLocks noGrp="1" noChangeArrowheads="1"/>
          </p:cNvSpPr>
          <p:nvPr>
            <p:ph type="dt" sz="half" idx="10"/>
          </p:nvPr>
        </p:nvSpPr>
        <p:spPr>
          <a:xfrm>
            <a:off x="6858000" y="4705350"/>
            <a:ext cx="1981200" cy="342900"/>
          </a:xfrm>
          <a:ln/>
        </p:spPr>
        <p:txBody>
          <a:bodyPr/>
          <a:lstStyle>
            <a:lvl1pPr>
              <a:defRPr/>
            </a:lvl1pPr>
          </a:lstStyle>
          <a:p>
            <a:pPr>
              <a:defRPr/>
            </a:pPr>
            <a:endParaRPr lang="en-US"/>
          </a:p>
        </p:txBody>
      </p:sp>
      <p:sp>
        <p:nvSpPr>
          <p:cNvPr id="5" name="Rectangle 6"/>
          <p:cNvSpPr>
            <a:spLocks noGrp="1" noChangeArrowheads="1"/>
          </p:cNvSpPr>
          <p:nvPr>
            <p:ph type="ftr" sz="quarter" idx="11"/>
          </p:nvPr>
        </p:nvSpPr>
        <p:spPr>
          <a:xfrm>
            <a:off x="3048000" y="4705350"/>
            <a:ext cx="2895600" cy="342900"/>
          </a:xfrm>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0F35DC5-7E65-8247-99AB-4E984F8A921E}"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386176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2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9C2BDC8F-D922-0A4E-AAA0-9C7D97FF3D71}" type="slidenum">
              <a:rPr lang="en-US"/>
              <a:pPr/>
              <a:t>‹#›</a:t>
            </a:fld>
            <a:endParaRPr lang="en-US"/>
          </a:p>
        </p:txBody>
      </p:sp>
    </p:spTree>
    <p:extLst>
      <p:ext uri="{BB962C8B-B14F-4D97-AF65-F5344CB8AC3E}">
        <p14:creationId xmlns:p14="http://schemas.microsoft.com/office/powerpoint/2010/main" val="231173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4800" y="1314450"/>
            <a:ext cx="3810000" cy="337185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7200" y="1314450"/>
            <a:ext cx="3810000" cy="337185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5"/>
          <p:cNvSpPr>
            <a:spLocks noGrp="1" noChangeArrowheads="1"/>
          </p:cNvSpPr>
          <p:nvPr>
            <p:ph type="dt" sz="half" idx="10"/>
          </p:nvPr>
        </p:nvSpPr>
        <p:spPr>
          <a:xfrm>
            <a:off x="6096000" y="4705350"/>
            <a:ext cx="1981200" cy="342900"/>
          </a:xfrm>
          <a:ln/>
        </p:spPr>
        <p:txBody>
          <a:bodyPr/>
          <a:lstStyle>
            <a:lvl1pPr>
              <a:defRPr/>
            </a:lvl1pPr>
          </a:lstStyle>
          <a:p>
            <a:pPr>
              <a:defRPr/>
            </a:pPr>
            <a:endParaRPr lang="en-US" dirty="0"/>
          </a:p>
        </p:txBody>
      </p:sp>
      <p:sp>
        <p:nvSpPr>
          <p:cNvPr id="6" name="Rectangle 6"/>
          <p:cNvSpPr>
            <a:spLocks noGrp="1" noChangeArrowheads="1"/>
          </p:cNvSpPr>
          <p:nvPr>
            <p:ph type="ftr" sz="quarter" idx="11"/>
          </p:nvPr>
        </p:nvSpPr>
        <p:spPr>
          <a:xfrm>
            <a:off x="2667000" y="4686300"/>
            <a:ext cx="2895600" cy="342900"/>
          </a:xfrm>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BAC7A63A-31A1-2C4C-95AA-A445DBCAB174}"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363913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480275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03BC7101-16EA-C942-850C-355264FDE9E8}" type="slidenum">
              <a:rPr lang="en-US"/>
              <a:pPr/>
              <a:t>‹#›</a:t>
            </a:fld>
            <a:endParaRPr lang="en-US"/>
          </a:p>
        </p:txBody>
      </p:sp>
      <p:sp>
        <p:nvSpPr>
          <p:cNvPr id="6"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11862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B228E5E2-1321-4548-96C8-615581C5A8C2}" type="slidenum">
              <a:rPr lang="en-US"/>
              <a:pPr/>
              <a:t>‹#›</a:t>
            </a:fld>
            <a:endParaRPr lang="en-US"/>
          </a:p>
        </p:txBody>
      </p:sp>
    </p:spTree>
    <p:extLst>
      <p:ext uri="{BB962C8B-B14F-4D97-AF65-F5344CB8AC3E}">
        <p14:creationId xmlns:p14="http://schemas.microsoft.com/office/powerpoint/2010/main" val="394127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0"/>
            <a:ext cx="3008313" cy="871538"/>
          </a:xfrm>
        </p:spPr>
        <p:txBody>
          <a:bodyPr/>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343150"/>
            <a:ext cx="3008313" cy="22514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83729988-E849-C549-AA67-252EA40F09C2}"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833127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497882B1-C6D6-A945-BB8B-B7B1B12471B5}" type="slidenum">
              <a:rPr lang="en-US"/>
              <a:pPr/>
              <a:t>‹#›</a:t>
            </a:fld>
            <a:endParaRPr lang="en-US"/>
          </a:p>
        </p:txBody>
      </p:sp>
    </p:spTree>
    <p:extLst>
      <p:ext uri="{BB962C8B-B14F-4D97-AF65-F5344CB8AC3E}">
        <p14:creationId xmlns:p14="http://schemas.microsoft.com/office/powerpoint/2010/main" val="150604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C1DFA8D9-15F1-AF4D-8149-0C26EB27AC9C}" type="slidenum">
              <a:rPr lang="en-US"/>
              <a:pPr/>
              <a:t>‹#›</a:t>
            </a:fld>
            <a:endParaRPr lang="en-US"/>
          </a:p>
        </p:txBody>
      </p:sp>
    </p:spTree>
    <p:extLst>
      <p:ext uri="{BB962C8B-B14F-4D97-AF65-F5344CB8AC3E}">
        <p14:creationId xmlns:p14="http://schemas.microsoft.com/office/powerpoint/2010/main" val="331698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9450" y="285750"/>
            <a:ext cx="2114550" cy="44005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619125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6857BED9-9427-674C-8047-314E304C86F8}" type="slidenum">
              <a:rPr lang="en-US"/>
              <a:pPr/>
              <a:t>‹#›</a:t>
            </a:fld>
            <a:endParaRPr lang="en-US"/>
          </a:p>
        </p:txBody>
      </p:sp>
    </p:spTree>
    <p:extLst>
      <p:ext uri="{BB962C8B-B14F-4D97-AF65-F5344CB8AC3E}">
        <p14:creationId xmlns:p14="http://schemas.microsoft.com/office/powerpoint/2010/main" val="3743081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3495300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Nar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04800" y="1352550"/>
            <a:ext cx="6858000" cy="3333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5"/>
          <p:cNvSpPr>
            <a:spLocks noGrp="1" noChangeArrowheads="1"/>
          </p:cNvSpPr>
          <p:nvPr>
            <p:ph type="dt" sz="half" idx="10"/>
          </p:nvPr>
        </p:nvSpPr>
        <p:spPr>
          <a:xfrm>
            <a:off x="5181600" y="4705350"/>
            <a:ext cx="1981200" cy="342900"/>
          </a:xfrm>
          <a:ln/>
        </p:spPr>
        <p:txBody>
          <a:bodyPr/>
          <a:lstStyle>
            <a:lvl1pPr>
              <a:defRPr/>
            </a:lvl1pPr>
          </a:lstStyle>
          <a:p>
            <a:pPr>
              <a:defRPr/>
            </a:pPr>
            <a:endParaRPr lang="en-US" dirty="0"/>
          </a:p>
        </p:txBody>
      </p:sp>
      <p:sp>
        <p:nvSpPr>
          <p:cNvPr id="5" name="Rectangle 6"/>
          <p:cNvSpPr>
            <a:spLocks noGrp="1" noChangeArrowheads="1"/>
          </p:cNvSpPr>
          <p:nvPr>
            <p:ph type="ftr" sz="quarter" idx="11"/>
          </p:nvPr>
        </p:nvSpPr>
        <p:spPr>
          <a:xfrm>
            <a:off x="2286000" y="4705350"/>
            <a:ext cx="2895600" cy="342900"/>
          </a:xfrm>
          <a:ln/>
        </p:spPr>
        <p:txBody>
          <a:bodyPr/>
          <a:lstStyle>
            <a:lvl1pPr>
              <a:defRPr/>
            </a:lvl1pPr>
          </a:lstStyle>
          <a:p>
            <a:pPr>
              <a:defRPr/>
            </a:pPr>
            <a:endParaRPr lang="en-US" dirty="0"/>
          </a:p>
        </p:txBody>
      </p:sp>
      <p:sp>
        <p:nvSpPr>
          <p:cNvPr id="6" name="Rectangle 7"/>
          <p:cNvSpPr>
            <a:spLocks noGrp="1" noChangeArrowheads="1"/>
          </p:cNvSpPr>
          <p:nvPr>
            <p:ph type="sldNum" sz="quarter" idx="12"/>
          </p:nvPr>
        </p:nvSpPr>
        <p:spPr>
          <a:ln/>
        </p:spPr>
        <p:txBody>
          <a:bodyPr/>
          <a:lstStyle>
            <a:lvl1pPr>
              <a:defRPr/>
            </a:lvl1pPr>
          </a:lstStyle>
          <a:p>
            <a:fld id="{10F35DC5-7E65-8247-99AB-4E984F8A921E}"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1817706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Complete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68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1371600" y="381000"/>
            <a:ext cx="7467600" cy="74295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29" name="Rectangle 4"/>
          <p:cNvSpPr>
            <a:spLocks noGrp="1" noChangeArrowheads="1"/>
          </p:cNvSpPr>
          <p:nvPr>
            <p:ph type="body" idx="1"/>
          </p:nvPr>
        </p:nvSpPr>
        <p:spPr bwMode="auto">
          <a:xfrm>
            <a:off x="304800" y="1352550"/>
            <a:ext cx="7772400" cy="333375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4805" name="Rectangle 5"/>
          <p:cNvSpPr>
            <a:spLocks noGrp="1" noChangeArrowheads="1"/>
          </p:cNvSpPr>
          <p:nvPr>
            <p:ph type="dt" sz="half" idx="2"/>
          </p:nvPr>
        </p:nvSpPr>
        <p:spPr bwMode="auto">
          <a:xfrm>
            <a:off x="6096000" y="4705350"/>
            <a:ext cx="19812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cs typeface="+mn-cs"/>
              </a:defRPr>
            </a:lvl1pPr>
          </a:lstStyle>
          <a:p>
            <a:pPr>
              <a:defRPr/>
            </a:pPr>
            <a:endParaRPr lang="en-US" dirty="0"/>
          </a:p>
        </p:txBody>
      </p:sp>
      <p:sp>
        <p:nvSpPr>
          <p:cNvPr id="204806" name="Rectangle 6"/>
          <p:cNvSpPr>
            <a:spLocks noGrp="1" noChangeArrowheads="1"/>
          </p:cNvSpPr>
          <p:nvPr>
            <p:ph type="ftr" sz="quarter" idx="3"/>
          </p:nvPr>
        </p:nvSpPr>
        <p:spPr bwMode="auto">
          <a:xfrm>
            <a:off x="2743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cs typeface="+mn-cs"/>
              </a:defRPr>
            </a:lvl1pPr>
          </a:lstStyle>
          <a:p>
            <a:pPr>
              <a:defRPr/>
            </a:pPr>
            <a:endParaRPr lang="en-US" dirty="0"/>
          </a:p>
        </p:txBody>
      </p:sp>
      <p:sp>
        <p:nvSpPr>
          <p:cNvPr id="204807" name="Rectangle 7"/>
          <p:cNvSpPr>
            <a:spLocks noGrp="1" noChangeArrowheads="1"/>
          </p:cNvSpPr>
          <p:nvPr>
            <p:ph type="sldNum" sz="quarter" idx="4"/>
          </p:nvPr>
        </p:nvSpPr>
        <p:spPr bwMode="auto">
          <a:xfrm>
            <a:off x="304800" y="4705350"/>
            <a:ext cx="19812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mn-lt"/>
              </a:defRPr>
            </a:lvl1pPr>
          </a:lstStyle>
          <a:p>
            <a:fld id="{91F816EA-24CC-2048-859A-C5EA9F275392}"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10"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1" r:id="rId13"/>
    <p:sldLayoutId id="2147483712" r:id="rId14"/>
  </p:sldLayoutIdLst>
  <p:hf hdr="0" ftr="0" dt="0"/>
  <p:txStyles>
    <p:titleStyle>
      <a:lvl1pPr algn="l" rtl="0" eaLnBrk="1" fontAlgn="base" hangingPunct="1">
        <a:spcBef>
          <a:spcPct val="0"/>
        </a:spcBef>
        <a:spcAft>
          <a:spcPct val="0"/>
        </a:spcAft>
        <a:defRPr sz="3200" b="1">
          <a:solidFill>
            <a:schemeClr val="tx1"/>
          </a:solidFill>
          <a:latin typeface="+mj-lt"/>
          <a:ea typeface="ＭＳ Ｐゴシック" pitchFamily="-65" charset="-128"/>
          <a:cs typeface="ＭＳ Ｐゴシック" pitchFamily="-65" charset="-128"/>
        </a:defRPr>
      </a:lvl1pPr>
      <a:lvl2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2pPr>
      <a:lvl3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3pPr>
      <a:lvl4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4pPr>
      <a:lvl5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3600">
          <a:solidFill>
            <a:schemeClr val="tx1"/>
          </a:solidFill>
          <a:latin typeface="Lucida Sans" pitchFamily="-65" charset="0"/>
        </a:defRPr>
      </a:lvl6pPr>
      <a:lvl7pPr marL="914400" algn="l" rtl="0" eaLnBrk="1" fontAlgn="base" hangingPunct="1">
        <a:spcBef>
          <a:spcPct val="0"/>
        </a:spcBef>
        <a:spcAft>
          <a:spcPct val="0"/>
        </a:spcAft>
        <a:defRPr sz="3600">
          <a:solidFill>
            <a:schemeClr val="tx1"/>
          </a:solidFill>
          <a:latin typeface="Lucida Sans" pitchFamily="-65" charset="0"/>
        </a:defRPr>
      </a:lvl7pPr>
      <a:lvl8pPr marL="1371600" algn="l" rtl="0" eaLnBrk="1" fontAlgn="base" hangingPunct="1">
        <a:spcBef>
          <a:spcPct val="0"/>
        </a:spcBef>
        <a:spcAft>
          <a:spcPct val="0"/>
        </a:spcAft>
        <a:defRPr sz="3600">
          <a:solidFill>
            <a:schemeClr val="tx1"/>
          </a:solidFill>
          <a:latin typeface="Lucida Sans" pitchFamily="-65" charset="0"/>
        </a:defRPr>
      </a:lvl8pPr>
      <a:lvl9pPr marL="1828800" algn="l" rtl="0" eaLnBrk="1" fontAlgn="base" hangingPunct="1">
        <a:spcBef>
          <a:spcPct val="0"/>
        </a:spcBef>
        <a:spcAft>
          <a:spcPct val="0"/>
        </a:spcAft>
        <a:defRPr sz="3600">
          <a:solidFill>
            <a:schemeClr val="tx1"/>
          </a:solidFill>
          <a:latin typeface="Lucida Sans" pitchFamily="-65" charset="0"/>
        </a:defRPr>
      </a:lvl9pPr>
    </p:titleStyle>
    <p:body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7" Type="http://schemas.openxmlformats.org/officeDocument/2006/relationships/image" Target="../media/image12.e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1.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oleObject" Target="../embeddings/oleObject11.bin"/></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image" Target="../media/image21.emf"/><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oleObject" Target="../embeddings/oleObject16.bin"/></Relationships>
</file>

<file path=ppt/slides/_rels/slide3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8.bin"/><Relationship Id="rId1" Type="http://schemas.openxmlformats.org/officeDocument/2006/relationships/slideLayout" Target="../slideLayouts/slideLayout6.xml"/><Relationship Id="rId5" Type="http://schemas.openxmlformats.org/officeDocument/2006/relationships/image" Target="../media/image25.emf"/><Relationship Id="rId4" Type="http://schemas.openxmlformats.org/officeDocument/2006/relationships/oleObject" Target="../embeddings/oleObject19.bin"/></Relationships>
</file>

<file path=ppt/slides/_rels/slide33.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28.emf"/><Relationship Id="rId2" Type="http://schemas.openxmlformats.org/officeDocument/2006/relationships/oleObject" Target="../embeddings/oleObject20.bin"/><Relationship Id="rId1" Type="http://schemas.openxmlformats.org/officeDocument/2006/relationships/slideLayout" Target="../slideLayouts/slideLayout12.xml"/><Relationship Id="rId6" Type="http://schemas.openxmlformats.org/officeDocument/2006/relationships/oleObject" Target="../embeddings/oleObject22.bin"/><Relationship Id="rId5" Type="http://schemas.openxmlformats.org/officeDocument/2006/relationships/image" Target="../media/image27.emf"/><Relationship Id="rId4" Type="http://schemas.openxmlformats.org/officeDocument/2006/relationships/oleObject" Target="../embeddings/oleObject21.bin"/></Relationships>
</file>

<file path=ppt/slides/_rels/slide3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oleObject" Target="../embeddings/oleObject24.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1.emf"/><Relationship Id="rId7" Type="http://schemas.openxmlformats.org/officeDocument/2006/relationships/image" Target="../media/image33.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32.emf"/><Relationship Id="rId4" Type="http://schemas.openxmlformats.org/officeDocument/2006/relationships/oleObject" Target="../embeddings/oleObject26.bin"/></Relationships>
</file>

<file path=ppt/slides/_rels/slide46.xml.rels><?xml version="1.0" encoding="UTF-8" standalone="yes"?>
<Relationships xmlns="http://schemas.openxmlformats.org/package/2006/relationships"><Relationship Id="rId2" Type="http://schemas.openxmlformats.org/officeDocument/2006/relationships/hyperlink" Target="http://spamassassin.apache.org/tests_3_3_x.html"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a:solidFill>
                  <a:srgbClr val="A4001D"/>
                </a:solidFill>
                <a:latin typeface="Calibri"/>
                <a:ea typeface="ＭＳ Ｐゴシック" charset="0"/>
                <a:cs typeface="Calibri"/>
              </a:rPr>
              <a:t>The Task of Text Classification</a:t>
            </a:r>
            <a:endParaRPr lang="en-US" sz="3600" dirty="0">
              <a:solidFill>
                <a:srgbClr val="A4001D"/>
              </a:solidFill>
              <a:latin typeface="Calibri"/>
              <a:ea typeface="ＭＳ Ｐゴシック" charset="0"/>
              <a:cs typeface="Calibri"/>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Is this spam?</a:t>
            </a:r>
          </a:p>
        </p:txBody>
      </p:sp>
      <p:sp>
        <p:nvSpPr>
          <p:cNvPr id="2" name="Content Placeholder 1"/>
          <p:cNvSpPr>
            <a:spLocks noGrp="1"/>
          </p:cNvSpPr>
          <p:nvPr>
            <p:ph idx="1"/>
          </p:nvPr>
        </p:nvSpPr>
        <p:spPr/>
        <p:txBody>
          <a:bodyPr/>
          <a:lstStyle/>
          <a:p>
            <a:endParaRPr lang="en-US"/>
          </a:p>
        </p:txBody>
      </p:sp>
      <p:pic>
        <p:nvPicPr>
          <p:cNvPr id="5"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85800" y="1444713"/>
            <a:ext cx="7871720" cy="3489237"/>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7106192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4" name="Rectangle 2"/>
          <p:cNvSpPr>
            <a:spLocks noGrp="1" noChangeArrowheads="1"/>
          </p:cNvSpPr>
          <p:nvPr>
            <p:ph type="title"/>
          </p:nvPr>
        </p:nvSpPr>
        <p:spPr>
          <a:xfrm>
            <a:off x="1219200" y="-17150"/>
            <a:ext cx="7772400" cy="857250"/>
          </a:xfrm>
        </p:spPr>
        <p:txBody>
          <a:bodyPr/>
          <a:lstStyle/>
          <a:p>
            <a:r>
              <a:rPr lang="en-US" dirty="0"/>
              <a:t>Who wrote which Federalist papers?</a:t>
            </a:r>
          </a:p>
        </p:txBody>
      </p:sp>
      <p:sp>
        <p:nvSpPr>
          <p:cNvPr id="1359875" name="Rectangle 3"/>
          <p:cNvSpPr>
            <a:spLocks noGrp="1" noChangeArrowheads="1"/>
          </p:cNvSpPr>
          <p:nvPr>
            <p:ph sz="quarter" idx="1"/>
          </p:nvPr>
        </p:nvSpPr>
        <p:spPr>
          <a:xfrm>
            <a:off x="457200" y="1352550"/>
            <a:ext cx="7162800" cy="3086100"/>
          </a:xfrm>
        </p:spPr>
        <p:txBody>
          <a:bodyPr>
            <a:normAutofit/>
          </a:bodyPr>
          <a:lstStyle/>
          <a:p>
            <a:pPr>
              <a:lnSpc>
                <a:spcPct val="110000"/>
              </a:lnSpc>
              <a:spcAft>
                <a:spcPts val="0"/>
              </a:spcAft>
            </a:pPr>
            <a:r>
              <a:rPr lang="en-US" dirty="0"/>
              <a:t>1787-8: anonymous essays try to convince New York to ratify U.S Constitution:  Jay, Madison, Hamilton.  </a:t>
            </a:r>
          </a:p>
          <a:p>
            <a:pPr>
              <a:lnSpc>
                <a:spcPct val="110000"/>
              </a:lnSpc>
              <a:spcAft>
                <a:spcPts val="0"/>
              </a:spcAft>
            </a:pPr>
            <a:r>
              <a:rPr lang="en-US" dirty="0"/>
              <a:t>Authorship of 12 of the letters in dispute</a:t>
            </a:r>
          </a:p>
          <a:p>
            <a:pPr>
              <a:lnSpc>
                <a:spcPct val="110000"/>
              </a:lnSpc>
              <a:spcAft>
                <a:spcPts val="0"/>
              </a:spcAft>
            </a:pPr>
            <a:r>
              <a:rPr lang="en-US" dirty="0"/>
              <a:t>1963: solved by </a:t>
            </a:r>
            <a:r>
              <a:rPr lang="en-US" dirty="0" err="1"/>
              <a:t>Mosteller</a:t>
            </a:r>
            <a:r>
              <a:rPr lang="en-US" dirty="0"/>
              <a:t> and Wallace using Bayesian methods</a:t>
            </a:r>
          </a:p>
          <a:p>
            <a:pPr>
              <a:lnSpc>
                <a:spcPct val="110000"/>
              </a:lnSpc>
              <a:spcAft>
                <a:spcPts val="0"/>
              </a:spcAft>
            </a:pPr>
            <a:endParaRPr lang="en-US" dirty="0"/>
          </a:p>
        </p:txBody>
      </p:sp>
      <p:pic>
        <p:nvPicPr>
          <p:cNvPr id="12" name="Picture 11" descr="370px-Federalist.jpg"/>
          <p:cNvPicPr>
            <a:picLocks noChangeAspect="1"/>
          </p:cNvPicPr>
          <p:nvPr/>
        </p:nvPicPr>
        <p:blipFill>
          <a:blip r:embed="rId2"/>
          <a:stretch>
            <a:fillRect/>
          </a:stretch>
        </p:blipFill>
        <p:spPr>
          <a:xfrm>
            <a:off x="7797800" y="133350"/>
            <a:ext cx="1270000" cy="2059459"/>
          </a:xfrm>
          <a:prstGeom prst="rect">
            <a:avLst/>
          </a:prstGeom>
        </p:spPr>
      </p:pic>
      <p:pic>
        <p:nvPicPr>
          <p:cNvPr id="2" name="Picture 1" descr="220px-James_Madiso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593" y="3714750"/>
            <a:ext cx="907007" cy="1104900"/>
          </a:xfrm>
          <a:prstGeom prst="rect">
            <a:avLst/>
          </a:prstGeom>
        </p:spPr>
      </p:pic>
      <p:pic>
        <p:nvPicPr>
          <p:cNvPr id="3" name="Picture 2" descr="220px-Alexander_Hamilton_portrait_by_John_Trumbull_1806.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3718" y="3657600"/>
            <a:ext cx="947391" cy="1123950"/>
          </a:xfrm>
          <a:prstGeom prst="rect">
            <a:avLst/>
          </a:prstGeom>
        </p:spPr>
      </p:pic>
      <p:sp>
        <p:nvSpPr>
          <p:cNvPr id="4" name="TextBox 3"/>
          <p:cNvSpPr txBox="1"/>
          <p:nvPr/>
        </p:nvSpPr>
        <p:spPr>
          <a:xfrm>
            <a:off x="228600" y="4774168"/>
            <a:ext cx="1626016" cy="369332"/>
          </a:xfrm>
          <a:prstGeom prst="rect">
            <a:avLst/>
          </a:prstGeom>
          <a:noFill/>
        </p:spPr>
        <p:txBody>
          <a:bodyPr wrap="none" rtlCol="0">
            <a:spAutoFit/>
          </a:bodyPr>
          <a:lstStyle/>
          <a:p>
            <a:r>
              <a:rPr lang="en-US" sz="1800" dirty="0">
                <a:latin typeface="+mn-lt"/>
              </a:rPr>
              <a:t>James Madison</a:t>
            </a:r>
          </a:p>
        </p:txBody>
      </p:sp>
      <p:sp>
        <p:nvSpPr>
          <p:cNvPr id="15" name="TextBox 14"/>
          <p:cNvSpPr txBox="1"/>
          <p:nvPr/>
        </p:nvSpPr>
        <p:spPr>
          <a:xfrm>
            <a:off x="4724400" y="4793218"/>
            <a:ext cx="2051726" cy="369332"/>
          </a:xfrm>
          <a:prstGeom prst="rect">
            <a:avLst/>
          </a:prstGeom>
          <a:noFill/>
        </p:spPr>
        <p:txBody>
          <a:bodyPr wrap="none" rtlCol="0">
            <a:spAutoFit/>
          </a:bodyPr>
          <a:lstStyle/>
          <a:p>
            <a:r>
              <a:rPr lang="en-US" sz="1800" dirty="0">
                <a:latin typeface="+mn-lt"/>
              </a:rPr>
              <a:t>Alexander Hamilton</a:t>
            </a:r>
          </a:p>
        </p:txBody>
      </p:sp>
    </p:spTree>
    <p:extLst>
      <p:ext uri="{BB962C8B-B14F-4D97-AF65-F5344CB8AC3E}">
        <p14:creationId xmlns:p14="http://schemas.microsoft.com/office/powerpoint/2010/main" val="2403579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33350"/>
            <a:ext cx="7467600" cy="742950"/>
          </a:xfrm>
        </p:spPr>
        <p:txBody>
          <a:bodyPr/>
          <a:lstStyle/>
          <a:p>
            <a:r>
              <a:rPr lang="en-US" dirty="0"/>
              <a:t>Male or female author?</a:t>
            </a:r>
          </a:p>
        </p:txBody>
      </p:sp>
      <p:sp>
        <p:nvSpPr>
          <p:cNvPr id="3" name="Content Placeholder 2"/>
          <p:cNvSpPr>
            <a:spLocks noGrp="1"/>
          </p:cNvSpPr>
          <p:nvPr>
            <p:ph idx="1"/>
          </p:nvPr>
        </p:nvSpPr>
        <p:spPr>
          <a:xfrm>
            <a:off x="304800" y="1200150"/>
            <a:ext cx="8534400" cy="3333750"/>
          </a:xfrm>
        </p:spPr>
        <p:txBody>
          <a:bodyPr/>
          <a:lstStyle/>
          <a:p>
            <a:pPr marL="457200" indent="-457200">
              <a:buFont typeface="+mj-lt"/>
              <a:buAutoNum type="arabicPeriod"/>
            </a:pPr>
            <a:r>
              <a:rPr lang="en-US" dirty="0"/>
              <a:t>By 1925 present-day Vietnam was divided into three parts under French colonial rule. The southern region embracing Saigon and the Mekong delta was the colony of Cochin-China; the central area with its imperial capital at Hue was the protectorate of Annam…</a:t>
            </a:r>
          </a:p>
          <a:p>
            <a:pPr marL="457200" indent="-457200">
              <a:buFont typeface="+mj-lt"/>
              <a:buAutoNum type="arabicPeriod"/>
            </a:pPr>
            <a:r>
              <a:rPr lang="en-US" dirty="0"/>
              <a:t>Clara never failed to be astonished by the extraordinary felicity of her own name. She found it hard to trust herself to the mercy of fate, which had managed over the years to convert her greatest shame into one of her greatest assets…</a:t>
            </a:r>
          </a:p>
        </p:txBody>
      </p:sp>
      <p:sp>
        <p:nvSpPr>
          <p:cNvPr id="5" name="TextBox 4"/>
          <p:cNvSpPr txBox="1"/>
          <p:nvPr/>
        </p:nvSpPr>
        <p:spPr>
          <a:xfrm>
            <a:off x="0" y="4641245"/>
            <a:ext cx="9144000" cy="461665"/>
          </a:xfrm>
          <a:prstGeom prst="rect">
            <a:avLst/>
          </a:prstGeom>
          <a:noFill/>
        </p:spPr>
        <p:txBody>
          <a:bodyPr wrap="square" rtlCol="0">
            <a:spAutoFit/>
          </a:bodyPr>
          <a:lstStyle/>
          <a:p>
            <a:r>
              <a:rPr lang="en-US" sz="1200" dirty="0">
                <a:latin typeface="+mn-lt"/>
              </a:rPr>
              <a:t>S. </a:t>
            </a:r>
            <a:r>
              <a:rPr lang="en-US" sz="1200" dirty="0" err="1">
                <a:latin typeface="+mn-lt"/>
              </a:rPr>
              <a:t>Argamon</a:t>
            </a:r>
            <a:r>
              <a:rPr lang="en-US" sz="1200" dirty="0">
                <a:latin typeface="+mn-lt"/>
              </a:rPr>
              <a:t>, M. Koppel, J. Fine, A. R. </a:t>
            </a:r>
            <a:r>
              <a:rPr lang="en-US" sz="1200" dirty="0" err="1">
                <a:latin typeface="+mn-lt"/>
              </a:rPr>
              <a:t>Shimoni</a:t>
            </a:r>
            <a:r>
              <a:rPr lang="en-US" sz="1200" dirty="0">
                <a:latin typeface="+mn-lt"/>
              </a:rPr>
              <a:t>, 2003. “Gender, Genre, and Writing Style in Formal Written Texts,” Text, volume 23, number 3, pp. 321–346</a:t>
            </a:r>
          </a:p>
        </p:txBody>
      </p:sp>
    </p:spTree>
    <p:extLst>
      <p:ext uri="{BB962C8B-B14F-4D97-AF65-F5344CB8AC3E}">
        <p14:creationId xmlns:p14="http://schemas.microsoft.com/office/powerpoint/2010/main" val="2624243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or negative movie review?</a:t>
            </a:r>
          </a:p>
        </p:txBody>
      </p:sp>
      <p:sp>
        <p:nvSpPr>
          <p:cNvPr id="3" name="Content Placeholder 2"/>
          <p:cNvSpPr>
            <a:spLocks noGrp="1"/>
          </p:cNvSpPr>
          <p:nvPr>
            <p:ph idx="1"/>
          </p:nvPr>
        </p:nvSpPr>
        <p:spPr>
          <a:xfrm>
            <a:off x="762000" y="1352550"/>
            <a:ext cx="7924800" cy="3333750"/>
          </a:xfrm>
        </p:spPr>
        <p:txBody>
          <a:bodyPr/>
          <a:lstStyle/>
          <a:p>
            <a:r>
              <a:rPr lang="en-US" dirty="0"/>
              <a:t>unbelievably disappointing </a:t>
            </a:r>
          </a:p>
          <a:p>
            <a:r>
              <a:rPr lang="en-US" dirty="0"/>
              <a:t>Full of zany characters and richly applied satire, and some great plot twists</a:t>
            </a:r>
          </a:p>
          <a:p>
            <a:r>
              <a:rPr lang="en-US" dirty="0"/>
              <a:t> this is the greatest screwball comedy ever filmed</a:t>
            </a:r>
          </a:p>
          <a:p>
            <a:r>
              <a:rPr lang="en-US" dirty="0"/>
              <a:t> It was pathetic. The worst part about it was the boxing scenes.</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5</a:t>
            </a:fld>
            <a:endParaRPr lang="en-US" dirty="0"/>
          </a:p>
        </p:txBody>
      </p:sp>
      <p:pic>
        <p:nvPicPr>
          <p:cNvPr id="5" name="Picture 4"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3181350"/>
            <a:ext cx="558800" cy="503632"/>
          </a:xfrm>
          <a:prstGeom prst="rect">
            <a:avLst/>
          </a:prstGeom>
        </p:spPr>
      </p:pic>
      <p:pic>
        <p:nvPicPr>
          <p:cNvPr id="6" name="Picture 5"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1" y="1885951"/>
            <a:ext cx="591828" cy="533399"/>
          </a:xfrm>
          <a:prstGeom prst="rect">
            <a:avLst/>
          </a:prstGeom>
        </p:spPr>
      </p:pic>
      <p:pic>
        <p:nvPicPr>
          <p:cNvPr id="7" name="Picture 6"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352550"/>
            <a:ext cx="558800" cy="503632"/>
          </a:xfrm>
          <a:prstGeom prst="rect">
            <a:avLst/>
          </a:prstGeom>
        </p:spPr>
      </p:pic>
      <p:pic>
        <p:nvPicPr>
          <p:cNvPr id="8" name="Picture 7"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495550"/>
            <a:ext cx="591828" cy="533399"/>
          </a:xfrm>
          <a:prstGeom prst="rect">
            <a:avLst/>
          </a:prstGeom>
        </p:spPr>
      </p:pic>
    </p:spTree>
    <p:extLst>
      <p:ext uri="{BB962C8B-B14F-4D97-AF65-F5344CB8AC3E}">
        <p14:creationId xmlns:p14="http://schemas.microsoft.com/office/powerpoint/2010/main" val="77853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ight Arrow 7"/>
          <p:cNvSpPr/>
          <p:nvPr/>
        </p:nvSpPr>
        <p:spPr bwMode="auto">
          <a:xfrm>
            <a:off x="3124200" y="2571750"/>
            <a:ext cx="1219200" cy="1066800"/>
          </a:xfrm>
          <a:prstGeom prst="rightArrow">
            <a:avLst/>
          </a:prstGeom>
          <a:solidFill>
            <a:schemeClr val="bg2"/>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Lucida Sans" pitchFamily="-65" charset="0"/>
            </a:endParaRPr>
          </a:p>
        </p:txBody>
      </p:sp>
      <p:sp>
        <p:nvSpPr>
          <p:cNvPr id="2" name="Title 1"/>
          <p:cNvSpPr>
            <a:spLocks noGrp="1"/>
          </p:cNvSpPr>
          <p:nvPr>
            <p:ph type="title"/>
          </p:nvPr>
        </p:nvSpPr>
        <p:spPr>
          <a:xfrm>
            <a:off x="1371600" y="0"/>
            <a:ext cx="7467600" cy="895350"/>
          </a:xfrm>
        </p:spPr>
        <p:txBody>
          <a:bodyPr/>
          <a:lstStyle/>
          <a:p>
            <a:r>
              <a:rPr lang="en-US" dirty="0"/>
              <a:t>What is the subject of this article?</a:t>
            </a:r>
          </a:p>
        </p:txBody>
      </p:sp>
      <p:sp>
        <p:nvSpPr>
          <p:cNvPr id="3" name="Content Placeholder 2"/>
          <p:cNvSpPr>
            <a:spLocks noGrp="1"/>
          </p:cNvSpPr>
          <p:nvPr>
            <p:ph idx="1"/>
          </p:nvPr>
        </p:nvSpPr>
        <p:spPr>
          <a:xfrm>
            <a:off x="4876800" y="1752600"/>
            <a:ext cx="3810000" cy="3333750"/>
          </a:xfrm>
        </p:spPr>
        <p:txBody>
          <a:bodyPr/>
          <a:lstStyle/>
          <a:p>
            <a:r>
              <a:rPr lang="en-US" dirty="0" err="1"/>
              <a:t>Antogonists</a:t>
            </a:r>
            <a:r>
              <a:rPr lang="en-US" dirty="0"/>
              <a:t> and Inhibitors</a:t>
            </a:r>
          </a:p>
          <a:p>
            <a:r>
              <a:rPr lang="en-US" dirty="0"/>
              <a:t>Blood Supply</a:t>
            </a:r>
          </a:p>
          <a:p>
            <a:r>
              <a:rPr lang="en-US" dirty="0"/>
              <a:t>Chemistry</a:t>
            </a:r>
          </a:p>
          <a:p>
            <a:r>
              <a:rPr lang="en-US" dirty="0"/>
              <a:t>Drug Therapy</a:t>
            </a:r>
          </a:p>
          <a:p>
            <a:r>
              <a:rPr lang="en-US" dirty="0"/>
              <a:t>Embryology</a:t>
            </a:r>
          </a:p>
          <a:p>
            <a:r>
              <a:rPr lang="en-US" dirty="0"/>
              <a:t>Epidemiology</a:t>
            </a:r>
          </a:p>
          <a:p>
            <a:r>
              <a:rPr lang="en-US" dirty="0"/>
              <a:t>…</a:t>
            </a:r>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6</a:t>
            </a:fld>
            <a:endParaRPr lang="en-US"/>
          </a:p>
        </p:txBody>
      </p:sp>
      <p:sp>
        <p:nvSpPr>
          <p:cNvPr id="6" name="TextBox 5"/>
          <p:cNvSpPr txBox="1"/>
          <p:nvPr/>
        </p:nvSpPr>
        <p:spPr>
          <a:xfrm>
            <a:off x="3945141" y="1276350"/>
            <a:ext cx="5198859" cy="523220"/>
          </a:xfrm>
          <a:prstGeom prst="rect">
            <a:avLst/>
          </a:prstGeom>
          <a:noFill/>
        </p:spPr>
        <p:txBody>
          <a:bodyPr wrap="none" rtlCol="0">
            <a:spAutoFit/>
          </a:bodyPr>
          <a:lstStyle/>
          <a:p>
            <a:r>
              <a:rPr lang="en-US" sz="2800" b="1" dirty="0" err="1">
                <a:latin typeface="+mn-lt"/>
              </a:rPr>
              <a:t>MeSH</a:t>
            </a:r>
            <a:r>
              <a:rPr lang="en-US" sz="2800" b="1" dirty="0">
                <a:latin typeface="+mn-lt"/>
              </a:rPr>
              <a:t> Subject Category Hierarchy</a:t>
            </a:r>
          </a:p>
        </p:txBody>
      </p:sp>
      <p:sp>
        <p:nvSpPr>
          <p:cNvPr id="7" name="TextBox 6"/>
          <p:cNvSpPr txBox="1"/>
          <p:nvPr/>
        </p:nvSpPr>
        <p:spPr>
          <a:xfrm>
            <a:off x="3429001" y="2724150"/>
            <a:ext cx="533400" cy="646331"/>
          </a:xfrm>
          <a:prstGeom prst="rect">
            <a:avLst/>
          </a:prstGeom>
          <a:noFill/>
        </p:spPr>
        <p:txBody>
          <a:bodyPr wrap="square" rtlCol="0">
            <a:spAutoFit/>
          </a:bodyPr>
          <a:lstStyle/>
          <a:p>
            <a:r>
              <a:rPr lang="en-US" sz="3600" dirty="0">
                <a:latin typeface="+mn-lt"/>
              </a:rPr>
              <a:t>?</a:t>
            </a:r>
          </a:p>
        </p:txBody>
      </p:sp>
      <p:sp>
        <p:nvSpPr>
          <p:cNvPr id="9" name="TextBox 8"/>
          <p:cNvSpPr txBox="1"/>
          <p:nvPr/>
        </p:nvSpPr>
        <p:spPr>
          <a:xfrm>
            <a:off x="762000" y="1352550"/>
            <a:ext cx="2133600" cy="646331"/>
          </a:xfrm>
          <a:prstGeom prst="rect">
            <a:avLst/>
          </a:prstGeom>
          <a:noFill/>
        </p:spPr>
        <p:txBody>
          <a:bodyPr wrap="square" rtlCol="0">
            <a:spAutoFit/>
          </a:bodyPr>
          <a:lstStyle/>
          <a:p>
            <a:r>
              <a:rPr lang="en-US" sz="1800" dirty="0">
                <a:latin typeface="Lucida Sans" pitchFamily="-65" charset="0"/>
              </a:rPr>
              <a:t>MEDLINE Article</a:t>
            </a:r>
          </a:p>
          <a:p>
            <a:endParaRPr lang="en-US" sz="1800" dirty="0">
              <a:latin typeface="+mn-lt"/>
            </a:endParaRPr>
          </a:p>
        </p:txBody>
      </p:sp>
      <p:pic>
        <p:nvPicPr>
          <p:cNvPr id="10" name="Picture 9" descr="medlin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809750"/>
            <a:ext cx="2009622" cy="2673350"/>
          </a:xfrm>
          <a:prstGeom prst="rect">
            <a:avLst/>
          </a:prstGeom>
          <a:ln>
            <a:solidFill>
              <a:schemeClr val="tx1"/>
            </a:solidFill>
          </a:ln>
        </p:spPr>
      </p:pic>
    </p:spTree>
    <p:extLst>
      <p:ext uri="{BB962C8B-B14F-4D97-AF65-F5344CB8AC3E}">
        <p14:creationId xmlns:p14="http://schemas.microsoft.com/office/powerpoint/2010/main" val="166497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uiExpand="1" build="p"/>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3600" dirty="0"/>
              <a:t>Text Classification</a:t>
            </a:r>
          </a:p>
        </p:txBody>
      </p:sp>
      <p:sp>
        <p:nvSpPr>
          <p:cNvPr id="23555" name="Rectangle 3"/>
          <p:cNvSpPr>
            <a:spLocks noGrp="1" noChangeArrowheads="1"/>
          </p:cNvSpPr>
          <p:nvPr>
            <p:ph sz="quarter" idx="1"/>
          </p:nvPr>
        </p:nvSpPr>
        <p:spPr>
          <a:xfrm>
            <a:off x="914400" y="1428750"/>
            <a:ext cx="7467600" cy="3714750"/>
          </a:xfrm>
        </p:spPr>
        <p:txBody>
          <a:bodyPr/>
          <a:lstStyle/>
          <a:p>
            <a:r>
              <a:rPr lang="en-US" sz="2800" dirty="0">
                <a:latin typeface="Calibri" charset="0"/>
              </a:rPr>
              <a:t>Assigning subject categories, topics, or genres</a:t>
            </a:r>
          </a:p>
          <a:p>
            <a:r>
              <a:rPr lang="en-US" sz="2800" dirty="0">
                <a:latin typeface="Calibri" charset="0"/>
              </a:rPr>
              <a:t>Spam detection</a:t>
            </a:r>
          </a:p>
          <a:p>
            <a:r>
              <a:rPr lang="en-US" sz="2800" dirty="0">
                <a:latin typeface="Calibri" charset="0"/>
              </a:rPr>
              <a:t>Authorship identification</a:t>
            </a:r>
          </a:p>
          <a:p>
            <a:r>
              <a:rPr lang="en-US" sz="2800" dirty="0">
                <a:latin typeface="Calibri" charset="0"/>
              </a:rPr>
              <a:t>Age/gender identification</a:t>
            </a:r>
          </a:p>
          <a:p>
            <a:r>
              <a:rPr lang="en-US" sz="2800" dirty="0">
                <a:latin typeface="Calibri" charset="0"/>
              </a:rPr>
              <a:t>Language Identification</a:t>
            </a:r>
          </a:p>
          <a:p>
            <a:r>
              <a:rPr lang="en-US" sz="2800" dirty="0">
                <a:latin typeface="Calibri" charset="0"/>
              </a:rPr>
              <a:t>Sentiment analysis</a:t>
            </a:r>
          </a:p>
          <a:p>
            <a:r>
              <a:rPr lang="en-US" sz="2800" dirty="0">
                <a:latin typeface="Calibri" charset="0"/>
              </a:rPr>
              <a:t>…</a:t>
            </a:r>
          </a:p>
        </p:txBody>
      </p:sp>
    </p:spTree>
    <p:extLst>
      <p:ext uri="{BB962C8B-B14F-4D97-AF65-F5344CB8AC3E}">
        <p14:creationId xmlns:p14="http://schemas.microsoft.com/office/powerpoint/2010/main" val="242309653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Text Classification: definition</a:t>
            </a:r>
          </a:p>
        </p:txBody>
      </p:sp>
      <p:sp>
        <p:nvSpPr>
          <p:cNvPr id="24579" name="Rectangle 3"/>
          <p:cNvSpPr>
            <a:spLocks noGrp="1" noChangeArrowheads="1"/>
          </p:cNvSpPr>
          <p:nvPr>
            <p:ph sz="quarter" idx="1"/>
          </p:nvPr>
        </p:nvSpPr>
        <p:spPr/>
        <p:txBody>
          <a:bodyPr/>
          <a:lstStyle/>
          <a:p>
            <a:r>
              <a:rPr lang="en-US" sz="3200" i="1" dirty="0">
                <a:latin typeface="Calibri" charset="0"/>
              </a:rPr>
              <a:t>Input</a:t>
            </a:r>
            <a:r>
              <a:rPr lang="en-US" sz="3200" dirty="0">
                <a:latin typeface="Calibri" charset="0"/>
              </a:rPr>
              <a:t>:</a:t>
            </a:r>
          </a:p>
          <a:p>
            <a:pPr lvl="1"/>
            <a:r>
              <a:rPr lang="en-US" sz="2800" dirty="0">
                <a:latin typeface="Calibri" charset="0"/>
              </a:rPr>
              <a:t> a document </a:t>
            </a:r>
            <a:r>
              <a:rPr lang="en-US" sz="2800" i="1" dirty="0">
                <a:solidFill>
                  <a:srgbClr val="FF0000"/>
                </a:solidFill>
                <a:latin typeface="Calibri" charset="0"/>
              </a:rPr>
              <a:t>d</a:t>
            </a:r>
          </a:p>
          <a:p>
            <a:pPr lvl="1"/>
            <a:r>
              <a:rPr lang="en-US" sz="2800" i="1" dirty="0">
                <a:latin typeface="Calibri" charset="0"/>
              </a:rPr>
              <a:t> </a:t>
            </a:r>
            <a:r>
              <a:rPr lang="en-US" sz="2800" dirty="0">
                <a:latin typeface="Calibri" charset="0"/>
                <a:ea typeface="ＭＳ Ｐゴシック" charset="0"/>
              </a:rPr>
              <a:t>a fixed set of classes  </a:t>
            </a:r>
            <a:r>
              <a:rPr lang="en-US" sz="2800" i="1" dirty="0">
                <a:solidFill>
                  <a:srgbClr val="FF0000"/>
                </a:solidFill>
                <a:latin typeface="Calibri" charset="0"/>
                <a:ea typeface="ＭＳ Ｐゴシック" charset="0"/>
              </a:rPr>
              <a:t>C </a:t>
            </a:r>
            <a:r>
              <a:rPr lang="en-US" sz="2800" dirty="0">
                <a:solidFill>
                  <a:srgbClr val="FF0000"/>
                </a:solidFill>
                <a:latin typeface="Calibri" charset="0"/>
                <a:ea typeface="ＭＳ Ｐゴシック" charset="0"/>
              </a:rPr>
              <a:t>=</a:t>
            </a:r>
            <a:r>
              <a:rPr lang="en-US" sz="2800" i="1" dirty="0">
                <a:solidFill>
                  <a:srgbClr val="FF0000"/>
                </a:solidFill>
                <a:latin typeface="Calibri" charset="0"/>
                <a:ea typeface="ＭＳ Ｐゴシック" charset="0"/>
              </a:rPr>
              <a:t> </a:t>
            </a:r>
            <a:r>
              <a:rPr lang="en-US" sz="2800" dirty="0">
                <a:solidFill>
                  <a:srgbClr val="FF0000"/>
                </a:solidFill>
                <a:latin typeface="Calibri" charset="0"/>
                <a:ea typeface="ＭＳ Ｐゴシック" charset="0"/>
                <a:sym typeface="Symbol" charset="0"/>
              </a:rPr>
              <a:t>{</a:t>
            </a:r>
            <a:r>
              <a:rPr lang="en-US" sz="2800" i="1" dirty="0">
                <a:solidFill>
                  <a:srgbClr val="FF0000"/>
                </a:solidFill>
                <a:latin typeface="Calibri" charset="0"/>
                <a:ea typeface="ＭＳ Ｐゴシック" charset="0"/>
                <a:sym typeface="Symbol" charset="0"/>
              </a:rPr>
              <a:t>c</a:t>
            </a:r>
            <a:r>
              <a:rPr lang="en-US" sz="2800" baseline="-25000" dirty="0">
                <a:solidFill>
                  <a:srgbClr val="FF0000"/>
                </a:solidFill>
                <a:latin typeface="Calibri" charset="0"/>
                <a:ea typeface="ＭＳ Ｐゴシック" charset="0"/>
                <a:sym typeface="Symbol" charset="0"/>
              </a:rPr>
              <a:t>1</a:t>
            </a:r>
            <a:r>
              <a:rPr lang="en-US" sz="2800" dirty="0">
                <a:solidFill>
                  <a:srgbClr val="FF0000"/>
                </a:solidFill>
                <a:latin typeface="Calibri" charset="0"/>
                <a:ea typeface="ＭＳ Ｐゴシック" charset="0"/>
                <a:sym typeface="Symbol" charset="0"/>
              </a:rPr>
              <a:t>, </a:t>
            </a:r>
            <a:r>
              <a:rPr lang="en-US" sz="2800" i="1" dirty="0">
                <a:solidFill>
                  <a:srgbClr val="FF0000"/>
                </a:solidFill>
                <a:latin typeface="Calibri" charset="0"/>
                <a:ea typeface="ＭＳ Ｐゴシック" charset="0"/>
                <a:sym typeface="Symbol" charset="0"/>
              </a:rPr>
              <a:t>c</a:t>
            </a:r>
            <a:r>
              <a:rPr lang="en-US" sz="2800" baseline="-25000" dirty="0">
                <a:solidFill>
                  <a:srgbClr val="FF0000"/>
                </a:solidFill>
                <a:latin typeface="Calibri" charset="0"/>
                <a:ea typeface="ＭＳ Ｐゴシック" charset="0"/>
                <a:sym typeface="Symbol" charset="0"/>
              </a:rPr>
              <a:t>2</a:t>
            </a:r>
            <a:r>
              <a:rPr lang="en-US" sz="2800" dirty="0">
                <a:solidFill>
                  <a:srgbClr val="FF0000"/>
                </a:solidFill>
                <a:latin typeface="Calibri" charset="0"/>
                <a:ea typeface="ＭＳ Ｐゴシック" charset="0"/>
                <a:sym typeface="Symbol" charset="0"/>
              </a:rPr>
              <a:t>,…, </a:t>
            </a:r>
            <a:r>
              <a:rPr lang="en-US" sz="2800" i="1" dirty="0" err="1">
                <a:solidFill>
                  <a:srgbClr val="FF0000"/>
                </a:solidFill>
                <a:latin typeface="Calibri" charset="0"/>
                <a:ea typeface="ＭＳ Ｐゴシック" charset="0"/>
                <a:sym typeface="Symbol" charset="0"/>
              </a:rPr>
              <a:t>c</a:t>
            </a:r>
            <a:r>
              <a:rPr lang="en-US" sz="2800" i="1" baseline="-25000" dirty="0" err="1">
                <a:solidFill>
                  <a:srgbClr val="FF0000"/>
                </a:solidFill>
                <a:latin typeface="Calibri" charset="0"/>
                <a:ea typeface="ＭＳ Ｐゴシック" charset="0"/>
                <a:sym typeface="Symbol" charset="0"/>
              </a:rPr>
              <a:t>J</a:t>
            </a:r>
            <a:r>
              <a:rPr lang="en-US" sz="2800" dirty="0">
                <a:solidFill>
                  <a:srgbClr val="FF0000"/>
                </a:solidFill>
                <a:latin typeface="Calibri" charset="0"/>
                <a:ea typeface="ＭＳ Ｐゴシック" charset="0"/>
                <a:sym typeface="Symbol" charset="0"/>
              </a:rPr>
              <a:t>}</a:t>
            </a:r>
          </a:p>
          <a:p>
            <a:pPr lvl="1"/>
            <a:endParaRPr lang="en-US" sz="2800" i="1" dirty="0">
              <a:latin typeface="Calibri" charset="0"/>
            </a:endParaRPr>
          </a:p>
          <a:p>
            <a:r>
              <a:rPr lang="en-US" sz="3200" i="1" dirty="0">
                <a:latin typeface="Calibri" charset="0"/>
              </a:rPr>
              <a:t>Output</a:t>
            </a:r>
            <a:r>
              <a:rPr lang="en-US" sz="3200" dirty="0">
                <a:latin typeface="Calibri" charset="0"/>
              </a:rPr>
              <a:t>: a predicted class </a:t>
            </a:r>
            <a:r>
              <a:rPr lang="en-US" sz="3200" i="1" dirty="0">
                <a:solidFill>
                  <a:srgbClr val="FF0000"/>
                </a:solidFill>
                <a:latin typeface="Calibri" charset="0"/>
              </a:rPr>
              <a:t>c</a:t>
            </a:r>
            <a:r>
              <a:rPr lang="en-US" sz="3200" dirty="0">
                <a:solidFill>
                  <a:srgbClr val="FF0000"/>
                </a:solidFill>
                <a:latin typeface="Calibri" charset="0"/>
              </a:rPr>
              <a:t> </a:t>
            </a:r>
            <a:r>
              <a:rPr lang="en-US" sz="3200" dirty="0">
                <a:solidFill>
                  <a:srgbClr val="FF0000"/>
                </a:solidFill>
                <a:latin typeface="Calibri" charset="0"/>
                <a:ea typeface="ＭＳ Ｐゴシック" charset="0"/>
                <a:sym typeface="Symbol" charset="0"/>
              </a:rPr>
              <a:t> </a:t>
            </a:r>
            <a:r>
              <a:rPr lang="en-US" sz="3200" i="1" dirty="0">
                <a:solidFill>
                  <a:srgbClr val="FF0000"/>
                </a:solidFill>
                <a:latin typeface="Calibri" charset="0"/>
                <a:ea typeface="ＭＳ Ｐゴシック" charset="0"/>
                <a:sym typeface="Symbol" charset="0"/>
              </a:rPr>
              <a:t>C</a:t>
            </a:r>
            <a:endParaRPr lang="en-US" sz="3200" i="1" baseline="-25000" dirty="0">
              <a:solidFill>
                <a:srgbClr val="FF0000"/>
              </a:solidFill>
              <a:latin typeface="Calibri" charset="0"/>
            </a:endParaRPr>
          </a:p>
        </p:txBody>
      </p:sp>
    </p:spTree>
    <p:extLst>
      <p:ext uri="{BB962C8B-B14F-4D97-AF65-F5344CB8AC3E}">
        <p14:creationId xmlns:p14="http://schemas.microsoft.com/office/powerpoint/2010/main" val="3424952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p:txBody>
          <a:bodyPr/>
          <a:lstStyle/>
          <a:p>
            <a:r>
              <a:rPr lang="en-US" sz="3600" dirty="0"/>
              <a:t>Classification Methods: </a:t>
            </a:r>
            <a:br>
              <a:rPr lang="en-US" sz="3600" dirty="0"/>
            </a:br>
            <a:r>
              <a:rPr lang="en-US" sz="3600" dirty="0"/>
              <a:t>Hand-coded rules</a:t>
            </a:r>
          </a:p>
        </p:txBody>
      </p:sp>
      <p:sp>
        <p:nvSpPr>
          <p:cNvPr id="27651" name="Rectangle 5"/>
          <p:cNvSpPr>
            <a:spLocks noGrp="1" noChangeArrowheads="1"/>
          </p:cNvSpPr>
          <p:nvPr>
            <p:ph sz="quarter" idx="1"/>
          </p:nvPr>
        </p:nvSpPr>
        <p:spPr/>
        <p:txBody>
          <a:bodyPr/>
          <a:lstStyle/>
          <a:p>
            <a:r>
              <a:rPr lang="en-US" dirty="0">
                <a:latin typeface="Calibri" charset="0"/>
              </a:rPr>
              <a:t>Rules based on combinations of words or other features</a:t>
            </a:r>
          </a:p>
          <a:p>
            <a:pPr lvl="1"/>
            <a:r>
              <a:rPr lang="en-US" dirty="0">
                <a:latin typeface="Calibri" charset="0"/>
              </a:rPr>
              <a:t> spam: black-list-address OR (“dollars” </a:t>
            </a:r>
            <a:r>
              <a:rPr lang="en-US" dirty="0" err="1">
                <a:latin typeface="Calibri" charset="0"/>
              </a:rPr>
              <a:t>AND“have</a:t>
            </a:r>
            <a:r>
              <a:rPr lang="en-US" dirty="0">
                <a:latin typeface="Calibri" charset="0"/>
              </a:rPr>
              <a:t> been selected”)</a:t>
            </a:r>
          </a:p>
          <a:p>
            <a:r>
              <a:rPr lang="en-US" dirty="0">
                <a:latin typeface="Calibri" charset="0"/>
              </a:rPr>
              <a:t>Accuracy can be high</a:t>
            </a:r>
          </a:p>
          <a:p>
            <a:pPr lvl="1"/>
            <a:r>
              <a:rPr lang="en-US" dirty="0">
                <a:latin typeface="Calibri" charset="0"/>
              </a:rPr>
              <a:t>If rules carefully refined by expert</a:t>
            </a:r>
          </a:p>
          <a:p>
            <a:r>
              <a:rPr lang="en-US" dirty="0">
                <a:latin typeface="Calibri" charset="0"/>
              </a:rPr>
              <a:t>But building and maintaining these rules is expensive</a:t>
            </a:r>
          </a:p>
        </p:txBody>
      </p:sp>
    </p:spTree>
    <p:extLst>
      <p:ext uri="{BB962C8B-B14F-4D97-AF65-F5344CB8AC3E}">
        <p14:creationId xmlns:p14="http://schemas.microsoft.com/office/powerpoint/2010/main" val="190331373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57200"/>
            <a:ext cx="7467600" cy="742950"/>
          </a:xfrm>
        </p:spPr>
        <p:txBody>
          <a:bodyPr/>
          <a:lstStyle/>
          <a:p>
            <a:r>
              <a:rPr lang="en-US" sz="3600" dirty="0"/>
              <a:t>Classification Methods:</a:t>
            </a:r>
            <a:br>
              <a:rPr lang="en-US" sz="3600" dirty="0"/>
            </a:br>
            <a:r>
              <a:rPr lang="en-US" sz="3600" dirty="0"/>
              <a:t>Supervised Machine Learning</a:t>
            </a:r>
          </a:p>
        </p:txBody>
      </p:sp>
      <p:sp>
        <p:nvSpPr>
          <p:cNvPr id="3" name="Content Placeholder 2"/>
          <p:cNvSpPr>
            <a:spLocks noGrp="1"/>
          </p:cNvSpPr>
          <p:nvPr>
            <p:ph idx="1"/>
          </p:nvPr>
        </p:nvSpPr>
        <p:spPr/>
        <p:txBody>
          <a:bodyPr/>
          <a:lstStyle/>
          <a:p>
            <a:r>
              <a:rPr lang="en-US" sz="2800" i="1" dirty="0">
                <a:latin typeface="Calibri" charset="0"/>
              </a:rPr>
              <a:t>Input: </a:t>
            </a:r>
          </a:p>
          <a:p>
            <a:pPr lvl="1"/>
            <a:r>
              <a:rPr lang="en-US" sz="2400" dirty="0">
                <a:latin typeface="Calibri" charset="0"/>
              </a:rPr>
              <a:t>a document </a:t>
            </a:r>
            <a:r>
              <a:rPr lang="en-US" sz="2400" i="1" dirty="0">
                <a:solidFill>
                  <a:srgbClr val="FF0000"/>
                </a:solidFill>
                <a:latin typeface="Calibri" charset="0"/>
              </a:rPr>
              <a:t>d</a:t>
            </a:r>
          </a:p>
          <a:p>
            <a:pPr lvl="1"/>
            <a:r>
              <a:rPr lang="en-US" sz="2400" i="1" dirty="0">
                <a:latin typeface="Calibri" charset="0"/>
              </a:rPr>
              <a:t> </a:t>
            </a:r>
            <a:r>
              <a:rPr lang="en-US" sz="2400" dirty="0">
                <a:latin typeface="Calibri" charset="0"/>
                <a:ea typeface="ＭＳ Ｐゴシック" charset="0"/>
              </a:rPr>
              <a:t>a fixed set of classes  </a:t>
            </a:r>
            <a:r>
              <a:rPr lang="en-US" sz="2400" i="1" dirty="0">
                <a:solidFill>
                  <a:srgbClr val="FF0000"/>
                </a:solidFill>
                <a:latin typeface="Calibri" charset="0"/>
                <a:ea typeface="ＭＳ Ｐゴシック" charset="0"/>
              </a:rPr>
              <a:t>C </a:t>
            </a:r>
            <a:r>
              <a:rPr lang="en-US" sz="2400" dirty="0">
                <a:solidFill>
                  <a:srgbClr val="FF0000"/>
                </a:solidFill>
                <a:latin typeface="Calibri" charset="0"/>
                <a:ea typeface="ＭＳ Ｐゴシック" charset="0"/>
              </a:rPr>
              <a:t>=</a:t>
            </a:r>
            <a:r>
              <a:rPr lang="en-US" sz="2400" i="1" dirty="0">
                <a:solidFill>
                  <a:srgbClr val="FF0000"/>
                </a:solidFill>
                <a:latin typeface="Calibri" charset="0"/>
                <a:ea typeface="ＭＳ Ｐゴシック" charset="0"/>
              </a:rPr>
              <a:t> </a:t>
            </a:r>
            <a:r>
              <a:rPr lang="en-US" sz="2400" dirty="0">
                <a:solidFill>
                  <a:srgbClr val="FF0000"/>
                </a:solidFill>
                <a:latin typeface="Calibri" charset="0"/>
                <a:ea typeface="ＭＳ Ｐゴシック" charset="0"/>
                <a:sym typeface="Symbol" charset="0"/>
              </a:rPr>
              <a:t>{</a:t>
            </a:r>
            <a:r>
              <a:rPr lang="en-US" sz="2400" i="1" dirty="0">
                <a:solidFill>
                  <a:srgbClr val="FF0000"/>
                </a:solidFill>
                <a:latin typeface="Calibri" charset="0"/>
                <a:ea typeface="ＭＳ Ｐゴシック" charset="0"/>
                <a:sym typeface="Symbol" charset="0"/>
              </a:rPr>
              <a:t>c</a:t>
            </a:r>
            <a:r>
              <a:rPr lang="en-US" sz="2400" baseline="-25000" dirty="0">
                <a:solidFill>
                  <a:srgbClr val="FF0000"/>
                </a:solidFill>
                <a:latin typeface="Calibri" charset="0"/>
                <a:ea typeface="ＭＳ Ｐゴシック" charset="0"/>
                <a:sym typeface="Symbol" charset="0"/>
              </a:rPr>
              <a:t>1</a:t>
            </a:r>
            <a:r>
              <a:rPr lang="en-US" sz="2400" dirty="0">
                <a:solidFill>
                  <a:srgbClr val="FF0000"/>
                </a:solidFill>
                <a:latin typeface="Calibri" charset="0"/>
                <a:ea typeface="ＭＳ Ｐゴシック" charset="0"/>
                <a:sym typeface="Symbol" charset="0"/>
              </a:rPr>
              <a:t>, </a:t>
            </a:r>
            <a:r>
              <a:rPr lang="en-US" sz="2400" i="1" dirty="0">
                <a:solidFill>
                  <a:srgbClr val="FF0000"/>
                </a:solidFill>
                <a:latin typeface="Calibri" charset="0"/>
                <a:ea typeface="ＭＳ Ｐゴシック" charset="0"/>
                <a:sym typeface="Symbol" charset="0"/>
              </a:rPr>
              <a:t>c</a:t>
            </a:r>
            <a:r>
              <a:rPr lang="en-US" sz="2400" baseline="-25000" dirty="0">
                <a:solidFill>
                  <a:srgbClr val="FF0000"/>
                </a:solidFill>
                <a:latin typeface="Calibri" charset="0"/>
                <a:ea typeface="ＭＳ Ｐゴシック" charset="0"/>
                <a:sym typeface="Symbol" charset="0"/>
              </a:rPr>
              <a:t>2</a:t>
            </a:r>
            <a:r>
              <a:rPr lang="en-US" sz="2400" dirty="0">
                <a:solidFill>
                  <a:srgbClr val="FF0000"/>
                </a:solidFill>
                <a:latin typeface="Calibri" charset="0"/>
                <a:ea typeface="ＭＳ Ｐゴシック" charset="0"/>
                <a:sym typeface="Symbol" charset="0"/>
              </a:rPr>
              <a:t>,…, </a:t>
            </a:r>
            <a:r>
              <a:rPr lang="en-US" sz="2400" i="1" dirty="0" err="1">
                <a:solidFill>
                  <a:srgbClr val="FF0000"/>
                </a:solidFill>
                <a:latin typeface="Calibri" charset="0"/>
                <a:ea typeface="ＭＳ Ｐゴシック" charset="0"/>
                <a:sym typeface="Symbol" charset="0"/>
              </a:rPr>
              <a:t>c</a:t>
            </a:r>
            <a:r>
              <a:rPr lang="en-US" sz="2400" i="1" baseline="-25000" dirty="0" err="1">
                <a:solidFill>
                  <a:srgbClr val="FF0000"/>
                </a:solidFill>
                <a:latin typeface="Calibri" charset="0"/>
                <a:ea typeface="ＭＳ Ｐゴシック" charset="0"/>
                <a:sym typeface="Symbol" charset="0"/>
              </a:rPr>
              <a:t>J</a:t>
            </a:r>
            <a:r>
              <a:rPr lang="en-US" sz="2400" dirty="0">
                <a:solidFill>
                  <a:srgbClr val="FF0000"/>
                </a:solidFill>
                <a:latin typeface="Calibri" charset="0"/>
                <a:ea typeface="ＭＳ Ｐゴシック" charset="0"/>
                <a:sym typeface="Symbol" charset="0"/>
              </a:rPr>
              <a:t>}</a:t>
            </a:r>
            <a:endParaRPr lang="en-US" sz="1800" i="1" dirty="0">
              <a:solidFill>
                <a:srgbClr val="FF0000"/>
              </a:solidFill>
              <a:latin typeface="Calibri" charset="0"/>
            </a:endParaRPr>
          </a:p>
          <a:p>
            <a:pPr lvl="1"/>
            <a:r>
              <a:rPr lang="en-US" sz="2400" dirty="0">
                <a:latin typeface="Calibri" charset="0"/>
              </a:rPr>
              <a:t>A training set of </a:t>
            </a:r>
            <a:r>
              <a:rPr lang="en-US" sz="2400" i="1" dirty="0">
                <a:solidFill>
                  <a:srgbClr val="FF0000"/>
                </a:solidFill>
                <a:latin typeface="Calibri" charset="0"/>
              </a:rPr>
              <a:t>m</a:t>
            </a:r>
            <a:r>
              <a:rPr lang="en-US" sz="2400" i="1" dirty="0">
                <a:latin typeface="Calibri" charset="0"/>
              </a:rPr>
              <a:t> </a:t>
            </a:r>
            <a:r>
              <a:rPr lang="en-US" sz="2400" dirty="0">
                <a:latin typeface="Calibri" charset="0"/>
              </a:rPr>
              <a:t>hand-labeled documents </a:t>
            </a:r>
            <a:r>
              <a:rPr lang="en-US" sz="2400" i="1" dirty="0">
                <a:solidFill>
                  <a:srgbClr val="FF0000"/>
                </a:solidFill>
                <a:latin typeface="Calibri" charset="0"/>
              </a:rPr>
              <a:t>(d</a:t>
            </a:r>
            <a:r>
              <a:rPr lang="en-US" sz="2400" i="1" baseline="-25000" dirty="0">
                <a:solidFill>
                  <a:srgbClr val="FF0000"/>
                </a:solidFill>
                <a:latin typeface="Calibri" charset="0"/>
              </a:rPr>
              <a:t>1</a:t>
            </a:r>
            <a:r>
              <a:rPr lang="en-US" sz="2400" i="1" dirty="0">
                <a:solidFill>
                  <a:srgbClr val="FF0000"/>
                </a:solidFill>
                <a:latin typeface="Calibri" charset="0"/>
              </a:rPr>
              <a:t>,c</a:t>
            </a:r>
            <a:r>
              <a:rPr lang="en-US" sz="2400" i="1" baseline="-25000" dirty="0">
                <a:solidFill>
                  <a:srgbClr val="FF0000"/>
                </a:solidFill>
                <a:latin typeface="Calibri" charset="0"/>
              </a:rPr>
              <a:t>1</a:t>
            </a:r>
            <a:r>
              <a:rPr lang="en-US" sz="2400" i="1" dirty="0">
                <a:solidFill>
                  <a:srgbClr val="FF0000"/>
                </a:solidFill>
                <a:latin typeface="Calibri" charset="0"/>
              </a:rPr>
              <a:t>),....,(</a:t>
            </a:r>
            <a:r>
              <a:rPr lang="en-US" sz="2400" i="1" dirty="0" err="1">
                <a:solidFill>
                  <a:srgbClr val="FF0000"/>
                </a:solidFill>
                <a:latin typeface="Calibri" charset="0"/>
              </a:rPr>
              <a:t>d</a:t>
            </a:r>
            <a:r>
              <a:rPr lang="en-US" sz="2400" i="1" baseline="-25000" dirty="0" err="1">
                <a:solidFill>
                  <a:srgbClr val="FF0000"/>
                </a:solidFill>
                <a:latin typeface="Calibri" charset="0"/>
              </a:rPr>
              <a:t>m</a:t>
            </a:r>
            <a:r>
              <a:rPr lang="en-US" sz="2400" i="1" dirty="0" err="1">
                <a:solidFill>
                  <a:srgbClr val="FF0000"/>
                </a:solidFill>
                <a:latin typeface="Calibri" charset="0"/>
              </a:rPr>
              <a:t>,c</a:t>
            </a:r>
            <a:r>
              <a:rPr lang="en-US" sz="2400" i="1" baseline="-25000" dirty="0" err="1">
                <a:solidFill>
                  <a:srgbClr val="FF0000"/>
                </a:solidFill>
                <a:latin typeface="Calibri" charset="0"/>
              </a:rPr>
              <a:t>m</a:t>
            </a:r>
            <a:r>
              <a:rPr lang="en-US" sz="2400" i="1" dirty="0">
                <a:solidFill>
                  <a:srgbClr val="FF0000"/>
                </a:solidFill>
                <a:latin typeface="Calibri" charset="0"/>
              </a:rPr>
              <a:t>)</a:t>
            </a:r>
          </a:p>
          <a:p>
            <a:r>
              <a:rPr lang="en-US" sz="2800" i="1" dirty="0">
                <a:latin typeface="Calibri" charset="0"/>
              </a:rPr>
              <a:t>Output: </a:t>
            </a:r>
          </a:p>
          <a:p>
            <a:pPr lvl="1"/>
            <a:r>
              <a:rPr lang="en-US" sz="2400" dirty="0">
                <a:latin typeface="Calibri" charset="0"/>
              </a:rPr>
              <a:t>a learned classifier </a:t>
            </a:r>
            <a:r>
              <a:rPr lang="en-US" sz="2400" i="1" dirty="0" err="1">
                <a:solidFill>
                  <a:srgbClr val="FF0000"/>
                </a:solidFill>
                <a:latin typeface="Calibri" charset="0"/>
              </a:rPr>
              <a:t>γ:d</a:t>
            </a:r>
            <a:r>
              <a:rPr lang="en-US" sz="2400" i="1" dirty="0">
                <a:solidFill>
                  <a:srgbClr val="FF0000"/>
                </a:solidFill>
                <a:latin typeface="Calibri" charset="0"/>
              </a:rPr>
              <a:t> </a:t>
            </a:r>
            <a:r>
              <a:rPr lang="en-US" sz="2400" i="1" dirty="0">
                <a:solidFill>
                  <a:srgbClr val="FF0000"/>
                </a:solidFill>
                <a:latin typeface="Calibri" charset="0"/>
                <a:sym typeface="Wingdings" charset="2"/>
              </a:rPr>
              <a:t> c</a:t>
            </a:r>
            <a:endParaRPr lang="en-US" sz="2400" i="1" dirty="0">
              <a:solidFill>
                <a:srgbClr val="FF0000"/>
              </a:solidFill>
              <a:latin typeface="Calibri" charset="0"/>
            </a:endParaRPr>
          </a:p>
        </p:txBody>
      </p:sp>
      <p:sp>
        <p:nvSpPr>
          <p:cNvPr id="4" name="Slide Number Placeholder 3"/>
          <p:cNvSpPr>
            <a:spLocks noGrp="1"/>
          </p:cNvSpPr>
          <p:nvPr>
            <p:ph type="sldNum" sz="quarter" idx="12"/>
          </p:nvPr>
        </p:nvSpPr>
        <p:spPr/>
        <p:txBody>
          <a:bodyPr/>
          <a:lstStyle/>
          <a:p>
            <a:fld id="{10F35DC5-7E65-8247-99AB-4E984F8A921E}" type="slidenum">
              <a:rPr lang="en-US" smtClean="0"/>
              <a:pPr/>
              <a:t>10</a:t>
            </a:fld>
            <a:endParaRPr lang="en-US"/>
          </a:p>
        </p:txBody>
      </p:sp>
    </p:spTree>
    <p:extLst>
      <p:ext uri="{BB962C8B-B14F-4D97-AF65-F5344CB8AC3E}">
        <p14:creationId xmlns:p14="http://schemas.microsoft.com/office/powerpoint/2010/main" val="3091599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a:xfrm>
            <a:off x="1371600" y="361950"/>
            <a:ext cx="7467600" cy="742950"/>
          </a:xfrm>
        </p:spPr>
        <p:txBody>
          <a:bodyPr/>
          <a:lstStyle/>
          <a:p>
            <a:r>
              <a:rPr lang="en-US" sz="3600" dirty="0"/>
              <a:t>Classification Methods:</a:t>
            </a:r>
            <a:br>
              <a:rPr lang="en-US" sz="3600" dirty="0"/>
            </a:br>
            <a:r>
              <a:rPr lang="en-US" sz="3600" dirty="0"/>
              <a:t>Supervised Machine Learning</a:t>
            </a:r>
          </a:p>
        </p:txBody>
      </p:sp>
      <p:sp>
        <p:nvSpPr>
          <p:cNvPr id="29699" name="Rectangle 5"/>
          <p:cNvSpPr>
            <a:spLocks noGrp="1" noChangeArrowheads="1"/>
          </p:cNvSpPr>
          <p:nvPr>
            <p:ph sz="quarter" idx="1"/>
          </p:nvPr>
        </p:nvSpPr>
        <p:spPr/>
        <p:txBody>
          <a:bodyPr/>
          <a:lstStyle/>
          <a:p>
            <a:r>
              <a:rPr lang="en-US" sz="2800" dirty="0">
                <a:latin typeface="Calibri" charset="0"/>
              </a:rPr>
              <a:t>Any kind of classifier</a:t>
            </a:r>
          </a:p>
          <a:p>
            <a:pPr lvl="1"/>
            <a:r>
              <a:rPr lang="en-US" sz="2400" dirty="0">
                <a:latin typeface="Calibri" charset="0"/>
              </a:rPr>
              <a:t>Na</a:t>
            </a:r>
            <a:r>
              <a:rPr lang="fr-FR" sz="2400" dirty="0" err="1">
                <a:latin typeface="Calibri" charset="0"/>
              </a:rPr>
              <a:t>ï</a:t>
            </a:r>
            <a:r>
              <a:rPr lang="en-US" sz="2400" dirty="0" err="1">
                <a:latin typeface="Calibri" charset="0"/>
              </a:rPr>
              <a:t>ve</a:t>
            </a:r>
            <a:r>
              <a:rPr lang="en-US" sz="2400" dirty="0">
                <a:latin typeface="Calibri" charset="0"/>
              </a:rPr>
              <a:t> Bayes</a:t>
            </a:r>
          </a:p>
          <a:p>
            <a:pPr lvl="1"/>
            <a:r>
              <a:rPr lang="en-US" sz="2400" dirty="0">
                <a:latin typeface="Calibri" charset="0"/>
              </a:rPr>
              <a:t>Logistic regression</a:t>
            </a:r>
          </a:p>
          <a:p>
            <a:pPr lvl="1"/>
            <a:r>
              <a:rPr lang="en-US" sz="2400" dirty="0">
                <a:latin typeface="Calibri" charset="0"/>
              </a:rPr>
              <a:t>Support-vector machines</a:t>
            </a:r>
          </a:p>
          <a:p>
            <a:pPr lvl="1"/>
            <a:r>
              <a:rPr lang="en-US" sz="2400" dirty="0">
                <a:latin typeface="Calibri" charset="0"/>
              </a:rPr>
              <a:t>k-Nearest Neighbors</a:t>
            </a:r>
          </a:p>
          <a:p>
            <a:pPr lvl="1"/>
            <a:endParaRPr lang="en-US" sz="2400" dirty="0">
              <a:latin typeface="Calibri" charset="0"/>
            </a:endParaRPr>
          </a:p>
          <a:p>
            <a:pPr lvl="1"/>
            <a:r>
              <a:rPr lang="en-US" sz="2400" dirty="0">
                <a:latin typeface="Calibri" charset="0"/>
              </a:rPr>
              <a:t>…</a:t>
            </a:r>
            <a:endParaRPr lang="en-US" sz="1000" dirty="0">
              <a:latin typeface="Calibri" charset="0"/>
            </a:endParaRPr>
          </a:p>
        </p:txBody>
      </p:sp>
    </p:spTree>
    <p:extLst>
      <p:ext uri="{BB962C8B-B14F-4D97-AF65-F5344CB8AC3E}">
        <p14:creationId xmlns:p14="http://schemas.microsoft.com/office/powerpoint/2010/main" val="335127387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a:solidFill>
                  <a:srgbClr val="A4001D"/>
                </a:solidFill>
                <a:latin typeface="Calibri"/>
                <a:ea typeface="ＭＳ Ｐゴシック" charset="0"/>
                <a:cs typeface="Calibri"/>
              </a:rPr>
              <a:t>The Task of Text Classification</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93944607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(I)</a:t>
            </a:r>
          </a:p>
        </p:txBody>
      </p:sp>
    </p:spTree>
    <p:extLst>
      <p:ext uri="{BB962C8B-B14F-4D97-AF65-F5344CB8AC3E}">
        <p14:creationId xmlns:p14="http://schemas.microsoft.com/office/powerpoint/2010/main" val="50383189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t>Naïve Bayes Intuition</a:t>
            </a:r>
          </a:p>
        </p:txBody>
      </p:sp>
      <p:sp>
        <p:nvSpPr>
          <p:cNvPr id="31747" name="Content Placeholder 2"/>
          <p:cNvSpPr>
            <a:spLocks noGrp="1"/>
          </p:cNvSpPr>
          <p:nvPr>
            <p:ph sz="quarter" idx="1"/>
          </p:nvPr>
        </p:nvSpPr>
        <p:spPr>
          <a:xfrm>
            <a:off x="304800" y="1352550"/>
            <a:ext cx="8153400" cy="3333750"/>
          </a:xfrm>
        </p:spPr>
        <p:txBody>
          <a:bodyPr/>
          <a:lstStyle/>
          <a:p>
            <a:r>
              <a:rPr lang="en-US" sz="2800" dirty="0">
                <a:latin typeface="Calibri" charset="0"/>
              </a:rPr>
              <a:t>Simple (“</a:t>
            </a:r>
            <a:r>
              <a:rPr lang="en-US" sz="2800" dirty="0" err="1">
                <a:latin typeface="Calibri" charset="0"/>
              </a:rPr>
              <a:t>na</a:t>
            </a:r>
            <a:r>
              <a:rPr lang="fr-FR" sz="2800" dirty="0" err="1">
                <a:latin typeface="Calibri" charset="0"/>
              </a:rPr>
              <a:t>ï</a:t>
            </a:r>
            <a:r>
              <a:rPr lang="en-US" sz="2800" dirty="0" err="1">
                <a:latin typeface="Calibri" charset="0"/>
              </a:rPr>
              <a:t>ve</a:t>
            </a:r>
            <a:r>
              <a:rPr lang="en-US" sz="2800" dirty="0">
                <a:latin typeface="Calibri" charset="0"/>
              </a:rPr>
              <a:t>”) classification method based on Bayes rule</a:t>
            </a:r>
          </a:p>
          <a:p>
            <a:r>
              <a:rPr lang="en-US" sz="2800" dirty="0">
                <a:latin typeface="Calibri" charset="0"/>
              </a:rPr>
              <a:t>Relies on very simple representation of document</a:t>
            </a:r>
          </a:p>
          <a:p>
            <a:pPr lvl="1"/>
            <a:r>
              <a:rPr lang="en-US" sz="2800" dirty="0">
                <a:latin typeface="Calibri" charset="0"/>
              </a:rPr>
              <a:t>Bag of words</a:t>
            </a:r>
          </a:p>
          <a:p>
            <a:endParaRPr lang="en-US" dirty="0">
              <a:latin typeface="Calibri" charset="0"/>
            </a:endParaRPr>
          </a:p>
        </p:txBody>
      </p:sp>
    </p:spTree>
    <p:extLst>
      <p:ext uri="{BB962C8B-B14F-4D97-AF65-F5344CB8AC3E}">
        <p14:creationId xmlns:p14="http://schemas.microsoft.com/office/powerpoint/2010/main" val="2235890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57150"/>
            <a:ext cx="7467600" cy="742950"/>
          </a:xfrm>
        </p:spPr>
        <p:txBody>
          <a:bodyPr/>
          <a:lstStyle/>
          <a:p>
            <a:r>
              <a:rPr lang="en-US" dirty="0"/>
              <a:t>The Bag of Words Representation</a:t>
            </a:r>
          </a:p>
        </p:txBody>
      </p:sp>
      <p:sp>
        <p:nvSpPr>
          <p:cNvPr id="4" name="Slide Number Placeholder 3"/>
          <p:cNvSpPr>
            <a:spLocks noGrp="1"/>
          </p:cNvSpPr>
          <p:nvPr>
            <p:ph type="sldNum" sz="quarter" idx="12"/>
          </p:nvPr>
        </p:nvSpPr>
        <p:spPr/>
        <p:txBody>
          <a:bodyPr/>
          <a:lstStyle/>
          <a:p>
            <a:fld id="{10F35DC5-7E65-8247-99AB-4E984F8A921E}" type="slidenum">
              <a:rPr lang="en-US" smtClean="0"/>
              <a:pPr/>
              <a:t>15</a:t>
            </a:fld>
            <a:endParaRPr lang="en-US"/>
          </a:p>
        </p:txBody>
      </p:sp>
      <p:pic>
        <p:nvPicPr>
          <p:cNvPr id="5" name="Picture 4" descr="bagofwords.pdf"/>
          <p:cNvPicPr>
            <a:picLocks noChangeAspect="1"/>
          </p:cNvPicPr>
          <p:nvPr/>
        </p:nvPicPr>
        <p:blipFill rotWithShape="1">
          <a:blip r:embed="rId2">
            <a:extLst>
              <a:ext uri="{28A0092B-C50C-407E-A947-70E740481C1C}">
                <a14:useLocalDpi xmlns:a14="http://schemas.microsoft.com/office/drawing/2010/main" val="0"/>
              </a:ext>
            </a:extLst>
          </a:blip>
          <a:srcRect l="1" r="72556"/>
          <a:stretch/>
        </p:blipFill>
        <p:spPr>
          <a:xfrm>
            <a:off x="304800" y="666750"/>
            <a:ext cx="2496312" cy="5143500"/>
          </a:xfrm>
          <a:prstGeom prst="rect">
            <a:avLst/>
          </a:prstGeom>
        </p:spPr>
      </p:pic>
      <p:pic>
        <p:nvPicPr>
          <p:cNvPr id="6" name="Picture 5" descr="bagofwords.pdf"/>
          <p:cNvPicPr>
            <a:picLocks noChangeAspect="1"/>
          </p:cNvPicPr>
          <p:nvPr/>
        </p:nvPicPr>
        <p:blipFill rotWithShape="1">
          <a:blip r:embed="rId2">
            <a:extLst>
              <a:ext uri="{28A0092B-C50C-407E-A947-70E740481C1C}">
                <a14:useLocalDpi xmlns:a14="http://schemas.microsoft.com/office/drawing/2010/main" val="0"/>
              </a:ext>
            </a:extLst>
          </a:blip>
          <a:srcRect l="72368" r="-2024"/>
          <a:stretch/>
        </p:blipFill>
        <p:spPr>
          <a:xfrm>
            <a:off x="6690021" y="742950"/>
            <a:ext cx="2377779" cy="4533900"/>
          </a:xfrm>
          <a:prstGeom prst="rect">
            <a:avLst/>
          </a:prstGeom>
        </p:spPr>
      </p:pic>
      <p:pic>
        <p:nvPicPr>
          <p:cNvPr id="7" name="Picture 6" descr="bagofwords.pdf"/>
          <p:cNvPicPr>
            <a:picLocks noChangeAspect="1"/>
          </p:cNvPicPr>
          <p:nvPr/>
        </p:nvPicPr>
        <p:blipFill rotWithShape="1">
          <a:blip r:embed="rId2">
            <a:extLst>
              <a:ext uri="{28A0092B-C50C-407E-A947-70E740481C1C}">
                <a14:useLocalDpi xmlns:a14="http://schemas.microsoft.com/office/drawing/2010/main" val="0"/>
              </a:ext>
            </a:extLst>
          </a:blip>
          <a:srcRect l="27128" r="27127"/>
          <a:stretch/>
        </p:blipFill>
        <p:spPr>
          <a:xfrm>
            <a:off x="2895600" y="819150"/>
            <a:ext cx="3667421" cy="4533900"/>
          </a:xfrm>
          <a:prstGeom prst="rect">
            <a:avLst/>
          </a:prstGeom>
        </p:spPr>
      </p:pic>
    </p:spTree>
    <p:extLst>
      <p:ext uri="{BB962C8B-B14F-4D97-AF65-F5344CB8AC3E}">
        <p14:creationId xmlns:p14="http://schemas.microsoft.com/office/powerpoint/2010/main" val="413059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371600" y="285750"/>
            <a:ext cx="7467600" cy="742950"/>
          </a:xfrm>
        </p:spPr>
        <p:txBody>
          <a:bodyPr/>
          <a:lstStyle/>
          <a:p>
            <a:r>
              <a:rPr lang="en-US" dirty="0"/>
              <a:t>The bag of words representation</a:t>
            </a:r>
          </a:p>
        </p:txBody>
      </p:sp>
      <p:sp>
        <p:nvSpPr>
          <p:cNvPr id="32772" name="Rectangle 4"/>
          <p:cNvSpPr>
            <a:spLocks noChangeArrowheads="1"/>
          </p:cNvSpPr>
          <p:nvPr/>
        </p:nvSpPr>
        <p:spPr bwMode="auto">
          <a:xfrm>
            <a:off x="1905000" y="1352550"/>
            <a:ext cx="4876800" cy="3276600"/>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endParaRPr lang="en-US" sz="2000" dirty="0">
              <a:latin typeface="Courier"/>
              <a:cs typeface="Courier"/>
            </a:endParaRPr>
          </a:p>
        </p:txBody>
      </p:sp>
      <p:sp>
        <p:nvSpPr>
          <p:cNvPr id="32773" name="Text Box 5"/>
          <p:cNvSpPr txBox="1">
            <a:spLocks noChangeArrowheads="1"/>
          </p:cNvSpPr>
          <p:nvPr/>
        </p:nvSpPr>
        <p:spPr bwMode="auto">
          <a:xfrm>
            <a:off x="457200" y="1733550"/>
            <a:ext cx="1371599" cy="1723549"/>
          </a:xfrm>
          <a:prstGeom prst="rect">
            <a:avLst/>
          </a:prstGeom>
          <a:noFill/>
          <a:ln w="25400">
            <a:noFill/>
            <a:miter lim="800000"/>
            <a:headEnd/>
            <a:tailEnd/>
          </a:ln>
        </p:spPr>
        <p:txBody>
          <a:bodyPr wrap="square">
            <a:prstTxWarp prst="textNoShape">
              <a:avLst/>
            </a:prstTxWarp>
            <a:spAutoFit/>
          </a:bodyPr>
          <a:lstStyle/>
          <a:p>
            <a:r>
              <a:rPr lang="en-US" sz="10600" dirty="0" err="1">
                <a:latin typeface="Lucida Grande"/>
                <a:ea typeface="Lucida Grande"/>
                <a:cs typeface="Lucida Grande"/>
              </a:rPr>
              <a:t>γ</a:t>
            </a:r>
            <a:r>
              <a:rPr lang="en-US" sz="10600" dirty="0"/>
              <a:t>(</a:t>
            </a:r>
          </a:p>
        </p:txBody>
      </p:sp>
      <p:sp>
        <p:nvSpPr>
          <p:cNvPr id="32774" name="Text Box 6"/>
          <p:cNvSpPr txBox="1">
            <a:spLocks noChangeArrowheads="1"/>
          </p:cNvSpPr>
          <p:nvPr/>
        </p:nvSpPr>
        <p:spPr bwMode="auto">
          <a:xfrm>
            <a:off x="6732866" y="1838801"/>
            <a:ext cx="2182534" cy="1723549"/>
          </a:xfrm>
          <a:prstGeom prst="rect">
            <a:avLst/>
          </a:prstGeom>
          <a:noFill/>
          <a:ln w="25400">
            <a:noFill/>
            <a:miter lim="800000"/>
            <a:headEnd/>
            <a:tailEnd/>
          </a:ln>
        </p:spPr>
        <p:txBody>
          <a:bodyPr wrap="none">
            <a:prstTxWarp prst="textNoShape">
              <a:avLst/>
            </a:prstTxWarp>
            <a:spAutoFit/>
          </a:bodyPr>
          <a:lstStyle/>
          <a:p>
            <a:r>
              <a:rPr lang="en-US" sz="10600" dirty="0"/>
              <a:t>)=c</a:t>
            </a:r>
          </a:p>
        </p:txBody>
      </p:sp>
      <p:graphicFrame>
        <p:nvGraphicFramePr>
          <p:cNvPr id="8" name="Group 44"/>
          <p:cNvGraphicFramePr>
            <a:graphicFrameLocks noGrp="1"/>
          </p:cNvGraphicFramePr>
          <p:nvPr>
            <p:extLst>
              <p:ext uri="{D42A27DB-BD31-4B8C-83A1-F6EECF244321}">
                <p14:modId xmlns:p14="http://schemas.microsoft.com/office/powerpoint/2010/main" val="2373167832"/>
              </p:ext>
            </p:extLst>
          </p:nvPr>
        </p:nvGraphicFramePr>
        <p:xfrm>
          <a:off x="1905000" y="1352550"/>
          <a:ext cx="4876800" cy="3284222"/>
        </p:xfrm>
        <a:graphic>
          <a:graphicData uri="http://schemas.openxmlformats.org/drawingml/2006/table">
            <a:tbl>
              <a:tblPr/>
              <a:tblGrid>
                <a:gridCol w="292608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tblGrid>
              <a:tr h="42673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seen</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483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sweet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197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whimsical</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Courier"/>
                          <a:ea typeface="Arial" charset="0"/>
                          <a:cs typeface="Courier"/>
                        </a:rPr>
                        <a:t>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48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recommend</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Courier"/>
                          <a:ea typeface="Arial" charset="0"/>
                          <a:cs typeface="Courier"/>
                        </a:rPr>
                        <a:t>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387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happy</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292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9" name="Picture 8"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800" y="4248150"/>
            <a:ext cx="558800" cy="503632"/>
          </a:xfrm>
          <a:prstGeom prst="rect">
            <a:avLst/>
          </a:prstGeom>
        </p:spPr>
      </p:pic>
      <p:pic>
        <p:nvPicPr>
          <p:cNvPr id="10" name="Picture 9"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5800" y="3562350"/>
            <a:ext cx="591828" cy="533399"/>
          </a:xfrm>
          <a:prstGeom prst="rect">
            <a:avLst/>
          </a:prstGeom>
        </p:spPr>
      </p:pic>
    </p:spTree>
    <p:extLst>
      <p:ext uri="{BB962C8B-B14F-4D97-AF65-F5344CB8AC3E}">
        <p14:creationId xmlns:p14="http://schemas.microsoft.com/office/powerpoint/2010/main" val="4254093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(I)</a:t>
            </a:r>
          </a:p>
        </p:txBody>
      </p:sp>
    </p:spTree>
    <p:extLst>
      <p:ext uri="{BB962C8B-B14F-4D97-AF65-F5344CB8AC3E}">
        <p14:creationId xmlns:p14="http://schemas.microsoft.com/office/powerpoint/2010/main" val="123094563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Formalizing the 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Classifier</a:t>
            </a:r>
          </a:p>
        </p:txBody>
      </p:sp>
    </p:spTree>
    <p:extLst>
      <p:ext uri="{BB962C8B-B14F-4D97-AF65-F5344CB8AC3E}">
        <p14:creationId xmlns:p14="http://schemas.microsoft.com/office/powerpoint/2010/main" val="151713515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a:t>Bayes’ Rule Applied to Documents and Classes</a:t>
            </a:r>
          </a:p>
        </p:txBody>
      </p:sp>
      <p:graphicFrame>
        <p:nvGraphicFramePr>
          <p:cNvPr id="7" name="Object 3"/>
          <p:cNvGraphicFramePr>
            <a:graphicFrameLocks noChangeAspect="1"/>
          </p:cNvGraphicFramePr>
          <p:nvPr>
            <p:extLst>
              <p:ext uri="{D42A27DB-BD31-4B8C-83A1-F6EECF244321}">
                <p14:modId xmlns:p14="http://schemas.microsoft.com/office/powerpoint/2010/main" val="2202393601"/>
              </p:ext>
            </p:extLst>
          </p:nvPr>
        </p:nvGraphicFramePr>
        <p:xfrm>
          <a:off x="2479675" y="2759075"/>
          <a:ext cx="4421188" cy="1377950"/>
        </p:xfrm>
        <a:graphic>
          <a:graphicData uri="http://schemas.openxmlformats.org/presentationml/2006/ole">
            <mc:AlternateContent xmlns:mc="http://schemas.openxmlformats.org/markup-compatibility/2006">
              <mc:Choice xmlns:v="urn:schemas-microsoft-com:vml" Requires="v">
                <p:oleObj name="Equation" r:id="rId2" imgW="1371600" imgH="419100" progId="Equation.3">
                  <p:embed/>
                </p:oleObj>
              </mc:Choice>
              <mc:Fallback>
                <p:oleObj name="Equation" r:id="rId2" imgW="1371600" imgH="419100" progId="Equation.3">
                  <p:embed/>
                  <p:pic>
                    <p:nvPicPr>
                      <p:cNvPr id="0" name=""/>
                      <p:cNvPicPr>
                        <a:picLocks noChangeAspect="1" noChangeArrowheads="1"/>
                      </p:cNvPicPr>
                      <p:nvPr/>
                    </p:nvPicPr>
                    <p:blipFill>
                      <a:blip r:embed="rId3"/>
                      <a:srcRect/>
                      <a:stretch>
                        <a:fillRect/>
                      </a:stretch>
                    </p:blipFill>
                    <p:spPr bwMode="auto">
                      <a:xfrm>
                        <a:off x="2479675" y="2759075"/>
                        <a:ext cx="4421188" cy="1377950"/>
                      </a:xfrm>
                      <a:prstGeom prst="rect">
                        <a:avLst/>
                      </a:prstGeom>
                      <a:noFill/>
                      <a:ln>
                        <a:noFill/>
                      </a:ln>
                      <a:effectLst/>
                    </p:spPr>
                  </p:pic>
                </p:oleObj>
              </mc:Fallback>
            </mc:AlternateContent>
          </a:graphicData>
        </a:graphic>
      </p:graphicFrame>
      <p:sp>
        <p:nvSpPr>
          <p:cNvPr id="10" name="Content Placeholder 1"/>
          <p:cNvSpPr>
            <a:spLocks noGrp="1"/>
          </p:cNvSpPr>
          <p:nvPr>
            <p:ph idx="1"/>
          </p:nvPr>
        </p:nvSpPr>
        <p:spPr>
          <a:xfrm>
            <a:off x="304800" y="1428750"/>
            <a:ext cx="8229600" cy="2667000"/>
          </a:xfrm>
        </p:spPr>
        <p:txBody>
          <a:bodyPr/>
          <a:lstStyle/>
          <a:p>
            <a:pPr marL="228600" indent="-228600">
              <a:spcBef>
                <a:spcPct val="50000"/>
              </a:spcBef>
              <a:buFontTx/>
              <a:buChar char="•"/>
            </a:pPr>
            <a:r>
              <a:rPr lang="en-US" sz="3200" dirty="0"/>
              <a:t>For a document </a:t>
            </a:r>
            <a:r>
              <a:rPr lang="en-US" sz="3600" i="1" dirty="0">
                <a:solidFill>
                  <a:srgbClr val="FF0000"/>
                </a:solidFill>
              </a:rPr>
              <a:t>d</a:t>
            </a:r>
            <a:r>
              <a:rPr lang="en-US" sz="4000" dirty="0"/>
              <a:t> </a:t>
            </a:r>
            <a:r>
              <a:rPr lang="en-US" sz="3600" dirty="0"/>
              <a:t>and a class </a:t>
            </a:r>
            <a:r>
              <a:rPr lang="en-US" sz="4000" i="1" dirty="0">
                <a:solidFill>
                  <a:srgbClr val="FF0000"/>
                </a:solidFill>
              </a:rPr>
              <a:t>c</a:t>
            </a:r>
            <a:endParaRPr lang="en-US" sz="3200" i="1" dirty="0">
              <a:solidFill>
                <a:srgbClr val="FF0000"/>
              </a:solidFill>
            </a:endParaRPr>
          </a:p>
        </p:txBody>
      </p:sp>
    </p:spTree>
    <p:extLst>
      <p:ext uri="{BB962C8B-B14F-4D97-AF65-F5344CB8AC3E}">
        <p14:creationId xmlns:p14="http://schemas.microsoft.com/office/powerpoint/2010/main" val="55067465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dirty="0"/>
              <a:t>Na</a:t>
            </a:r>
            <a:r>
              <a:rPr lang="fr-FR" dirty="0" err="1"/>
              <a:t>ï</a:t>
            </a:r>
            <a:r>
              <a:rPr lang="en-US" dirty="0" err="1"/>
              <a:t>ve</a:t>
            </a:r>
            <a:r>
              <a:rPr lang="en-US" dirty="0"/>
              <a:t> Bayes Classifier (I)</a:t>
            </a:r>
          </a:p>
        </p:txBody>
      </p:sp>
      <p:graphicFrame>
        <p:nvGraphicFramePr>
          <p:cNvPr id="5" name="Object 3"/>
          <p:cNvGraphicFramePr>
            <a:graphicFrameLocks noChangeAspect="1"/>
          </p:cNvGraphicFramePr>
          <p:nvPr>
            <p:extLst>
              <p:ext uri="{D42A27DB-BD31-4B8C-83A1-F6EECF244321}">
                <p14:modId xmlns:p14="http://schemas.microsoft.com/office/powerpoint/2010/main" val="816637004"/>
              </p:ext>
            </p:extLst>
          </p:nvPr>
        </p:nvGraphicFramePr>
        <p:xfrm>
          <a:off x="1672596" y="1633538"/>
          <a:ext cx="4072567" cy="862012"/>
        </p:xfrm>
        <a:graphic>
          <a:graphicData uri="http://schemas.openxmlformats.org/presentationml/2006/ole">
            <mc:AlternateContent xmlns:mc="http://schemas.openxmlformats.org/markup-compatibility/2006">
              <mc:Choice xmlns:v="urn:schemas-microsoft-com:vml" Requires="v">
                <p:oleObj name="Equation" r:id="rId2" imgW="1371600" imgH="292100" progId="Equation.3">
                  <p:embed/>
                </p:oleObj>
              </mc:Choice>
              <mc:Fallback>
                <p:oleObj name="Equation" r:id="rId2" imgW="1371600" imgH="292100" progId="Equation.3">
                  <p:embed/>
                  <p:pic>
                    <p:nvPicPr>
                      <p:cNvPr id="0" name=""/>
                      <p:cNvPicPr>
                        <a:picLocks noChangeAspect="1" noChangeArrowheads="1"/>
                      </p:cNvPicPr>
                      <p:nvPr/>
                    </p:nvPicPr>
                    <p:blipFill>
                      <a:blip r:embed="rId3"/>
                      <a:srcRect/>
                      <a:stretch>
                        <a:fillRect/>
                      </a:stretch>
                    </p:blipFill>
                    <p:spPr bwMode="auto">
                      <a:xfrm>
                        <a:off x="1672596" y="1633538"/>
                        <a:ext cx="4072567" cy="862012"/>
                      </a:xfrm>
                      <a:prstGeom prst="rect">
                        <a:avLst/>
                      </a:prstGeom>
                      <a:noFill/>
                      <a:ln>
                        <a:noFill/>
                      </a:ln>
                      <a:effec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4069616719"/>
              </p:ext>
            </p:extLst>
          </p:nvPr>
        </p:nvGraphicFramePr>
        <p:xfrm>
          <a:off x="2542619" y="2495550"/>
          <a:ext cx="4010581" cy="1219200"/>
        </p:xfrm>
        <a:graphic>
          <a:graphicData uri="http://schemas.openxmlformats.org/presentationml/2006/ole">
            <mc:AlternateContent xmlns:mc="http://schemas.openxmlformats.org/markup-compatibility/2006">
              <mc:Choice xmlns:v="urn:schemas-microsoft-com:vml" Requires="v">
                <p:oleObj name="Equation" r:id="rId4" imgW="1371600" imgH="419100" progId="Equation.3">
                  <p:embed/>
                </p:oleObj>
              </mc:Choice>
              <mc:Fallback>
                <p:oleObj name="Equation" r:id="rId4" imgW="1371600" imgH="419100" progId="Equation.3">
                  <p:embed/>
                  <p:pic>
                    <p:nvPicPr>
                      <p:cNvPr id="0" name=""/>
                      <p:cNvPicPr>
                        <a:picLocks noChangeAspect="1" noChangeArrowheads="1"/>
                      </p:cNvPicPr>
                      <p:nvPr/>
                    </p:nvPicPr>
                    <p:blipFill>
                      <a:blip r:embed="rId5"/>
                      <a:srcRect/>
                      <a:stretch>
                        <a:fillRect/>
                      </a:stretch>
                    </p:blipFill>
                    <p:spPr bwMode="auto">
                      <a:xfrm>
                        <a:off x="2542619" y="2495550"/>
                        <a:ext cx="4010581" cy="1219200"/>
                      </a:xfrm>
                      <a:prstGeom prst="rect">
                        <a:avLst/>
                      </a:prstGeom>
                      <a:noFill/>
                      <a:ln>
                        <a:noFill/>
                      </a:ln>
                      <a:effec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1942638856"/>
              </p:ext>
            </p:extLst>
          </p:nvPr>
        </p:nvGraphicFramePr>
        <p:xfrm>
          <a:off x="2511425" y="3867150"/>
          <a:ext cx="3886200" cy="838200"/>
        </p:xfrm>
        <a:graphic>
          <a:graphicData uri="http://schemas.openxmlformats.org/presentationml/2006/ole">
            <mc:AlternateContent xmlns:mc="http://schemas.openxmlformats.org/markup-compatibility/2006">
              <mc:Choice xmlns:v="urn:schemas-microsoft-com:vml" Requires="v">
                <p:oleObj name="Equation" r:id="rId6" imgW="1346200" imgH="292100" progId="Equation.3">
                  <p:embed/>
                </p:oleObj>
              </mc:Choice>
              <mc:Fallback>
                <p:oleObj name="Equation" r:id="rId6" imgW="1346200" imgH="292100" progId="Equation.3">
                  <p:embed/>
                  <p:pic>
                    <p:nvPicPr>
                      <p:cNvPr id="0" name=""/>
                      <p:cNvPicPr>
                        <a:picLocks noChangeAspect="1" noChangeArrowheads="1"/>
                      </p:cNvPicPr>
                      <p:nvPr/>
                    </p:nvPicPr>
                    <p:blipFill>
                      <a:blip r:embed="rId7"/>
                      <a:srcRect/>
                      <a:stretch>
                        <a:fillRect/>
                      </a:stretch>
                    </p:blipFill>
                    <p:spPr bwMode="auto">
                      <a:xfrm>
                        <a:off x="2511425" y="3867150"/>
                        <a:ext cx="3886200" cy="838200"/>
                      </a:xfrm>
                      <a:prstGeom prst="rect">
                        <a:avLst/>
                      </a:prstGeom>
                      <a:noFill/>
                      <a:ln>
                        <a:noFill/>
                      </a:ln>
                      <a:effectLst/>
                    </p:spPr>
                  </p:pic>
                </p:oleObj>
              </mc:Fallback>
            </mc:AlternateContent>
          </a:graphicData>
        </a:graphic>
      </p:graphicFrame>
      <p:sp>
        <p:nvSpPr>
          <p:cNvPr id="2" name="Content Placeholder 1"/>
          <p:cNvSpPr>
            <a:spLocks noGrp="1"/>
          </p:cNvSpPr>
          <p:nvPr>
            <p:ph idx="1"/>
          </p:nvPr>
        </p:nvSpPr>
        <p:spPr>
          <a:xfrm>
            <a:off x="304800" y="1352550"/>
            <a:ext cx="8534400" cy="838200"/>
          </a:xfrm>
        </p:spPr>
        <p:txBody>
          <a:bodyPr/>
          <a:lstStyle/>
          <a:p>
            <a:endParaRPr lang="en-US" dirty="0"/>
          </a:p>
        </p:txBody>
      </p:sp>
      <p:sp>
        <p:nvSpPr>
          <p:cNvPr id="9" name="Text Box 16"/>
          <p:cNvSpPr txBox="1">
            <a:spLocks noChangeArrowheads="1"/>
          </p:cNvSpPr>
          <p:nvPr/>
        </p:nvSpPr>
        <p:spPr bwMode="auto">
          <a:xfrm>
            <a:off x="6248400" y="1581150"/>
            <a:ext cx="2438400" cy="830997"/>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a:t>MAP is “maximum a posteriori”  = most likely class</a:t>
            </a:r>
          </a:p>
        </p:txBody>
      </p:sp>
      <p:sp>
        <p:nvSpPr>
          <p:cNvPr id="11" name="Text Box 16"/>
          <p:cNvSpPr txBox="1">
            <a:spLocks noChangeArrowheads="1"/>
          </p:cNvSpPr>
          <p:nvPr/>
        </p:nvSpPr>
        <p:spPr bwMode="auto">
          <a:xfrm>
            <a:off x="6934200" y="2876550"/>
            <a:ext cx="1676400" cy="338554"/>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a:t>Bayes Rule</a:t>
            </a:r>
          </a:p>
        </p:txBody>
      </p:sp>
      <p:sp>
        <p:nvSpPr>
          <p:cNvPr id="12" name="Text Box 16"/>
          <p:cNvSpPr txBox="1">
            <a:spLocks noChangeArrowheads="1"/>
          </p:cNvSpPr>
          <p:nvPr/>
        </p:nvSpPr>
        <p:spPr bwMode="auto">
          <a:xfrm>
            <a:off x="7010400" y="3943350"/>
            <a:ext cx="1676400" cy="584776"/>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a:t>Dropping the denominator</a:t>
            </a:r>
          </a:p>
        </p:txBody>
      </p:sp>
    </p:spTree>
    <p:extLst>
      <p:ext uri="{BB962C8B-B14F-4D97-AF65-F5344CB8AC3E}">
        <p14:creationId xmlns:p14="http://schemas.microsoft.com/office/powerpoint/2010/main" val="1097180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animBg="1"/>
      <p:bldP spid="11" grpId="0" animBg="1"/>
      <p:bldP spid="1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dirty="0"/>
              <a:t>Na</a:t>
            </a:r>
            <a:r>
              <a:rPr lang="fr-FR" dirty="0" err="1"/>
              <a:t>ï</a:t>
            </a:r>
            <a:r>
              <a:rPr lang="en-US" dirty="0" err="1"/>
              <a:t>ve</a:t>
            </a:r>
            <a:r>
              <a:rPr lang="en-US" dirty="0"/>
              <a:t> Bayes Classifier (II)</a:t>
            </a:r>
          </a:p>
        </p:txBody>
      </p:sp>
      <p:graphicFrame>
        <p:nvGraphicFramePr>
          <p:cNvPr id="5" name="Object 3"/>
          <p:cNvGraphicFramePr>
            <a:graphicFrameLocks noChangeAspect="1"/>
          </p:cNvGraphicFramePr>
          <p:nvPr>
            <p:extLst>
              <p:ext uri="{D42A27DB-BD31-4B8C-83A1-F6EECF244321}">
                <p14:modId xmlns:p14="http://schemas.microsoft.com/office/powerpoint/2010/main" val="2614248283"/>
              </p:ext>
            </p:extLst>
          </p:nvPr>
        </p:nvGraphicFramePr>
        <p:xfrm>
          <a:off x="381000" y="1581150"/>
          <a:ext cx="4900612" cy="862012"/>
        </p:xfrm>
        <a:graphic>
          <a:graphicData uri="http://schemas.openxmlformats.org/presentationml/2006/ole">
            <mc:AlternateContent xmlns:mc="http://schemas.openxmlformats.org/markup-compatibility/2006">
              <mc:Choice xmlns:v="urn:schemas-microsoft-com:vml" Requires="v">
                <p:oleObj name="Equation" r:id="rId2" imgW="1651000" imgH="292100" progId="Equation.3">
                  <p:embed/>
                </p:oleObj>
              </mc:Choice>
              <mc:Fallback>
                <p:oleObj name="Equation" r:id="rId2" imgW="1651000" imgH="292100" progId="Equation.3">
                  <p:embed/>
                  <p:pic>
                    <p:nvPicPr>
                      <p:cNvPr id="0" name=""/>
                      <p:cNvPicPr>
                        <a:picLocks noChangeAspect="1" noChangeArrowheads="1"/>
                      </p:cNvPicPr>
                      <p:nvPr/>
                    </p:nvPicPr>
                    <p:blipFill>
                      <a:blip r:embed="rId3"/>
                      <a:srcRect/>
                      <a:stretch>
                        <a:fillRect/>
                      </a:stretch>
                    </p:blipFill>
                    <p:spPr bwMode="auto">
                      <a:xfrm>
                        <a:off x="381000" y="1581150"/>
                        <a:ext cx="4900612" cy="862012"/>
                      </a:xfrm>
                      <a:prstGeom prst="rect">
                        <a:avLst/>
                      </a:prstGeom>
                      <a:noFill/>
                      <a:ln>
                        <a:noFill/>
                      </a:ln>
                      <a:effectLst/>
                    </p:spPr>
                  </p:pic>
                </p:oleObj>
              </mc:Fallback>
            </mc:AlternateContent>
          </a:graphicData>
        </a:graphic>
      </p:graphicFrame>
      <p:sp>
        <p:nvSpPr>
          <p:cNvPr id="11" name="Text Box 16"/>
          <p:cNvSpPr txBox="1">
            <a:spLocks noChangeArrowheads="1"/>
          </p:cNvSpPr>
          <p:nvPr/>
        </p:nvSpPr>
        <p:spPr bwMode="auto">
          <a:xfrm>
            <a:off x="7239000" y="2571750"/>
            <a:ext cx="1676400" cy="1077218"/>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a:t>Document d represented as features x1..xn</a:t>
            </a:r>
          </a:p>
        </p:txBody>
      </p:sp>
      <p:graphicFrame>
        <p:nvGraphicFramePr>
          <p:cNvPr id="10" name="Object 3"/>
          <p:cNvGraphicFramePr>
            <a:graphicFrameLocks noChangeAspect="1"/>
          </p:cNvGraphicFramePr>
          <p:nvPr>
            <p:extLst>
              <p:ext uri="{D42A27DB-BD31-4B8C-83A1-F6EECF244321}">
                <p14:modId xmlns:p14="http://schemas.microsoft.com/office/powerpoint/2010/main" val="4027541873"/>
              </p:ext>
            </p:extLst>
          </p:nvPr>
        </p:nvGraphicFramePr>
        <p:xfrm>
          <a:off x="1220788" y="2706688"/>
          <a:ext cx="5919787" cy="898525"/>
        </p:xfrm>
        <a:graphic>
          <a:graphicData uri="http://schemas.openxmlformats.org/presentationml/2006/ole">
            <mc:AlternateContent xmlns:mc="http://schemas.openxmlformats.org/markup-compatibility/2006">
              <mc:Choice xmlns:v="urn:schemas-microsoft-com:vml" Requires="v">
                <p:oleObj name="Equation" r:id="rId4" imgW="1993680" imgH="304560" progId="Equation.3">
                  <p:embed/>
                </p:oleObj>
              </mc:Choice>
              <mc:Fallback>
                <p:oleObj name="Equation" r:id="rId4" imgW="1993680" imgH="304560" progId="Equation.3">
                  <p:embed/>
                  <p:pic>
                    <p:nvPicPr>
                      <p:cNvPr id="0" name=""/>
                      <p:cNvPicPr>
                        <a:picLocks noChangeAspect="1" noChangeArrowheads="1"/>
                      </p:cNvPicPr>
                      <p:nvPr/>
                    </p:nvPicPr>
                    <p:blipFill>
                      <a:blip r:embed="rId5"/>
                      <a:srcRect/>
                      <a:stretch>
                        <a:fillRect/>
                      </a:stretch>
                    </p:blipFill>
                    <p:spPr bwMode="auto">
                      <a:xfrm>
                        <a:off x="1220788" y="2706688"/>
                        <a:ext cx="5919787" cy="8985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614607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371600" y="381000"/>
            <a:ext cx="7620000" cy="742950"/>
          </a:xfrm>
        </p:spPr>
        <p:txBody>
          <a:bodyPr/>
          <a:lstStyle/>
          <a:p>
            <a:r>
              <a:rPr lang="en-US" dirty="0"/>
              <a:t>Na</a:t>
            </a:r>
            <a:r>
              <a:rPr lang="fr-FR" dirty="0" err="1"/>
              <a:t>ï</a:t>
            </a:r>
            <a:r>
              <a:rPr lang="en-US" dirty="0" err="1"/>
              <a:t>ve</a:t>
            </a:r>
            <a:r>
              <a:rPr lang="en-US" dirty="0"/>
              <a:t> Bayes Classifier (IV)</a:t>
            </a:r>
          </a:p>
        </p:txBody>
      </p:sp>
      <p:sp>
        <p:nvSpPr>
          <p:cNvPr id="11" name="Text Box 16"/>
          <p:cNvSpPr txBox="1">
            <a:spLocks noChangeArrowheads="1"/>
          </p:cNvSpPr>
          <p:nvPr/>
        </p:nvSpPr>
        <p:spPr bwMode="auto">
          <a:xfrm>
            <a:off x="6324600" y="2655153"/>
            <a:ext cx="2438400" cy="584776"/>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a:t>How often does this class occur?</a:t>
            </a:r>
          </a:p>
        </p:txBody>
      </p:sp>
      <p:graphicFrame>
        <p:nvGraphicFramePr>
          <p:cNvPr id="10" name="Object 3"/>
          <p:cNvGraphicFramePr>
            <a:graphicFrameLocks noChangeAspect="1"/>
          </p:cNvGraphicFramePr>
          <p:nvPr>
            <p:extLst>
              <p:ext uri="{D42A27DB-BD31-4B8C-83A1-F6EECF244321}">
                <p14:modId xmlns:p14="http://schemas.microsoft.com/office/powerpoint/2010/main" val="1222453097"/>
              </p:ext>
            </p:extLst>
          </p:nvPr>
        </p:nvGraphicFramePr>
        <p:xfrm>
          <a:off x="668338" y="1485900"/>
          <a:ext cx="6824662" cy="900113"/>
        </p:xfrm>
        <a:graphic>
          <a:graphicData uri="http://schemas.openxmlformats.org/presentationml/2006/ole">
            <mc:AlternateContent xmlns:mc="http://schemas.openxmlformats.org/markup-compatibility/2006">
              <mc:Choice xmlns:v="urn:schemas-microsoft-com:vml" Requires="v">
                <p:oleObj name="Equation" r:id="rId2" imgW="2298600" imgH="304560" progId="Equation.3">
                  <p:embed/>
                </p:oleObj>
              </mc:Choice>
              <mc:Fallback>
                <p:oleObj name="Equation" r:id="rId2" imgW="2298600" imgH="304560" progId="Equation.3">
                  <p:embed/>
                  <p:pic>
                    <p:nvPicPr>
                      <p:cNvPr id="0" name=""/>
                      <p:cNvPicPr>
                        <a:picLocks noChangeAspect="1" noChangeArrowheads="1"/>
                      </p:cNvPicPr>
                      <p:nvPr/>
                    </p:nvPicPr>
                    <p:blipFill>
                      <a:blip r:embed="rId3"/>
                      <a:srcRect/>
                      <a:stretch>
                        <a:fillRect/>
                      </a:stretch>
                    </p:blipFill>
                    <p:spPr bwMode="auto">
                      <a:xfrm>
                        <a:off x="668338" y="1485900"/>
                        <a:ext cx="6824662" cy="900113"/>
                      </a:xfrm>
                      <a:prstGeom prst="rect">
                        <a:avLst/>
                      </a:prstGeom>
                      <a:noFill/>
                      <a:ln>
                        <a:noFill/>
                      </a:ln>
                      <a:effectLst/>
                    </p:spPr>
                  </p:pic>
                </p:oleObj>
              </mc:Fallback>
            </mc:AlternateContent>
          </a:graphicData>
        </a:graphic>
      </p:graphicFrame>
      <p:sp>
        <p:nvSpPr>
          <p:cNvPr id="6" name="Text Box 16"/>
          <p:cNvSpPr txBox="1">
            <a:spLocks noChangeArrowheads="1"/>
          </p:cNvSpPr>
          <p:nvPr/>
        </p:nvSpPr>
        <p:spPr bwMode="auto">
          <a:xfrm>
            <a:off x="1600200" y="2602290"/>
            <a:ext cx="4343400" cy="461665"/>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lvl="1" eaLnBrk="1" hangingPunct="1"/>
            <a:r>
              <a:rPr lang="en-US" dirty="0">
                <a:latin typeface="Calibri" charset="0"/>
                <a:cs typeface="Arial" charset="0"/>
              </a:rPr>
              <a:t>O(|</a:t>
            </a:r>
            <a:r>
              <a:rPr lang="en-US" i="1" dirty="0" err="1">
                <a:latin typeface="Calibri" charset="0"/>
                <a:cs typeface="Arial" charset="0"/>
              </a:rPr>
              <a:t>X</a:t>
            </a:r>
            <a:r>
              <a:rPr lang="en-US" dirty="0" err="1">
                <a:latin typeface="Calibri" charset="0"/>
                <a:cs typeface="Arial" charset="0"/>
              </a:rPr>
              <a:t>|</a:t>
            </a:r>
            <a:r>
              <a:rPr lang="en-US" i="1" baseline="30000" dirty="0" err="1">
                <a:latin typeface="Calibri" charset="0"/>
                <a:cs typeface="Arial" charset="0"/>
              </a:rPr>
              <a:t>n</a:t>
            </a:r>
            <a:r>
              <a:rPr lang="en-US" dirty="0">
                <a:latin typeface="Calibri" charset="0"/>
                <a:cs typeface="Arial" charset="0"/>
                <a:sym typeface="Symbol" charset="0"/>
              </a:rPr>
              <a:t>•|</a:t>
            </a:r>
            <a:r>
              <a:rPr lang="en-US" i="1" dirty="0">
                <a:latin typeface="Calibri" charset="0"/>
                <a:cs typeface="Arial" charset="0"/>
                <a:sym typeface="Symbol" charset="0"/>
              </a:rPr>
              <a:t>C</a:t>
            </a:r>
            <a:r>
              <a:rPr lang="en-US" dirty="0">
                <a:latin typeface="Calibri" charset="0"/>
                <a:cs typeface="Arial" charset="0"/>
                <a:sym typeface="Symbol" charset="0"/>
              </a:rPr>
              <a:t>|) parameters</a:t>
            </a:r>
            <a:endParaRPr lang="en-US" dirty="0">
              <a:latin typeface="Calibri" charset="0"/>
              <a:cs typeface="Arial" charset="0"/>
            </a:endParaRPr>
          </a:p>
        </p:txBody>
      </p:sp>
      <p:sp>
        <p:nvSpPr>
          <p:cNvPr id="8" name="Text Box 16"/>
          <p:cNvSpPr txBox="1">
            <a:spLocks noChangeArrowheads="1"/>
          </p:cNvSpPr>
          <p:nvPr/>
        </p:nvSpPr>
        <p:spPr bwMode="auto">
          <a:xfrm>
            <a:off x="6400800" y="3645753"/>
            <a:ext cx="2438400" cy="830997"/>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a:t>We can just count the relative frequencies in a corpus</a:t>
            </a:r>
          </a:p>
        </p:txBody>
      </p:sp>
      <p:sp>
        <p:nvSpPr>
          <p:cNvPr id="9" name="Text Box 16"/>
          <p:cNvSpPr txBox="1">
            <a:spLocks noChangeArrowheads="1"/>
          </p:cNvSpPr>
          <p:nvPr/>
        </p:nvSpPr>
        <p:spPr bwMode="auto">
          <a:xfrm>
            <a:off x="1600200" y="3364290"/>
            <a:ext cx="4343400" cy="1569660"/>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lvl="1" eaLnBrk="1" hangingPunct="1"/>
            <a:r>
              <a:rPr lang="en-US" dirty="0">
                <a:latin typeface="Calibri" charset="0"/>
              </a:rPr>
              <a:t>Could only be estimated if a very, very large number of training examples was available.</a:t>
            </a:r>
          </a:p>
        </p:txBody>
      </p:sp>
    </p:spTree>
    <p:extLst>
      <p:ext uri="{BB962C8B-B14F-4D97-AF65-F5344CB8AC3E}">
        <p14:creationId xmlns:p14="http://schemas.microsoft.com/office/powerpoint/2010/main" val="31487170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371600" y="0"/>
            <a:ext cx="7620000" cy="1123950"/>
          </a:xfrm>
        </p:spPr>
        <p:txBody>
          <a:bodyPr/>
          <a:lstStyle/>
          <a:p>
            <a:r>
              <a:rPr lang="en-US" dirty="0"/>
              <a:t>Multinomial Na</a:t>
            </a:r>
            <a:r>
              <a:rPr lang="fr-FR" dirty="0" err="1"/>
              <a:t>ï</a:t>
            </a:r>
            <a:r>
              <a:rPr lang="en-US" dirty="0" err="1"/>
              <a:t>ve</a:t>
            </a:r>
            <a:r>
              <a:rPr lang="en-US" dirty="0"/>
              <a:t> Bayes Independence Assumptions</a:t>
            </a:r>
          </a:p>
        </p:txBody>
      </p:sp>
      <p:graphicFrame>
        <p:nvGraphicFramePr>
          <p:cNvPr id="10" name="Object 3"/>
          <p:cNvGraphicFramePr>
            <a:graphicFrameLocks noChangeAspect="1"/>
          </p:cNvGraphicFramePr>
          <p:nvPr>
            <p:extLst>
              <p:ext uri="{D42A27DB-BD31-4B8C-83A1-F6EECF244321}">
                <p14:modId xmlns:p14="http://schemas.microsoft.com/office/powerpoint/2010/main" val="3200767185"/>
              </p:ext>
            </p:extLst>
          </p:nvPr>
        </p:nvGraphicFramePr>
        <p:xfrm>
          <a:off x="2528888" y="1181100"/>
          <a:ext cx="3319462" cy="674688"/>
        </p:xfrm>
        <a:graphic>
          <a:graphicData uri="http://schemas.openxmlformats.org/presentationml/2006/ole">
            <mc:AlternateContent xmlns:mc="http://schemas.openxmlformats.org/markup-compatibility/2006">
              <mc:Choice xmlns:v="urn:schemas-microsoft-com:vml" Requires="v">
                <p:oleObj name="Equation" r:id="rId2" imgW="1117440" imgH="228600" progId="Equation.3">
                  <p:embed/>
                </p:oleObj>
              </mc:Choice>
              <mc:Fallback>
                <p:oleObj name="Equation" r:id="rId2" imgW="1117440" imgH="228600" progId="Equation.3">
                  <p:embed/>
                  <p:pic>
                    <p:nvPicPr>
                      <p:cNvPr id="0" name=""/>
                      <p:cNvPicPr>
                        <a:picLocks noChangeAspect="1" noChangeArrowheads="1"/>
                      </p:cNvPicPr>
                      <p:nvPr/>
                    </p:nvPicPr>
                    <p:blipFill>
                      <a:blip r:embed="rId3"/>
                      <a:srcRect/>
                      <a:stretch>
                        <a:fillRect/>
                      </a:stretch>
                    </p:blipFill>
                    <p:spPr bwMode="auto">
                      <a:xfrm>
                        <a:off x="2528888" y="1181100"/>
                        <a:ext cx="3319462" cy="674688"/>
                      </a:xfrm>
                      <a:prstGeom prst="rect">
                        <a:avLst/>
                      </a:prstGeom>
                      <a:noFill/>
                      <a:ln>
                        <a:noFill/>
                      </a:ln>
                      <a:effectLst/>
                    </p:spPr>
                  </p:pic>
                </p:oleObj>
              </mc:Fallback>
            </mc:AlternateContent>
          </a:graphicData>
        </a:graphic>
      </p:graphicFrame>
      <p:sp>
        <p:nvSpPr>
          <p:cNvPr id="12" name="Rectangle 3"/>
          <p:cNvSpPr>
            <a:spLocks noGrp="1" noChangeArrowheads="1"/>
          </p:cNvSpPr>
          <p:nvPr>
            <p:ph sz="quarter" idx="1"/>
          </p:nvPr>
        </p:nvSpPr>
        <p:spPr>
          <a:xfrm>
            <a:off x="304800" y="2190750"/>
            <a:ext cx="8686800" cy="2590800"/>
          </a:xfrm>
        </p:spPr>
        <p:txBody>
          <a:bodyPr/>
          <a:lstStyle/>
          <a:p>
            <a:r>
              <a:rPr lang="en-US" sz="2800" b="1" dirty="0">
                <a:latin typeface="Calibri" charset="0"/>
                <a:sym typeface="Symbol" charset="2"/>
              </a:rPr>
              <a:t>Bag of Words assumption</a:t>
            </a:r>
            <a:r>
              <a:rPr lang="en-US" sz="2800" dirty="0">
                <a:latin typeface="Calibri" charset="0"/>
                <a:sym typeface="Symbol" charset="2"/>
              </a:rPr>
              <a:t>: Assume position doesn’t matter</a:t>
            </a:r>
          </a:p>
          <a:p>
            <a:r>
              <a:rPr lang="en-US" sz="2800" b="1" dirty="0">
                <a:latin typeface="Calibri" charset="0"/>
                <a:sym typeface="Symbol" charset="2"/>
              </a:rPr>
              <a:t>Conditional Independence</a:t>
            </a:r>
            <a:r>
              <a:rPr lang="en-US" sz="2800" dirty="0">
                <a:latin typeface="Calibri" charset="0"/>
                <a:sym typeface="Symbol" charset="2"/>
              </a:rPr>
              <a:t>: Assume the feature probabilities </a:t>
            </a:r>
            <a:r>
              <a:rPr lang="en-US" sz="2800" i="1" dirty="0">
                <a:latin typeface="Calibri" charset="0"/>
                <a:sym typeface="Symbol" charset="2"/>
              </a:rPr>
              <a:t>P</a:t>
            </a:r>
            <a:r>
              <a:rPr lang="en-US" sz="2800" dirty="0">
                <a:latin typeface="Calibri" charset="0"/>
                <a:sym typeface="Symbol" charset="2"/>
              </a:rPr>
              <a:t>(</a:t>
            </a:r>
            <a:r>
              <a:rPr lang="en-US" sz="2800" i="1" dirty="0" err="1">
                <a:latin typeface="Calibri" charset="0"/>
                <a:sym typeface="Symbol" charset="2"/>
              </a:rPr>
              <a:t>x</a:t>
            </a:r>
            <a:r>
              <a:rPr lang="en-US" sz="2800" i="1" baseline="-25000" dirty="0" err="1">
                <a:latin typeface="Calibri" charset="0"/>
                <a:sym typeface="Symbol" charset="2"/>
              </a:rPr>
              <a:t>i</a:t>
            </a:r>
            <a:r>
              <a:rPr lang="en-US" sz="2800" dirty="0" err="1">
                <a:latin typeface="Calibri" charset="0"/>
                <a:sym typeface="Symbol" charset="2"/>
              </a:rPr>
              <a:t>|</a:t>
            </a:r>
            <a:r>
              <a:rPr lang="en-US" sz="2800" i="1" dirty="0" err="1">
                <a:latin typeface="Calibri" charset="0"/>
                <a:sym typeface="Symbol" charset="2"/>
              </a:rPr>
              <a:t>c</a:t>
            </a:r>
            <a:r>
              <a:rPr lang="en-US" sz="2800" i="1" baseline="-25000" dirty="0" err="1">
                <a:latin typeface="Calibri" charset="0"/>
                <a:sym typeface="Symbol" charset="2"/>
              </a:rPr>
              <a:t>j</a:t>
            </a:r>
            <a:r>
              <a:rPr lang="en-US" sz="2800" dirty="0">
                <a:latin typeface="Calibri" charset="0"/>
                <a:sym typeface="Symbol" charset="2"/>
              </a:rPr>
              <a:t>) are independent given the class </a:t>
            </a:r>
            <a:r>
              <a:rPr lang="en-US" sz="2800" i="1" dirty="0">
                <a:latin typeface="Calibri" charset="0"/>
                <a:sym typeface="Symbol" charset="2"/>
              </a:rPr>
              <a:t>c.</a:t>
            </a:r>
            <a:endParaRPr lang="en-US" sz="2800" i="1" dirty="0">
              <a:latin typeface="Times New Roman" charset="0"/>
            </a:endParaRPr>
          </a:p>
        </p:txBody>
      </p:sp>
      <p:graphicFrame>
        <p:nvGraphicFramePr>
          <p:cNvPr id="13" name="Object 2"/>
          <p:cNvGraphicFramePr>
            <a:graphicFrameLocks noChangeAspect="1"/>
          </p:cNvGraphicFramePr>
          <p:nvPr>
            <p:extLst>
              <p:ext uri="{D42A27DB-BD31-4B8C-83A1-F6EECF244321}">
                <p14:modId xmlns:p14="http://schemas.microsoft.com/office/powerpoint/2010/main" val="2450069037"/>
              </p:ext>
            </p:extLst>
          </p:nvPr>
        </p:nvGraphicFramePr>
        <p:xfrm>
          <a:off x="661988" y="4324350"/>
          <a:ext cx="7826375" cy="482600"/>
        </p:xfrm>
        <a:graphic>
          <a:graphicData uri="http://schemas.openxmlformats.org/presentationml/2006/ole">
            <mc:AlternateContent xmlns:mc="http://schemas.openxmlformats.org/markup-compatibility/2006">
              <mc:Choice xmlns:v="urn:schemas-microsoft-com:vml" Requires="v">
                <p:oleObj name="Equation" r:id="rId4" imgW="3492500" imgH="215900" progId="Equation.3">
                  <p:embed/>
                </p:oleObj>
              </mc:Choice>
              <mc:Fallback>
                <p:oleObj name="Equation" r:id="rId4" imgW="3492500" imgH="215900" progId="Equation.3">
                  <p:embed/>
                  <p:pic>
                    <p:nvPicPr>
                      <p:cNvPr id="0" name=""/>
                      <p:cNvPicPr>
                        <a:picLocks noChangeAspect="1" noChangeArrowheads="1"/>
                      </p:cNvPicPr>
                      <p:nvPr/>
                    </p:nvPicPr>
                    <p:blipFill>
                      <a:blip r:embed="rId5"/>
                      <a:srcRect/>
                      <a:stretch>
                        <a:fillRect/>
                      </a:stretch>
                    </p:blipFill>
                    <p:spPr bwMode="auto">
                      <a:xfrm>
                        <a:off x="661988" y="4324350"/>
                        <a:ext cx="7826375" cy="4826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874898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371600" y="381000"/>
            <a:ext cx="7620000" cy="742950"/>
          </a:xfrm>
        </p:spPr>
        <p:txBody>
          <a:bodyPr/>
          <a:lstStyle/>
          <a:p>
            <a:r>
              <a:rPr lang="en-US" dirty="0"/>
              <a:t>Multinomial Na</a:t>
            </a:r>
            <a:r>
              <a:rPr lang="fr-FR" dirty="0" err="1"/>
              <a:t>ï</a:t>
            </a:r>
            <a:r>
              <a:rPr lang="en-US" dirty="0" err="1"/>
              <a:t>ve</a:t>
            </a:r>
            <a:r>
              <a:rPr lang="en-US" dirty="0"/>
              <a:t> Bayes Classifier</a:t>
            </a:r>
          </a:p>
        </p:txBody>
      </p:sp>
      <p:graphicFrame>
        <p:nvGraphicFramePr>
          <p:cNvPr id="10" name="Object 3"/>
          <p:cNvGraphicFramePr>
            <a:graphicFrameLocks noChangeAspect="1"/>
          </p:cNvGraphicFramePr>
          <p:nvPr>
            <p:extLst>
              <p:ext uri="{D42A27DB-BD31-4B8C-83A1-F6EECF244321}">
                <p14:modId xmlns:p14="http://schemas.microsoft.com/office/powerpoint/2010/main" val="3375819172"/>
              </p:ext>
            </p:extLst>
          </p:nvPr>
        </p:nvGraphicFramePr>
        <p:xfrm>
          <a:off x="668338" y="1485900"/>
          <a:ext cx="6824662" cy="900113"/>
        </p:xfrm>
        <a:graphic>
          <a:graphicData uri="http://schemas.openxmlformats.org/presentationml/2006/ole">
            <mc:AlternateContent xmlns:mc="http://schemas.openxmlformats.org/markup-compatibility/2006">
              <mc:Choice xmlns:v="urn:schemas-microsoft-com:vml" Requires="v">
                <p:oleObj name="Equation" r:id="rId2" imgW="2298600" imgH="304560" progId="Equation.3">
                  <p:embed/>
                </p:oleObj>
              </mc:Choice>
              <mc:Fallback>
                <p:oleObj name="Equation" r:id="rId2" imgW="2298600" imgH="304560" progId="Equation.3">
                  <p:embed/>
                  <p:pic>
                    <p:nvPicPr>
                      <p:cNvPr id="0" name=""/>
                      <p:cNvPicPr>
                        <a:picLocks noChangeAspect="1" noChangeArrowheads="1"/>
                      </p:cNvPicPr>
                      <p:nvPr/>
                    </p:nvPicPr>
                    <p:blipFill>
                      <a:blip r:embed="rId3"/>
                      <a:srcRect/>
                      <a:stretch>
                        <a:fillRect/>
                      </a:stretch>
                    </p:blipFill>
                    <p:spPr bwMode="auto">
                      <a:xfrm>
                        <a:off x="668338" y="1485900"/>
                        <a:ext cx="6824662" cy="900113"/>
                      </a:xfrm>
                      <a:prstGeom prst="rect">
                        <a:avLst/>
                      </a:prstGeom>
                      <a:noFill/>
                      <a:ln>
                        <a:noFill/>
                      </a:ln>
                      <a:effectLst/>
                    </p:spPr>
                  </p:pic>
                </p:oleObj>
              </mc:Fallback>
            </mc:AlternateContent>
          </a:graphicData>
        </a:graphic>
      </p:graphicFrame>
      <p:graphicFrame>
        <p:nvGraphicFramePr>
          <p:cNvPr id="12" name="Object 2"/>
          <p:cNvGraphicFramePr>
            <a:graphicFrameLocks noChangeAspect="1"/>
          </p:cNvGraphicFramePr>
          <p:nvPr>
            <p:extLst>
              <p:ext uri="{D42A27DB-BD31-4B8C-83A1-F6EECF244321}">
                <p14:modId xmlns:p14="http://schemas.microsoft.com/office/powerpoint/2010/main" val="4004451346"/>
              </p:ext>
            </p:extLst>
          </p:nvPr>
        </p:nvGraphicFramePr>
        <p:xfrm>
          <a:off x="914400" y="2730500"/>
          <a:ext cx="5635625" cy="1136650"/>
        </p:xfrm>
        <a:graphic>
          <a:graphicData uri="http://schemas.openxmlformats.org/presentationml/2006/ole">
            <mc:AlternateContent xmlns:mc="http://schemas.openxmlformats.org/markup-compatibility/2006">
              <mc:Choice xmlns:v="urn:schemas-microsoft-com:vml" Requires="v">
                <p:oleObj name="Equation" r:id="rId4" imgW="1828800" imgH="368300" progId="Equation.3">
                  <p:embed/>
                </p:oleObj>
              </mc:Choice>
              <mc:Fallback>
                <p:oleObj name="Equation" r:id="rId4" imgW="1828800" imgH="368300" progId="Equation.3">
                  <p:embed/>
                  <p:pic>
                    <p:nvPicPr>
                      <p:cNvPr id="0" name=""/>
                      <p:cNvPicPr>
                        <a:picLocks noChangeAspect="1" noChangeArrowheads="1"/>
                      </p:cNvPicPr>
                      <p:nvPr/>
                    </p:nvPicPr>
                    <p:blipFill>
                      <a:blip r:embed="rId5"/>
                      <a:srcRect/>
                      <a:stretch>
                        <a:fillRect/>
                      </a:stretch>
                    </p:blipFill>
                    <p:spPr bwMode="auto">
                      <a:xfrm>
                        <a:off x="914400" y="2730500"/>
                        <a:ext cx="5635625" cy="11366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6272809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371600" y="381000"/>
            <a:ext cx="7620000" cy="742950"/>
          </a:xfrm>
        </p:spPr>
        <p:txBody>
          <a:bodyPr/>
          <a:lstStyle/>
          <a:p>
            <a:r>
              <a:rPr lang="en-US" dirty="0"/>
              <a:t>Applying Multinomial Naive Bayes Classifiers to Text Classification</a:t>
            </a:r>
          </a:p>
        </p:txBody>
      </p:sp>
      <p:graphicFrame>
        <p:nvGraphicFramePr>
          <p:cNvPr id="5" name="Object 2"/>
          <p:cNvGraphicFramePr>
            <a:graphicFrameLocks noChangeAspect="1"/>
          </p:cNvGraphicFramePr>
          <p:nvPr>
            <p:extLst>
              <p:ext uri="{D42A27DB-BD31-4B8C-83A1-F6EECF244321}">
                <p14:modId xmlns:p14="http://schemas.microsoft.com/office/powerpoint/2010/main" val="4214424164"/>
              </p:ext>
            </p:extLst>
          </p:nvPr>
        </p:nvGraphicFramePr>
        <p:xfrm>
          <a:off x="1524000" y="3028950"/>
          <a:ext cx="6045200" cy="1103313"/>
        </p:xfrm>
        <a:graphic>
          <a:graphicData uri="http://schemas.openxmlformats.org/presentationml/2006/ole">
            <mc:AlternateContent xmlns:mc="http://schemas.openxmlformats.org/markup-compatibility/2006">
              <mc:Choice xmlns:v="urn:schemas-microsoft-com:vml" Requires="v">
                <p:oleObj name="Equation" r:id="rId2" imgW="2146300" imgH="393700" progId="Equation.3">
                  <p:embed/>
                </p:oleObj>
              </mc:Choice>
              <mc:Fallback>
                <p:oleObj name="Equation" r:id="rId2" imgW="2146300" imgH="393700" progId="Equation.3">
                  <p:embed/>
                  <p:pic>
                    <p:nvPicPr>
                      <p:cNvPr id="0" name=""/>
                      <p:cNvPicPr>
                        <a:picLocks noChangeAspect="1" noChangeArrowheads="1"/>
                      </p:cNvPicPr>
                      <p:nvPr/>
                    </p:nvPicPr>
                    <p:blipFill>
                      <a:blip r:embed="rId3"/>
                      <a:srcRect/>
                      <a:stretch>
                        <a:fillRect/>
                      </a:stretch>
                    </p:blipFill>
                    <p:spPr bwMode="auto">
                      <a:xfrm>
                        <a:off x="1524000" y="3028950"/>
                        <a:ext cx="6045200" cy="11033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TextBox 1"/>
          <p:cNvSpPr txBox="1"/>
          <p:nvPr/>
        </p:nvSpPr>
        <p:spPr>
          <a:xfrm>
            <a:off x="685801" y="1581150"/>
            <a:ext cx="7620000" cy="954107"/>
          </a:xfrm>
          <a:prstGeom prst="rect">
            <a:avLst/>
          </a:prstGeom>
          <a:noFill/>
        </p:spPr>
        <p:txBody>
          <a:bodyPr wrap="square" rtlCol="0">
            <a:spAutoFit/>
          </a:bodyPr>
          <a:lstStyle/>
          <a:p>
            <a:pPr eaLnBrk="1" hangingPunct="1"/>
            <a:r>
              <a:rPr lang="en-US" sz="2800" dirty="0">
                <a:latin typeface="Times New Roman" charset="0"/>
              </a:rPr>
              <a:t>positions </a:t>
            </a:r>
            <a:r>
              <a:rPr lang="en-US" sz="2800" dirty="0">
                <a:latin typeface="Calibri" charset="0"/>
                <a:sym typeface="Symbol" charset="0"/>
              </a:rPr>
              <a:t> all word positions in test document      			</a:t>
            </a:r>
            <a:endParaRPr lang="en-US" sz="2800" i="1" dirty="0">
              <a:latin typeface="Times New Roman" charset="0"/>
            </a:endParaRPr>
          </a:p>
        </p:txBody>
      </p:sp>
    </p:spTree>
    <p:extLst>
      <p:ext uri="{BB962C8B-B14F-4D97-AF65-F5344CB8AC3E}">
        <p14:creationId xmlns:p14="http://schemas.microsoft.com/office/powerpoint/2010/main" val="21608980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dirty="0"/>
              <a:t>Problems with multiplying lots of probs</a:t>
            </a:r>
          </a:p>
        </p:txBody>
      </p:sp>
      <p:sp>
        <p:nvSpPr>
          <p:cNvPr id="54276" name="Rectangle 3"/>
          <p:cNvSpPr>
            <a:spLocks noGrp="1" noChangeArrowheads="1"/>
          </p:cNvSpPr>
          <p:nvPr>
            <p:ph idx="1"/>
          </p:nvPr>
        </p:nvSpPr>
        <p:spPr>
          <a:xfrm>
            <a:off x="822960" y="1200150"/>
            <a:ext cx="8168640" cy="3657600"/>
          </a:xfrm>
        </p:spPr>
        <p:txBody>
          <a:bodyPr>
            <a:normAutofit fontScale="92500"/>
          </a:bodyPr>
          <a:lstStyle/>
          <a:p>
            <a:r>
              <a:rPr lang="en-US" sz="2400">
                <a:latin typeface="Calibri" charset="0"/>
              </a:rPr>
              <a:t>There's a problem with this:</a:t>
            </a:r>
          </a:p>
          <a:p>
            <a:endParaRPr lang="en-US" sz="2400">
              <a:latin typeface="Calibri" charset="0"/>
            </a:endParaRPr>
          </a:p>
          <a:p>
            <a:endParaRPr lang="en-US" sz="2400">
              <a:latin typeface="Calibri" charset="0"/>
            </a:endParaRPr>
          </a:p>
          <a:p>
            <a:endParaRPr lang="en-US" sz="2400">
              <a:latin typeface="Calibri" charset="0"/>
            </a:endParaRPr>
          </a:p>
          <a:p>
            <a:r>
              <a:rPr lang="en-US" sz="2200">
                <a:latin typeface="Calibri" charset="0"/>
              </a:rPr>
              <a:t>Multiplying lots of probabilities can result in floating-point underflow!</a:t>
            </a:r>
          </a:p>
          <a:p>
            <a:r>
              <a:rPr lang="en-US" sz="2200">
                <a:latin typeface="Calibri" charset="0"/>
              </a:rPr>
              <a:t>		.0006 * .0007 * .0009 * .01 * .5 * .000008….</a:t>
            </a:r>
          </a:p>
          <a:p>
            <a:r>
              <a:rPr lang="en-US" sz="2200">
                <a:latin typeface="Calibri" charset="0"/>
              </a:rPr>
              <a:t>Idea:   Use logs, because  log(</a:t>
            </a:r>
            <a:r>
              <a:rPr lang="en-US" sz="2200" i="1">
                <a:latin typeface="Calibri" charset="0"/>
              </a:rPr>
              <a:t>ab</a:t>
            </a:r>
            <a:r>
              <a:rPr lang="en-US" sz="2200">
                <a:latin typeface="Calibri" charset="0"/>
              </a:rPr>
              <a:t>) = log(</a:t>
            </a:r>
            <a:r>
              <a:rPr lang="en-US" sz="2200" i="1">
                <a:latin typeface="Calibri" charset="0"/>
              </a:rPr>
              <a:t>a</a:t>
            </a:r>
            <a:r>
              <a:rPr lang="en-US" sz="2200">
                <a:latin typeface="Calibri" charset="0"/>
              </a:rPr>
              <a:t>) + log(</a:t>
            </a:r>
            <a:r>
              <a:rPr lang="en-US" sz="2200" i="1">
                <a:latin typeface="Calibri" charset="0"/>
              </a:rPr>
              <a:t>b</a:t>
            </a:r>
            <a:r>
              <a:rPr lang="en-US" sz="2200">
                <a:latin typeface="Calibri" charset="0"/>
              </a:rPr>
              <a:t>)</a:t>
            </a:r>
          </a:p>
          <a:p>
            <a:r>
              <a:rPr lang="en-US" sz="2200">
                <a:latin typeface="Calibri" charset="0"/>
              </a:rPr>
              <a:t>		We'll sum logs of probabilities instead of multiplying probabilities!</a:t>
            </a:r>
          </a:p>
          <a:p>
            <a:endParaRPr lang="en-US" sz="2000">
              <a:latin typeface="Calibri" charset="0"/>
            </a:endParaRPr>
          </a:p>
          <a:p>
            <a:endParaRPr lang="en-US" sz="2000">
              <a:latin typeface="Calibri" charset="0"/>
            </a:endParaRPr>
          </a:p>
          <a:p>
            <a:endParaRPr lang="en-US" sz="2000">
              <a:latin typeface="Calibri" charset="0"/>
            </a:endParaRPr>
          </a:p>
        </p:txBody>
      </p:sp>
      <p:graphicFrame>
        <p:nvGraphicFramePr>
          <p:cNvPr id="5" name="Object 2">
            <a:extLst>
              <a:ext uri="{FF2B5EF4-FFF2-40B4-BE49-F238E27FC236}">
                <a16:creationId xmlns:a16="http://schemas.microsoft.com/office/drawing/2014/main" id="{8A740B1F-5B8B-4E44-83B7-29DC285E29EE}"/>
              </a:ext>
            </a:extLst>
          </p:cNvPr>
          <p:cNvGraphicFramePr>
            <a:graphicFrameLocks noChangeAspect="1"/>
          </p:cNvGraphicFramePr>
          <p:nvPr/>
        </p:nvGraphicFramePr>
        <p:xfrm>
          <a:off x="1943100" y="1809750"/>
          <a:ext cx="5257800" cy="959605"/>
        </p:xfrm>
        <a:graphic>
          <a:graphicData uri="http://schemas.openxmlformats.org/presentationml/2006/ole">
            <mc:AlternateContent xmlns:mc="http://schemas.openxmlformats.org/markup-compatibility/2006">
              <mc:Choice xmlns:v="urn:schemas-microsoft-com:vml" Requires="v">
                <p:oleObj name="Equation" r:id="rId2" imgW="2146300" imgH="393700" progId="Equation.3">
                  <p:embed/>
                </p:oleObj>
              </mc:Choice>
              <mc:Fallback>
                <p:oleObj name="Equation" r:id="rId2" imgW="2146300" imgH="393700" progId="Equation.3">
                  <p:embed/>
                  <p:pic>
                    <p:nvPicPr>
                      <p:cNvPr id="5" name="Object 2">
                        <a:extLst>
                          <a:ext uri="{FF2B5EF4-FFF2-40B4-BE49-F238E27FC236}">
                            <a16:creationId xmlns:a16="http://schemas.microsoft.com/office/drawing/2014/main" id="{8A740B1F-5B8B-4E44-83B7-29DC285E29EE}"/>
                          </a:ext>
                        </a:extLst>
                      </p:cNvPr>
                      <p:cNvPicPr>
                        <a:picLocks noChangeAspect="1" noChangeArrowheads="1"/>
                      </p:cNvPicPr>
                      <p:nvPr/>
                    </p:nvPicPr>
                    <p:blipFill>
                      <a:blip r:embed="rId3"/>
                      <a:srcRect/>
                      <a:stretch>
                        <a:fillRect/>
                      </a:stretch>
                    </p:blipFill>
                    <p:spPr bwMode="auto">
                      <a:xfrm>
                        <a:off x="1943100" y="1809750"/>
                        <a:ext cx="5257800" cy="95960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036073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27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27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t>We actually do everything in log space</a:t>
            </a:r>
          </a:p>
        </p:txBody>
      </p:sp>
      <p:sp>
        <p:nvSpPr>
          <p:cNvPr id="54276" name="Rectangle 3"/>
          <p:cNvSpPr>
            <a:spLocks noGrp="1" noChangeArrowheads="1"/>
          </p:cNvSpPr>
          <p:nvPr>
            <p:ph idx="1"/>
          </p:nvPr>
        </p:nvSpPr>
        <p:spPr>
          <a:xfrm>
            <a:off x="822960" y="1047750"/>
            <a:ext cx="8244840" cy="3976048"/>
          </a:xfrm>
        </p:spPr>
        <p:txBody>
          <a:bodyPr>
            <a:normAutofit/>
          </a:bodyPr>
          <a:lstStyle/>
          <a:p>
            <a:pPr marL="0" indent="0">
              <a:buNone/>
            </a:pPr>
            <a:r>
              <a:rPr lang="en-US" sz="2000">
                <a:latin typeface="Calibri" charset="0"/>
              </a:rPr>
              <a:t>Instead of this:</a:t>
            </a:r>
          </a:p>
          <a:p>
            <a:endParaRPr lang="en-US" sz="2000">
              <a:latin typeface="Calibri" charset="0"/>
            </a:endParaRPr>
          </a:p>
          <a:p>
            <a:pPr marL="0" indent="0">
              <a:buNone/>
            </a:pPr>
            <a:endParaRPr lang="en-US" sz="600">
              <a:latin typeface="Calibri" charset="0"/>
            </a:endParaRPr>
          </a:p>
          <a:p>
            <a:pPr marL="0" indent="0">
              <a:buNone/>
            </a:pPr>
            <a:r>
              <a:rPr lang="en-US" sz="2000">
                <a:latin typeface="Calibri" charset="0"/>
              </a:rPr>
              <a:t>This:</a:t>
            </a:r>
          </a:p>
          <a:p>
            <a:pPr marL="0" indent="0">
              <a:buNone/>
            </a:pPr>
            <a:endParaRPr lang="en-US" sz="1100">
              <a:latin typeface="Calibri" charset="0"/>
            </a:endParaRPr>
          </a:p>
          <a:p>
            <a:pPr marL="0" indent="0">
              <a:buNone/>
            </a:pPr>
            <a:r>
              <a:rPr lang="en-US" sz="2000">
                <a:latin typeface="Calibri" charset="0"/>
              </a:rPr>
              <a:t>Notes:</a:t>
            </a:r>
            <a:endParaRPr lang="en-US" sz="700">
              <a:latin typeface="Calibri" charset="0"/>
            </a:endParaRPr>
          </a:p>
          <a:p>
            <a:pPr marL="396875" lvl="1" indent="0">
              <a:buNone/>
            </a:pPr>
            <a:r>
              <a:rPr lang="en-US" sz="2000">
                <a:latin typeface="Calibri" charset="0"/>
              </a:rPr>
              <a:t>1) Taking log doesn't change the ranking of classes!</a:t>
            </a:r>
          </a:p>
          <a:p>
            <a:pPr marL="396875" lvl="1" indent="0">
              <a:buNone/>
            </a:pPr>
            <a:r>
              <a:rPr lang="en-US" sz="2000">
                <a:latin typeface="Calibri" charset="0"/>
              </a:rPr>
              <a:t>	The class with highest probability also has highest log probability!</a:t>
            </a:r>
          </a:p>
          <a:p>
            <a:pPr marL="396875" lvl="1" indent="0">
              <a:buNone/>
            </a:pPr>
            <a:r>
              <a:rPr lang="en-US" sz="2000">
                <a:latin typeface="Calibri" charset="0"/>
              </a:rPr>
              <a:t>2) It's a linear model:</a:t>
            </a:r>
          </a:p>
          <a:p>
            <a:pPr marL="396875" lvl="1" indent="0">
              <a:buNone/>
            </a:pPr>
            <a:r>
              <a:rPr lang="en-US" sz="2000">
                <a:latin typeface="Calibri" charset="0"/>
              </a:rPr>
              <a:t>	Just a max of a sum of weights: a </a:t>
            </a:r>
            <a:r>
              <a:rPr lang="en-US" sz="2000" b="1">
                <a:latin typeface="Calibri" charset="0"/>
              </a:rPr>
              <a:t>linear</a:t>
            </a:r>
            <a:r>
              <a:rPr lang="en-US" sz="2000">
                <a:latin typeface="Calibri" charset="0"/>
              </a:rPr>
              <a:t> function of the inputs</a:t>
            </a:r>
          </a:p>
          <a:p>
            <a:pPr marL="396875" lvl="1" indent="0">
              <a:buNone/>
            </a:pPr>
            <a:r>
              <a:rPr lang="en-US" sz="2000">
                <a:latin typeface="Calibri" charset="0"/>
              </a:rPr>
              <a:t>	So naive bayes is a </a:t>
            </a:r>
            <a:r>
              <a:rPr lang="en-US" sz="2000" b="1">
                <a:latin typeface="Calibri" charset="0"/>
              </a:rPr>
              <a:t>linear classifier</a:t>
            </a:r>
          </a:p>
        </p:txBody>
      </p:sp>
      <p:pic>
        <p:nvPicPr>
          <p:cNvPr id="6" name="Picture 5">
            <a:extLst>
              <a:ext uri="{FF2B5EF4-FFF2-40B4-BE49-F238E27FC236}">
                <a16:creationId xmlns:a16="http://schemas.microsoft.com/office/drawing/2014/main" id="{C5EBCC25-8AE3-C74C-91FF-A6535FA1994A}"/>
              </a:ext>
            </a:extLst>
          </p:cNvPr>
          <p:cNvPicPr>
            <a:picLocks noChangeAspect="1"/>
          </p:cNvPicPr>
          <p:nvPr/>
        </p:nvPicPr>
        <p:blipFill>
          <a:blip r:embed="rId2"/>
          <a:stretch>
            <a:fillRect/>
          </a:stretch>
        </p:blipFill>
        <p:spPr>
          <a:xfrm>
            <a:off x="2057400" y="1789669"/>
            <a:ext cx="5740399" cy="937646"/>
          </a:xfrm>
          <a:prstGeom prst="rect">
            <a:avLst/>
          </a:prstGeom>
        </p:spPr>
      </p:pic>
      <p:graphicFrame>
        <p:nvGraphicFramePr>
          <p:cNvPr id="5" name="Object 2">
            <a:extLst>
              <a:ext uri="{FF2B5EF4-FFF2-40B4-BE49-F238E27FC236}">
                <a16:creationId xmlns:a16="http://schemas.microsoft.com/office/drawing/2014/main" id="{8A740B1F-5B8B-4E44-83B7-29DC285E29EE}"/>
              </a:ext>
            </a:extLst>
          </p:cNvPr>
          <p:cNvGraphicFramePr>
            <a:graphicFrameLocks noChangeAspect="1"/>
          </p:cNvGraphicFramePr>
          <p:nvPr/>
        </p:nvGraphicFramePr>
        <p:xfrm>
          <a:off x="2853834" y="981748"/>
          <a:ext cx="3954492" cy="721737"/>
        </p:xfrm>
        <a:graphic>
          <a:graphicData uri="http://schemas.openxmlformats.org/presentationml/2006/ole">
            <mc:AlternateContent xmlns:mc="http://schemas.openxmlformats.org/markup-compatibility/2006">
              <mc:Choice xmlns:v="urn:schemas-microsoft-com:vml" Requires="v">
                <p:oleObj name="Equation" r:id="rId3" imgW="2146300" imgH="393700" progId="Equation.3">
                  <p:embed/>
                </p:oleObj>
              </mc:Choice>
              <mc:Fallback>
                <p:oleObj name="Equation" r:id="rId3" imgW="2146300" imgH="393700" progId="Equation.3">
                  <p:embed/>
                  <p:pic>
                    <p:nvPicPr>
                      <p:cNvPr id="5" name="Object 2">
                        <a:extLst>
                          <a:ext uri="{FF2B5EF4-FFF2-40B4-BE49-F238E27FC236}">
                            <a16:creationId xmlns:a16="http://schemas.microsoft.com/office/drawing/2014/main" id="{8A740B1F-5B8B-4E44-83B7-29DC285E29EE}"/>
                          </a:ext>
                        </a:extLst>
                      </p:cNvPr>
                      <p:cNvPicPr>
                        <a:picLocks noChangeAspect="1" noChangeArrowheads="1"/>
                      </p:cNvPicPr>
                      <p:nvPr/>
                    </p:nvPicPr>
                    <p:blipFill>
                      <a:blip r:embed="rId4"/>
                      <a:srcRect/>
                      <a:stretch>
                        <a:fillRect/>
                      </a:stretch>
                    </p:blipFill>
                    <p:spPr bwMode="auto">
                      <a:xfrm>
                        <a:off x="2853834" y="981748"/>
                        <a:ext cx="3954492" cy="7217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TextBox 1">
            <a:extLst>
              <a:ext uri="{FF2B5EF4-FFF2-40B4-BE49-F238E27FC236}">
                <a16:creationId xmlns:a16="http://schemas.microsoft.com/office/drawing/2014/main" id="{36832B95-5B70-3F40-B737-7F057106428C}"/>
              </a:ext>
            </a:extLst>
          </p:cNvPr>
          <p:cNvSpPr txBox="1"/>
          <p:nvPr/>
        </p:nvSpPr>
        <p:spPr>
          <a:xfrm>
            <a:off x="325925" y="4246075"/>
            <a:ext cx="184731"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Lucida Sans" charset="0"/>
              <a:ea typeface="ＭＳ Ｐゴシック" charset="0"/>
            </a:endParaRPr>
          </a:p>
        </p:txBody>
      </p:sp>
    </p:spTree>
    <p:extLst>
      <p:ext uri="{BB962C8B-B14F-4D97-AF65-F5344CB8AC3E}">
        <p14:creationId xmlns:p14="http://schemas.microsoft.com/office/powerpoint/2010/main" val="831996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27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27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27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276">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4276">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27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Formalizing the 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Classifier</a:t>
            </a:r>
          </a:p>
        </p:txBody>
      </p:sp>
    </p:spTree>
    <p:extLst>
      <p:ext uri="{BB962C8B-B14F-4D97-AF65-F5344CB8AC3E}">
        <p14:creationId xmlns:p14="http://schemas.microsoft.com/office/powerpoint/2010/main" val="210445638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Learning</a:t>
            </a:r>
          </a:p>
        </p:txBody>
      </p:sp>
    </p:spTree>
    <p:extLst>
      <p:ext uri="{BB962C8B-B14F-4D97-AF65-F5344CB8AC3E}">
        <p14:creationId xmlns:p14="http://schemas.microsoft.com/office/powerpoint/2010/main" val="210445638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1371600" y="361950"/>
            <a:ext cx="7467600" cy="742950"/>
          </a:xfrm>
        </p:spPr>
        <p:txBody>
          <a:bodyPr/>
          <a:lstStyle/>
          <a:p>
            <a:pPr eaLnBrk="1" hangingPunct="1"/>
            <a:r>
              <a:rPr lang="en-US" sz="3000" dirty="0">
                <a:latin typeface="Calibri" charset="0"/>
                <a:ea typeface="ＭＳ Ｐゴシック" charset="0"/>
                <a:cs typeface="ＭＳ Ｐゴシック" charset="0"/>
              </a:rPr>
              <a:t>Learning the Multinomial Na</a:t>
            </a:r>
            <a:r>
              <a:rPr lang="fr-FR" sz="3000" dirty="0" err="1">
                <a:latin typeface="Calibri" charset="0"/>
                <a:ea typeface="ＭＳ Ｐゴシック" charset="0"/>
                <a:cs typeface="ＭＳ Ｐゴシック" charset="0"/>
              </a:rPr>
              <a:t>ï</a:t>
            </a:r>
            <a:r>
              <a:rPr lang="en-US" sz="3000" dirty="0" err="1">
                <a:latin typeface="Calibri" charset="0"/>
                <a:ea typeface="ＭＳ Ｐゴシック" charset="0"/>
                <a:cs typeface="ＭＳ Ｐゴシック" charset="0"/>
              </a:rPr>
              <a:t>ve</a:t>
            </a:r>
            <a:r>
              <a:rPr lang="en-US" sz="3000" dirty="0">
                <a:latin typeface="Calibri" charset="0"/>
                <a:ea typeface="ＭＳ Ｐゴシック" charset="0"/>
                <a:cs typeface="ＭＳ Ｐゴシック" charset="0"/>
              </a:rPr>
              <a:t> Bayes Model</a:t>
            </a:r>
          </a:p>
        </p:txBody>
      </p:sp>
      <p:sp>
        <p:nvSpPr>
          <p:cNvPr id="41986" name="Rectangle 3"/>
          <p:cNvSpPr>
            <a:spLocks noGrp="1" noChangeArrowheads="1"/>
          </p:cNvSpPr>
          <p:nvPr>
            <p:ph type="body" idx="1"/>
          </p:nvPr>
        </p:nvSpPr>
        <p:spPr>
          <a:xfrm>
            <a:off x="533400" y="1352550"/>
            <a:ext cx="8077200" cy="1447800"/>
          </a:xfrm>
        </p:spPr>
        <p:txBody>
          <a:bodyPr/>
          <a:lstStyle/>
          <a:p>
            <a:pPr eaLnBrk="1" hangingPunct="1"/>
            <a:r>
              <a:rPr lang="en-US" sz="3200" dirty="0">
                <a:latin typeface="Calibri" charset="0"/>
                <a:ea typeface="ＭＳ Ｐゴシック" charset="0"/>
                <a:cs typeface="ＭＳ Ｐゴシック" charset="0"/>
              </a:rPr>
              <a:t>First attempt: maximum likelihood estimates</a:t>
            </a:r>
          </a:p>
          <a:p>
            <a:pPr lvl="1" eaLnBrk="1" hangingPunct="1"/>
            <a:r>
              <a:rPr lang="en-US" sz="2800" dirty="0">
                <a:latin typeface="Calibri" charset="0"/>
                <a:ea typeface="ＭＳ Ｐゴシック" charset="0"/>
              </a:rPr>
              <a:t>simply use the frequencies in the data</a:t>
            </a:r>
          </a:p>
        </p:txBody>
      </p:sp>
      <p:sp>
        <p:nvSpPr>
          <p:cNvPr id="41990" name="TextBox 20"/>
          <p:cNvSpPr txBox="1">
            <a:spLocks noChangeArrowheads="1"/>
          </p:cNvSpPr>
          <p:nvPr/>
        </p:nvSpPr>
        <p:spPr bwMode="auto">
          <a:xfrm>
            <a:off x="7620001" y="-67479"/>
            <a:ext cx="1033656"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600">
                <a:solidFill>
                  <a:srgbClr val="FBFCFF"/>
                </a:solidFill>
              </a:rPr>
              <a:t>Sec.13.3</a:t>
            </a:r>
          </a:p>
        </p:txBody>
      </p:sp>
      <p:graphicFrame>
        <p:nvGraphicFramePr>
          <p:cNvPr id="60" name="Object 2"/>
          <p:cNvGraphicFramePr>
            <a:graphicFrameLocks noChangeAspect="1"/>
          </p:cNvGraphicFramePr>
          <p:nvPr>
            <p:extLst>
              <p:ext uri="{D42A27DB-BD31-4B8C-83A1-F6EECF244321}">
                <p14:modId xmlns:p14="http://schemas.microsoft.com/office/powerpoint/2010/main" val="3340180986"/>
              </p:ext>
            </p:extLst>
          </p:nvPr>
        </p:nvGraphicFramePr>
        <p:xfrm>
          <a:off x="2530031" y="3666504"/>
          <a:ext cx="3870769" cy="1292846"/>
        </p:xfrm>
        <a:graphic>
          <a:graphicData uri="http://schemas.openxmlformats.org/presentationml/2006/ole">
            <mc:AlternateContent xmlns:mc="http://schemas.openxmlformats.org/markup-compatibility/2006">
              <mc:Choice xmlns:v="urn:schemas-microsoft-com:vml" Requires="v">
                <p:oleObj name="Equation" r:id="rId2" imgW="1739900" imgH="584200" progId="Equation.3">
                  <p:embed/>
                </p:oleObj>
              </mc:Choice>
              <mc:Fallback>
                <p:oleObj name="Equation" r:id="rId2" imgW="1739900" imgH="584200" progId="Equation.3">
                  <p:embed/>
                  <p:pic>
                    <p:nvPicPr>
                      <p:cNvPr id="0" name=""/>
                      <p:cNvPicPr>
                        <a:picLocks noChangeAspect="1" noChangeArrowheads="1"/>
                      </p:cNvPicPr>
                      <p:nvPr/>
                    </p:nvPicPr>
                    <p:blipFill>
                      <a:blip r:embed="rId3"/>
                      <a:srcRect/>
                      <a:stretch>
                        <a:fillRect/>
                      </a:stretch>
                    </p:blipFill>
                    <p:spPr bwMode="auto">
                      <a:xfrm>
                        <a:off x="2530031" y="3666504"/>
                        <a:ext cx="3870769" cy="1292846"/>
                      </a:xfrm>
                      <a:prstGeom prst="rect">
                        <a:avLst/>
                      </a:prstGeom>
                      <a:noFill/>
                      <a:ln>
                        <a:noFill/>
                      </a:ln>
                      <a:effectLst/>
                    </p:spPr>
                  </p:pic>
                </p:oleObj>
              </mc:Fallback>
            </mc:AlternateContent>
          </a:graphicData>
        </a:graphic>
      </p:graphicFrame>
      <p:graphicFrame>
        <p:nvGraphicFramePr>
          <p:cNvPr id="61" name="Object 3"/>
          <p:cNvGraphicFramePr>
            <a:graphicFrameLocks noChangeAspect="1"/>
          </p:cNvGraphicFramePr>
          <p:nvPr>
            <p:extLst>
              <p:ext uri="{D42A27DB-BD31-4B8C-83A1-F6EECF244321}">
                <p14:modId xmlns:p14="http://schemas.microsoft.com/office/powerpoint/2010/main" val="2350214483"/>
              </p:ext>
            </p:extLst>
          </p:nvPr>
        </p:nvGraphicFramePr>
        <p:xfrm>
          <a:off x="3009519" y="2592954"/>
          <a:ext cx="3524249" cy="980695"/>
        </p:xfrm>
        <a:graphic>
          <a:graphicData uri="http://schemas.openxmlformats.org/presentationml/2006/ole">
            <mc:AlternateContent xmlns:mc="http://schemas.openxmlformats.org/markup-compatibility/2006">
              <mc:Choice xmlns:v="urn:schemas-microsoft-com:vml" Requires="v">
                <p:oleObj name="Equation" r:id="rId4" imgW="1587500" imgH="444500" progId="Equation.3">
                  <p:embed/>
                </p:oleObj>
              </mc:Choice>
              <mc:Fallback>
                <p:oleObj name="Equation" r:id="rId4" imgW="1587500" imgH="444500" progId="Equation.3">
                  <p:embed/>
                  <p:pic>
                    <p:nvPicPr>
                      <p:cNvPr id="0" name=""/>
                      <p:cNvPicPr>
                        <a:picLocks noChangeAspect="1" noChangeArrowheads="1"/>
                      </p:cNvPicPr>
                      <p:nvPr/>
                    </p:nvPicPr>
                    <p:blipFill>
                      <a:blip r:embed="rId5"/>
                      <a:srcRect/>
                      <a:stretch>
                        <a:fillRect/>
                      </a:stretch>
                    </p:blipFill>
                    <p:spPr bwMode="auto">
                      <a:xfrm>
                        <a:off x="3009519" y="2592954"/>
                        <a:ext cx="3524249" cy="98069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3297703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4"/>
          <p:cNvSpPr>
            <a:spLocks noGrp="1" noChangeArrowheads="1"/>
          </p:cNvSpPr>
          <p:nvPr>
            <p:ph type="body" idx="1"/>
          </p:nvPr>
        </p:nvSpPr>
        <p:spPr>
          <a:xfrm>
            <a:off x="457200" y="3028950"/>
            <a:ext cx="8305800" cy="1600200"/>
          </a:xfrm>
        </p:spPr>
        <p:txBody>
          <a:bodyPr/>
          <a:lstStyle/>
          <a:p>
            <a:pPr>
              <a:lnSpc>
                <a:spcPct val="90000"/>
              </a:lnSpc>
            </a:pPr>
            <a:r>
              <a:rPr lang="en-US" dirty="0">
                <a:ea typeface="ＭＳ Ｐゴシック" charset="0"/>
                <a:cs typeface="Calibri"/>
              </a:rPr>
              <a:t>Create mega-document for topic </a:t>
            </a:r>
            <a:r>
              <a:rPr lang="en-US" i="1" dirty="0">
                <a:ea typeface="ＭＳ Ｐゴシック" charset="0"/>
                <a:cs typeface="Calibri"/>
              </a:rPr>
              <a:t>j</a:t>
            </a:r>
            <a:r>
              <a:rPr lang="en-US" dirty="0">
                <a:ea typeface="ＭＳ Ｐゴシック" charset="0"/>
                <a:cs typeface="Calibri"/>
              </a:rPr>
              <a:t> by concatenating all docs in this topic</a:t>
            </a:r>
          </a:p>
          <a:p>
            <a:pPr lvl="1">
              <a:lnSpc>
                <a:spcPct val="90000"/>
              </a:lnSpc>
            </a:pPr>
            <a:r>
              <a:rPr lang="en-US" sz="2400" dirty="0">
                <a:ea typeface="ＭＳ Ｐゴシック" charset="0"/>
                <a:cs typeface="Calibri"/>
              </a:rPr>
              <a:t>Use frequency of </a:t>
            </a:r>
            <a:r>
              <a:rPr lang="en-US" sz="2400" i="1" dirty="0">
                <a:ea typeface="ＭＳ Ｐゴシック" charset="0"/>
                <a:cs typeface="Calibri"/>
              </a:rPr>
              <a:t>w</a:t>
            </a:r>
            <a:r>
              <a:rPr lang="en-US" sz="2400" dirty="0">
                <a:ea typeface="ＭＳ Ｐゴシック" charset="0"/>
                <a:cs typeface="Calibri"/>
              </a:rPr>
              <a:t> in mega-document</a:t>
            </a:r>
            <a:endParaRPr lang="en-US" sz="2400" dirty="0">
              <a:latin typeface="Calibri"/>
              <a:ea typeface="ＭＳ Ｐゴシック" charset="0"/>
              <a:cs typeface="Calibri"/>
            </a:endParaRPr>
          </a:p>
          <a:p>
            <a:pPr eaLnBrk="1" hangingPunct="1">
              <a:lnSpc>
                <a:spcPct val="90000"/>
              </a:lnSpc>
            </a:pPr>
            <a:endParaRPr lang="en-US" sz="2200" dirty="0">
              <a:latin typeface="Calibri"/>
              <a:ea typeface="ＭＳ Ｐゴシック" charset="0"/>
              <a:cs typeface="Calibri"/>
            </a:endParaRPr>
          </a:p>
          <a:p>
            <a:pPr eaLnBrk="1" hangingPunct="1">
              <a:lnSpc>
                <a:spcPct val="90000"/>
              </a:lnSpc>
            </a:pPr>
            <a:endParaRPr lang="en-US" sz="2200" dirty="0">
              <a:latin typeface="Calibri"/>
              <a:ea typeface="ＭＳ Ｐゴシック" charset="0"/>
              <a:cs typeface="Calibri"/>
            </a:endParaRPr>
          </a:p>
        </p:txBody>
      </p:sp>
      <p:sp>
        <p:nvSpPr>
          <p:cNvPr id="58370" name="Rectangle 2"/>
          <p:cNvSpPr>
            <a:spLocks noGrp="1" noChangeArrowheads="1"/>
          </p:cNvSpPr>
          <p:nvPr>
            <p:ph type="title"/>
          </p:nvPr>
        </p:nvSpPr>
        <p:spPr/>
        <p:txBody>
          <a:bodyPr/>
          <a:lstStyle/>
          <a:p>
            <a:pPr eaLnBrk="1" hangingPunct="1"/>
            <a:r>
              <a:rPr lang="en-US" dirty="0">
                <a:latin typeface="Calibri" charset="0"/>
                <a:ea typeface="ＭＳ Ｐゴシック" charset="0"/>
                <a:cs typeface="ＭＳ Ｐゴシック" charset="0"/>
              </a:rPr>
              <a:t>Parameter estimation</a:t>
            </a:r>
          </a:p>
        </p:txBody>
      </p:sp>
      <p:sp>
        <p:nvSpPr>
          <p:cNvPr id="58373" name="Text Box 6"/>
          <p:cNvSpPr txBox="1">
            <a:spLocks noChangeArrowheads="1"/>
          </p:cNvSpPr>
          <p:nvPr/>
        </p:nvSpPr>
        <p:spPr bwMode="auto">
          <a:xfrm>
            <a:off x="3657600" y="1733550"/>
            <a:ext cx="5257800"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algn="ctr"/>
            <a:r>
              <a:rPr lang="en-US" dirty="0">
                <a:latin typeface="Calibri"/>
                <a:cs typeface="Calibri"/>
              </a:rPr>
              <a:t>fraction of times word </a:t>
            </a:r>
            <a:r>
              <a:rPr lang="en-US" i="1" dirty="0" err="1">
                <a:latin typeface="Calibri"/>
                <a:cs typeface="Calibri"/>
              </a:rPr>
              <a:t>w</a:t>
            </a:r>
            <a:r>
              <a:rPr lang="en-US" i="1" baseline="-25000" dirty="0" err="1">
                <a:latin typeface="Calibri"/>
                <a:cs typeface="Calibri"/>
              </a:rPr>
              <a:t>i</a:t>
            </a:r>
            <a:r>
              <a:rPr lang="en-US" dirty="0">
                <a:latin typeface="Calibri"/>
                <a:cs typeface="Calibri"/>
              </a:rPr>
              <a:t> appears </a:t>
            </a:r>
          </a:p>
          <a:p>
            <a:pPr algn="ctr"/>
            <a:r>
              <a:rPr lang="en-US" dirty="0">
                <a:latin typeface="Calibri"/>
                <a:cs typeface="Calibri"/>
              </a:rPr>
              <a:t>among all words in documents of topic </a:t>
            </a:r>
            <a:r>
              <a:rPr lang="en-US" i="1" dirty="0" err="1">
                <a:latin typeface="Calibri"/>
                <a:cs typeface="Calibri"/>
              </a:rPr>
              <a:t>c</a:t>
            </a:r>
            <a:r>
              <a:rPr lang="en-US" i="1" baseline="-25000" dirty="0" err="1">
                <a:latin typeface="Calibri"/>
                <a:cs typeface="Calibri"/>
              </a:rPr>
              <a:t>j</a:t>
            </a:r>
            <a:endParaRPr lang="en-US" i="1" baseline="-25000" dirty="0">
              <a:latin typeface="Calibri"/>
              <a:cs typeface="Calibri"/>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1414023520"/>
              </p:ext>
            </p:extLst>
          </p:nvPr>
        </p:nvGraphicFramePr>
        <p:xfrm>
          <a:off x="304800" y="1733550"/>
          <a:ext cx="3192462" cy="1066290"/>
        </p:xfrm>
        <a:graphic>
          <a:graphicData uri="http://schemas.openxmlformats.org/presentationml/2006/ole">
            <mc:AlternateContent xmlns:mc="http://schemas.openxmlformats.org/markup-compatibility/2006">
              <mc:Choice xmlns:v="urn:schemas-microsoft-com:vml" Requires="v">
                <p:oleObj name="Equation" r:id="rId2" imgW="1739900" imgH="584200" progId="Equation.3">
                  <p:embed/>
                </p:oleObj>
              </mc:Choice>
              <mc:Fallback>
                <p:oleObj name="Equation" r:id="rId2" imgW="1739900" imgH="584200" progId="Equation.3">
                  <p:embed/>
                  <p:pic>
                    <p:nvPicPr>
                      <p:cNvPr id="0" name=""/>
                      <p:cNvPicPr>
                        <a:picLocks noChangeAspect="1" noChangeArrowheads="1"/>
                      </p:cNvPicPr>
                      <p:nvPr/>
                    </p:nvPicPr>
                    <p:blipFill>
                      <a:blip r:embed="rId3"/>
                      <a:srcRect/>
                      <a:stretch>
                        <a:fillRect/>
                      </a:stretch>
                    </p:blipFill>
                    <p:spPr bwMode="auto">
                      <a:xfrm>
                        <a:off x="304800" y="1733550"/>
                        <a:ext cx="3192462" cy="106629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9506860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pPr eaLnBrk="1" hangingPunct="1"/>
            <a:r>
              <a:rPr lang="en-US">
                <a:latin typeface="Calibri" charset="0"/>
                <a:ea typeface="ＭＳ Ｐゴシック" charset="0"/>
                <a:cs typeface="ＭＳ Ｐゴシック" charset="0"/>
              </a:rPr>
              <a:t>Problem with Maximum Likelihood</a:t>
            </a:r>
          </a:p>
        </p:txBody>
      </p:sp>
      <p:sp>
        <p:nvSpPr>
          <p:cNvPr id="43010" name="Rectangle 4"/>
          <p:cNvSpPr>
            <a:spLocks noGrp="1" noChangeArrowheads="1"/>
          </p:cNvSpPr>
          <p:nvPr>
            <p:ph type="body" sz="half" idx="4294967295"/>
          </p:nvPr>
        </p:nvSpPr>
        <p:spPr>
          <a:xfrm>
            <a:off x="457200" y="1428750"/>
            <a:ext cx="8077200" cy="1771650"/>
          </a:xfrm>
        </p:spPr>
        <p:txBody>
          <a:bodyPr/>
          <a:lstStyle/>
          <a:p>
            <a:pPr eaLnBrk="1" hangingPunct="1">
              <a:lnSpc>
                <a:spcPct val="90000"/>
              </a:lnSpc>
            </a:pPr>
            <a:r>
              <a:rPr lang="en-US" dirty="0">
                <a:latin typeface="Calibri" charset="0"/>
                <a:ea typeface="ＭＳ Ｐゴシック" charset="0"/>
                <a:cs typeface="ＭＳ Ｐゴシック" charset="0"/>
              </a:rPr>
              <a:t>What if we have seen no training documents with the word </a:t>
            </a:r>
            <a:r>
              <a:rPr lang="en-US" b="1" i="1" dirty="0">
                <a:latin typeface="Calibri" charset="0"/>
                <a:ea typeface="ＭＳ Ｐゴシック" charset="0"/>
                <a:cs typeface="ＭＳ Ｐゴシック" charset="0"/>
              </a:rPr>
              <a:t>fantastic</a:t>
            </a:r>
            <a:r>
              <a:rPr lang="en-US" b="1" dirty="0">
                <a:latin typeface="Calibri" charset="0"/>
                <a:ea typeface="ＭＳ Ｐゴシック" charset="0"/>
                <a:cs typeface="ＭＳ Ｐゴシック" charset="0"/>
              </a:rPr>
              <a:t> </a:t>
            </a:r>
            <a:r>
              <a:rPr lang="en-US" dirty="0">
                <a:latin typeface="Calibri" charset="0"/>
                <a:ea typeface="ＭＳ Ｐゴシック" charset="0"/>
                <a:cs typeface="ＭＳ Ｐゴシック" charset="0"/>
              </a:rPr>
              <a:t> and classified in the topic </a:t>
            </a:r>
            <a:r>
              <a:rPr lang="en-US" b="1" dirty="0">
                <a:latin typeface="Calibri" charset="0"/>
                <a:ea typeface="ＭＳ Ｐゴシック" charset="0"/>
                <a:cs typeface="ＭＳ Ｐゴシック" charset="0"/>
              </a:rPr>
              <a:t>positive</a:t>
            </a:r>
            <a:r>
              <a:rPr lang="en-US" dirty="0">
                <a:latin typeface="Calibri" charset="0"/>
                <a:ea typeface="ＭＳ Ｐゴシック" charset="0"/>
                <a:cs typeface="ＭＳ Ｐゴシック" charset="0"/>
              </a:rPr>
              <a:t> (</a:t>
            </a:r>
            <a:r>
              <a:rPr lang="en-US" b="1" i="1" dirty="0">
                <a:latin typeface="Calibri" charset="0"/>
                <a:ea typeface="ＭＳ Ｐゴシック" charset="0"/>
                <a:cs typeface="ＭＳ Ｐゴシック" charset="0"/>
              </a:rPr>
              <a:t>thumbs-up)</a:t>
            </a:r>
            <a:r>
              <a:rPr lang="en-US" dirty="0">
                <a:latin typeface="Calibri" charset="0"/>
                <a:ea typeface="ＭＳ Ｐゴシック" charset="0"/>
                <a:cs typeface="ＭＳ Ｐゴシック" charset="0"/>
              </a:rPr>
              <a:t>?</a:t>
            </a:r>
          </a:p>
          <a:p>
            <a:pPr lvl="1" eaLnBrk="1" hangingPunct="1">
              <a:lnSpc>
                <a:spcPct val="90000"/>
              </a:lnSpc>
            </a:pPr>
            <a:endParaRPr lang="en-US" dirty="0">
              <a:latin typeface="Calibri" charset="0"/>
              <a:ea typeface="ＭＳ Ｐゴシック" charset="0"/>
            </a:endParaRPr>
          </a:p>
          <a:p>
            <a:pPr lvl="1" eaLnBrk="1" hangingPunct="1">
              <a:lnSpc>
                <a:spcPct val="90000"/>
              </a:lnSpc>
            </a:pPr>
            <a:endParaRPr lang="en-US" dirty="0">
              <a:latin typeface="Calibri" charset="0"/>
              <a:ea typeface="ＭＳ Ｐゴシック" charset="0"/>
            </a:endParaRPr>
          </a:p>
          <a:p>
            <a:pPr marL="0" indent="0" eaLnBrk="1" hangingPunct="1">
              <a:lnSpc>
                <a:spcPct val="90000"/>
              </a:lnSpc>
              <a:buNone/>
            </a:pPr>
            <a:endParaRPr lang="en-US" dirty="0">
              <a:latin typeface="Calibri" charset="0"/>
              <a:ea typeface="ＭＳ Ｐゴシック" charset="0"/>
            </a:endParaRPr>
          </a:p>
          <a:p>
            <a:pPr marL="0" indent="0" eaLnBrk="1" hangingPunct="1">
              <a:lnSpc>
                <a:spcPct val="90000"/>
              </a:lnSpc>
              <a:buNone/>
            </a:pPr>
            <a:endParaRPr lang="en-US" sz="600" dirty="0">
              <a:latin typeface="Calibri" charset="0"/>
              <a:ea typeface="ＭＳ Ｐゴシック" charset="0"/>
              <a:cs typeface="ＭＳ Ｐゴシック" charset="0"/>
            </a:endParaRPr>
          </a:p>
          <a:p>
            <a:pPr eaLnBrk="1" hangingPunct="1">
              <a:lnSpc>
                <a:spcPct val="90000"/>
              </a:lnSpc>
            </a:pPr>
            <a:r>
              <a:rPr lang="en-US" dirty="0">
                <a:latin typeface="Calibri" charset="0"/>
                <a:ea typeface="ＭＳ Ｐゴシック" charset="0"/>
                <a:cs typeface="ＭＳ Ｐゴシック" charset="0"/>
              </a:rPr>
              <a:t>Zero probabilities cannot be conditioned away, no matter the other evidence!</a:t>
            </a:r>
          </a:p>
        </p:txBody>
      </p:sp>
      <p:graphicFrame>
        <p:nvGraphicFramePr>
          <p:cNvPr id="43011" name="Object 2"/>
          <p:cNvGraphicFramePr>
            <a:graphicFrameLocks noGrp="1" noChangeAspect="1"/>
          </p:cNvGraphicFramePr>
          <p:nvPr>
            <p:ph sz="half" idx="4294967295"/>
            <p:extLst>
              <p:ext uri="{D42A27DB-BD31-4B8C-83A1-F6EECF244321}">
                <p14:modId xmlns:p14="http://schemas.microsoft.com/office/powerpoint/2010/main" val="2028936193"/>
              </p:ext>
            </p:extLst>
          </p:nvPr>
        </p:nvGraphicFramePr>
        <p:xfrm>
          <a:off x="1828800" y="2370138"/>
          <a:ext cx="5508625" cy="854075"/>
        </p:xfrm>
        <a:graphic>
          <a:graphicData uri="http://schemas.openxmlformats.org/presentationml/2006/ole">
            <mc:AlternateContent xmlns:mc="http://schemas.openxmlformats.org/markup-compatibility/2006">
              <mc:Choice xmlns:v="urn:schemas-microsoft-com:vml" Requires="v">
                <p:oleObj name="Equation" r:id="rId2" imgW="3683000" imgH="571500" progId="Equation.3">
                  <p:embed/>
                </p:oleObj>
              </mc:Choice>
              <mc:Fallback>
                <p:oleObj name="Equation" r:id="rId2" imgW="3683000" imgH="571500" progId="Equation.3">
                  <p:embed/>
                  <p:pic>
                    <p:nvPicPr>
                      <p:cNvPr id="0" name=""/>
                      <p:cNvPicPr>
                        <a:picLocks noChangeAspect="1" noChangeArrowheads="1"/>
                      </p:cNvPicPr>
                      <p:nvPr/>
                    </p:nvPicPr>
                    <p:blipFill>
                      <a:blip r:embed="rId3"/>
                      <a:srcRect/>
                      <a:stretch>
                        <a:fillRect/>
                      </a:stretch>
                    </p:blipFill>
                    <p:spPr bwMode="auto">
                      <a:xfrm>
                        <a:off x="1828800" y="2370138"/>
                        <a:ext cx="5508625" cy="854075"/>
                      </a:xfrm>
                      <a:prstGeom prst="rect">
                        <a:avLst/>
                      </a:prstGeom>
                      <a:noFill/>
                      <a:ln>
                        <a:noFill/>
                      </a:ln>
                    </p:spPr>
                  </p:pic>
                </p:oleObj>
              </mc:Fallback>
            </mc:AlternateContent>
          </a:graphicData>
        </a:graphic>
      </p:graphicFrame>
      <p:graphicFrame>
        <p:nvGraphicFramePr>
          <p:cNvPr id="43012" name="Object 3"/>
          <p:cNvGraphicFramePr>
            <a:graphicFrameLocks noChangeAspect="1"/>
          </p:cNvGraphicFramePr>
          <p:nvPr>
            <p:extLst>
              <p:ext uri="{D42A27DB-BD31-4B8C-83A1-F6EECF244321}">
                <p14:modId xmlns:p14="http://schemas.microsoft.com/office/powerpoint/2010/main" val="910014982"/>
              </p:ext>
            </p:extLst>
          </p:nvPr>
        </p:nvGraphicFramePr>
        <p:xfrm>
          <a:off x="2195513" y="4248150"/>
          <a:ext cx="4194175" cy="622300"/>
        </p:xfrm>
        <a:graphic>
          <a:graphicData uri="http://schemas.openxmlformats.org/presentationml/2006/ole">
            <mc:AlternateContent xmlns:mc="http://schemas.openxmlformats.org/markup-compatibility/2006">
              <mc:Choice xmlns:v="urn:schemas-microsoft-com:vml" Requires="v">
                <p:oleObj name="Equation" r:id="rId4" imgW="1968500" imgH="292100" progId="Equation.3">
                  <p:embed/>
                </p:oleObj>
              </mc:Choice>
              <mc:Fallback>
                <p:oleObj name="Equation" r:id="rId4" imgW="1968500" imgH="292100" progId="Equation.3">
                  <p:embed/>
                  <p:pic>
                    <p:nvPicPr>
                      <p:cNvPr id="0" name=""/>
                      <p:cNvPicPr>
                        <a:picLocks noChangeAspect="1" noChangeArrowheads="1"/>
                      </p:cNvPicPr>
                      <p:nvPr/>
                    </p:nvPicPr>
                    <p:blipFill>
                      <a:blip r:embed="rId5"/>
                      <a:srcRect/>
                      <a:stretch>
                        <a:fillRect/>
                      </a:stretch>
                    </p:blipFill>
                    <p:spPr bwMode="auto">
                      <a:xfrm>
                        <a:off x="2195513" y="4248150"/>
                        <a:ext cx="4194175" cy="622300"/>
                      </a:xfrm>
                      <a:prstGeom prst="rect">
                        <a:avLst/>
                      </a:prstGeom>
                      <a:noFill/>
                      <a:ln>
                        <a:noFill/>
                      </a:ln>
                      <a:effectLst/>
                    </p:spPr>
                  </p:pic>
                </p:oleObj>
              </mc:Fallback>
            </mc:AlternateContent>
          </a:graphicData>
        </a:graphic>
      </p:graphicFrame>
      <p:sp>
        <p:nvSpPr>
          <p:cNvPr id="43015" name="TextBox 24"/>
          <p:cNvSpPr txBox="1">
            <a:spLocks noChangeArrowheads="1"/>
          </p:cNvSpPr>
          <p:nvPr/>
        </p:nvSpPr>
        <p:spPr bwMode="auto">
          <a:xfrm>
            <a:off x="7620001" y="-67479"/>
            <a:ext cx="1033656"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600">
                <a:solidFill>
                  <a:srgbClr val="FBFCFF"/>
                </a:solidFill>
              </a:rPr>
              <a:t>Sec.13.3</a:t>
            </a:r>
          </a:p>
        </p:txBody>
      </p:sp>
    </p:spTree>
    <p:extLst>
      <p:ext uri="{BB962C8B-B14F-4D97-AF65-F5344CB8AC3E}">
        <p14:creationId xmlns:p14="http://schemas.microsoft.com/office/powerpoint/2010/main" val="383828327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a:xfrm>
            <a:off x="1371600" y="361950"/>
            <a:ext cx="7467600" cy="742950"/>
          </a:xfrm>
        </p:spPr>
        <p:txBody>
          <a:bodyPr/>
          <a:lstStyle/>
          <a:p>
            <a:r>
              <a:rPr lang="en-US" dirty="0"/>
              <a:t>Laplace (add-1) smoothing for Na</a:t>
            </a:r>
            <a:r>
              <a:rPr lang="fr-FR" dirty="0" err="1"/>
              <a:t>ï</a:t>
            </a:r>
            <a:r>
              <a:rPr lang="en-US" dirty="0" err="1"/>
              <a:t>ve</a:t>
            </a:r>
            <a:r>
              <a:rPr lang="en-US" dirty="0"/>
              <a:t> Bayes</a:t>
            </a:r>
          </a:p>
        </p:txBody>
      </p:sp>
      <p:graphicFrame>
        <p:nvGraphicFramePr>
          <p:cNvPr id="11" name="Object 2"/>
          <p:cNvGraphicFramePr>
            <a:graphicFrameLocks noChangeAspect="1"/>
          </p:cNvGraphicFramePr>
          <p:nvPr>
            <p:extLst>
              <p:ext uri="{D42A27DB-BD31-4B8C-83A1-F6EECF244321}">
                <p14:modId xmlns:p14="http://schemas.microsoft.com/office/powerpoint/2010/main" val="4032682244"/>
              </p:ext>
            </p:extLst>
          </p:nvPr>
        </p:nvGraphicFramePr>
        <p:xfrm>
          <a:off x="1306513" y="1581150"/>
          <a:ext cx="4505325" cy="1350963"/>
        </p:xfrm>
        <a:graphic>
          <a:graphicData uri="http://schemas.openxmlformats.org/presentationml/2006/ole">
            <mc:AlternateContent xmlns:mc="http://schemas.openxmlformats.org/markup-compatibility/2006">
              <mc:Choice xmlns:v="urn:schemas-microsoft-com:vml" Requires="v">
                <p:oleObj name="Equation" r:id="rId2" imgW="1905000" imgH="571500" progId="Equation.3">
                  <p:embed/>
                </p:oleObj>
              </mc:Choice>
              <mc:Fallback>
                <p:oleObj name="Equation" r:id="rId2" imgW="1905000" imgH="571500" progId="Equation.3">
                  <p:embed/>
                  <p:pic>
                    <p:nvPicPr>
                      <p:cNvPr id="0" name=""/>
                      <p:cNvPicPr>
                        <a:picLocks noChangeAspect="1" noChangeArrowheads="1"/>
                      </p:cNvPicPr>
                      <p:nvPr/>
                    </p:nvPicPr>
                    <p:blipFill>
                      <a:blip r:embed="rId3"/>
                      <a:srcRect/>
                      <a:stretch>
                        <a:fillRect/>
                      </a:stretch>
                    </p:blipFill>
                    <p:spPr bwMode="auto">
                      <a:xfrm>
                        <a:off x="1306513" y="1581150"/>
                        <a:ext cx="4505325" cy="1350963"/>
                      </a:xfrm>
                      <a:prstGeom prst="rect">
                        <a:avLst/>
                      </a:prstGeom>
                      <a:noFill/>
                    </p:spPr>
                  </p:pic>
                </p:oleObj>
              </mc:Fallback>
            </mc:AlternateContent>
          </a:graphicData>
        </a:graphic>
      </p:graphicFrame>
      <p:graphicFrame>
        <p:nvGraphicFramePr>
          <p:cNvPr id="9" name="Object 2"/>
          <p:cNvGraphicFramePr>
            <a:graphicFrameLocks noChangeAspect="1"/>
          </p:cNvGraphicFramePr>
          <p:nvPr>
            <p:extLst>
              <p:ext uri="{D42A27DB-BD31-4B8C-83A1-F6EECF244321}">
                <p14:modId xmlns:p14="http://schemas.microsoft.com/office/powerpoint/2010/main" val="2328567934"/>
              </p:ext>
            </p:extLst>
          </p:nvPr>
        </p:nvGraphicFramePr>
        <p:xfrm>
          <a:off x="2508250" y="3176588"/>
          <a:ext cx="3816350" cy="1681162"/>
        </p:xfrm>
        <a:graphic>
          <a:graphicData uri="http://schemas.openxmlformats.org/presentationml/2006/ole">
            <mc:AlternateContent xmlns:mc="http://schemas.openxmlformats.org/markup-compatibility/2006">
              <mc:Choice xmlns:v="urn:schemas-microsoft-com:vml" Requires="v">
                <p:oleObj name="Equation" r:id="rId4" imgW="1612900" imgH="711200" progId="Equation.3">
                  <p:embed/>
                </p:oleObj>
              </mc:Choice>
              <mc:Fallback>
                <p:oleObj name="Equation" r:id="rId4" imgW="1612900" imgH="711200" progId="Equation.3">
                  <p:embed/>
                  <p:pic>
                    <p:nvPicPr>
                      <p:cNvPr id="0" name=""/>
                      <p:cNvPicPr>
                        <a:picLocks noChangeAspect="1" noChangeArrowheads="1"/>
                      </p:cNvPicPr>
                      <p:nvPr/>
                    </p:nvPicPr>
                    <p:blipFill>
                      <a:blip r:embed="rId5"/>
                      <a:srcRect/>
                      <a:stretch>
                        <a:fillRect/>
                      </a:stretch>
                    </p:blipFill>
                    <p:spPr bwMode="auto">
                      <a:xfrm>
                        <a:off x="2508250" y="3176588"/>
                        <a:ext cx="3816350" cy="1681162"/>
                      </a:xfrm>
                      <a:prstGeom prst="rect">
                        <a:avLst/>
                      </a:prstGeom>
                      <a:noFill/>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2274791014"/>
              </p:ext>
            </p:extLst>
          </p:nvPr>
        </p:nvGraphicFramePr>
        <p:xfrm>
          <a:off x="1311720" y="1579109"/>
          <a:ext cx="4084638" cy="1350963"/>
        </p:xfrm>
        <a:graphic>
          <a:graphicData uri="http://schemas.openxmlformats.org/presentationml/2006/ole">
            <mc:AlternateContent xmlns:mc="http://schemas.openxmlformats.org/markup-compatibility/2006">
              <mc:Choice xmlns:v="urn:schemas-microsoft-com:vml" Requires="v">
                <p:oleObj name="Equation" r:id="rId6" imgW="1727200" imgH="571500" progId="Equation.3">
                  <p:embed/>
                </p:oleObj>
              </mc:Choice>
              <mc:Fallback>
                <p:oleObj name="Equation" r:id="rId6" imgW="1727200" imgH="571500" progId="Equation.3">
                  <p:embed/>
                  <p:pic>
                    <p:nvPicPr>
                      <p:cNvPr id="0" name=""/>
                      <p:cNvPicPr>
                        <a:picLocks noChangeAspect="1" noChangeArrowheads="1"/>
                      </p:cNvPicPr>
                      <p:nvPr/>
                    </p:nvPicPr>
                    <p:blipFill>
                      <a:blip r:embed="rId7"/>
                      <a:srcRect/>
                      <a:stretch>
                        <a:fillRect/>
                      </a:stretch>
                    </p:blipFill>
                    <p:spPr bwMode="auto">
                      <a:xfrm>
                        <a:off x="1311720" y="1579109"/>
                        <a:ext cx="4084638" cy="1350963"/>
                      </a:xfrm>
                      <a:prstGeom prst="rect">
                        <a:avLst/>
                      </a:prstGeom>
                      <a:noFill/>
                    </p:spPr>
                  </p:pic>
                </p:oleObj>
              </mc:Fallback>
            </mc:AlternateContent>
          </a:graphicData>
        </a:graphic>
      </p:graphicFrame>
    </p:spTree>
    <p:extLst>
      <p:ext uri="{BB962C8B-B14F-4D97-AF65-F5344CB8AC3E}">
        <p14:creationId xmlns:p14="http://schemas.microsoft.com/office/powerpoint/2010/main" val="136238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3"/>
          <p:cNvSpPr>
            <a:spLocks noGrp="1" noChangeArrowheads="1"/>
          </p:cNvSpPr>
          <p:nvPr>
            <p:ph type="title"/>
          </p:nvPr>
        </p:nvSpPr>
        <p:spPr>
          <a:xfrm>
            <a:off x="1219200" y="114300"/>
            <a:ext cx="7772400" cy="857250"/>
          </a:xfrm>
        </p:spPr>
        <p:txBody>
          <a:bodyPr/>
          <a:lstStyle/>
          <a:p>
            <a:r>
              <a:rPr lang="en-US" dirty="0"/>
              <a:t>Multinomial Naïve Bayes: Learning</a:t>
            </a:r>
          </a:p>
        </p:txBody>
      </p:sp>
      <p:sp>
        <p:nvSpPr>
          <p:cNvPr id="52230" name="Rectangle 4"/>
          <p:cNvSpPr>
            <a:spLocks noGrp="1" noChangeArrowheads="1"/>
          </p:cNvSpPr>
          <p:nvPr>
            <p:ph sz="quarter" idx="1"/>
          </p:nvPr>
        </p:nvSpPr>
        <p:spPr>
          <a:xfrm>
            <a:off x="152400" y="2132543"/>
            <a:ext cx="4572000" cy="2649007"/>
          </a:xfrm>
        </p:spPr>
        <p:txBody>
          <a:bodyPr/>
          <a:lstStyle/>
          <a:p>
            <a:pPr>
              <a:lnSpc>
                <a:spcPct val="90000"/>
              </a:lnSpc>
            </a:pPr>
            <a:r>
              <a:rPr lang="en-US" sz="2200" dirty="0">
                <a:latin typeface="Calibri"/>
                <a:cs typeface="Calibri"/>
              </a:rPr>
              <a:t>Calculate </a:t>
            </a:r>
            <a:r>
              <a:rPr lang="en-US" sz="2200" i="1" dirty="0">
                <a:latin typeface="Calibri"/>
                <a:cs typeface="Calibri"/>
              </a:rPr>
              <a:t>P</a:t>
            </a:r>
            <a:r>
              <a:rPr lang="en-US" sz="2200" dirty="0">
                <a:latin typeface="Calibri"/>
                <a:cs typeface="Calibri"/>
              </a:rPr>
              <a:t>(</a:t>
            </a:r>
            <a:r>
              <a:rPr lang="en-US" sz="2200" i="1" dirty="0" err="1">
                <a:latin typeface="Calibri"/>
                <a:cs typeface="Calibri"/>
              </a:rPr>
              <a:t>c</a:t>
            </a:r>
            <a:r>
              <a:rPr lang="en-US" sz="2200" i="1" baseline="-25000" dirty="0" err="1">
                <a:latin typeface="Calibri"/>
                <a:cs typeface="Calibri"/>
              </a:rPr>
              <a:t>j</a:t>
            </a:r>
            <a:r>
              <a:rPr lang="en-US" sz="2200" dirty="0">
                <a:latin typeface="Calibri"/>
                <a:cs typeface="Calibri"/>
              </a:rPr>
              <a:t>)</a:t>
            </a:r>
            <a:r>
              <a:rPr lang="en-US" sz="2200" i="1" dirty="0">
                <a:latin typeface="Calibri"/>
                <a:cs typeface="Calibri"/>
              </a:rPr>
              <a:t> </a:t>
            </a:r>
            <a:r>
              <a:rPr lang="en-US" sz="2200" dirty="0">
                <a:latin typeface="Calibri"/>
                <a:cs typeface="Calibri"/>
              </a:rPr>
              <a:t>terms</a:t>
            </a:r>
          </a:p>
          <a:p>
            <a:pPr lvl="1">
              <a:lnSpc>
                <a:spcPct val="90000"/>
              </a:lnSpc>
            </a:pPr>
            <a:r>
              <a:rPr lang="en-US" sz="2000" dirty="0">
                <a:latin typeface="Calibri"/>
                <a:cs typeface="Calibri"/>
              </a:rPr>
              <a:t>For each </a:t>
            </a:r>
            <a:r>
              <a:rPr lang="en-US" sz="2000" i="1" dirty="0" err="1">
                <a:latin typeface="Calibri"/>
                <a:cs typeface="Calibri"/>
              </a:rPr>
              <a:t>c</a:t>
            </a:r>
            <a:r>
              <a:rPr lang="en-US" sz="2000" i="1" baseline="-25000" dirty="0" err="1">
                <a:latin typeface="Calibri"/>
                <a:cs typeface="Calibri"/>
              </a:rPr>
              <a:t>j</a:t>
            </a:r>
            <a:r>
              <a:rPr lang="en-US" sz="2000" i="1" baseline="-25000" dirty="0">
                <a:latin typeface="Calibri"/>
                <a:cs typeface="Calibri"/>
              </a:rPr>
              <a:t> </a:t>
            </a:r>
            <a:r>
              <a:rPr lang="en-US" sz="2000" dirty="0">
                <a:latin typeface="Calibri"/>
                <a:cs typeface="Calibri"/>
              </a:rPr>
              <a:t>in </a:t>
            </a:r>
            <a:r>
              <a:rPr lang="en-US" sz="2000" i="1" dirty="0">
                <a:latin typeface="Calibri"/>
                <a:cs typeface="Calibri"/>
              </a:rPr>
              <a:t>C</a:t>
            </a:r>
            <a:r>
              <a:rPr lang="en-US" sz="2000" dirty="0">
                <a:latin typeface="Calibri"/>
                <a:cs typeface="Calibri"/>
              </a:rPr>
              <a:t> do</a:t>
            </a:r>
          </a:p>
          <a:p>
            <a:pPr marL="800100" lvl="2" indent="0">
              <a:lnSpc>
                <a:spcPct val="90000"/>
              </a:lnSpc>
              <a:buNone/>
            </a:pPr>
            <a:r>
              <a:rPr lang="en-US" i="1" dirty="0">
                <a:latin typeface="Calibri"/>
                <a:cs typeface="Calibri"/>
              </a:rPr>
              <a:t> </a:t>
            </a:r>
            <a:r>
              <a:rPr lang="en-US" i="1" dirty="0" err="1">
                <a:latin typeface="Calibri"/>
                <a:cs typeface="Calibri"/>
              </a:rPr>
              <a:t>docs</a:t>
            </a:r>
            <a:r>
              <a:rPr lang="en-US" i="1" baseline="-25000" dirty="0" err="1">
                <a:latin typeface="Calibri"/>
                <a:cs typeface="Calibri"/>
              </a:rPr>
              <a:t>j</a:t>
            </a:r>
            <a:r>
              <a:rPr lang="en-US" i="1" dirty="0">
                <a:latin typeface="Calibri"/>
                <a:cs typeface="Calibri"/>
              </a:rPr>
              <a:t> </a:t>
            </a:r>
            <a:r>
              <a:rPr lang="en-US" dirty="0">
                <a:latin typeface="Calibri"/>
                <a:cs typeface="Calibri"/>
                <a:sym typeface="Symbol" charset="2"/>
              </a:rPr>
              <a:t></a:t>
            </a:r>
            <a:r>
              <a:rPr lang="en-US" i="1" dirty="0">
                <a:latin typeface="Calibri"/>
                <a:cs typeface="Calibri"/>
                <a:sym typeface="Symbol" charset="2"/>
              </a:rPr>
              <a:t> </a:t>
            </a:r>
            <a:r>
              <a:rPr lang="en-US" dirty="0">
                <a:latin typeface="Calibri"/>
                <a:cs typeface="Calibri"/>
                <a:sym typeface="Symbol" charset="2"/>
              </a:rPr>
              <a:t>all docs with  class =</a:t>
            </a:r>
            <a:r>
              <a:rPr lang="en-US" i="1" dirty="0" err="1">
                <a:latin typeface="Calibri"/>
                <a:cs typeface="Calibri"/>
              </a:rPr>
              <a:t>c</a:t>
            </a:r>
            <a:r>
              <a:rPr lang="en-US" i="1" baseline="-25000" dirty="0" err="1">
                <a:latin typeface="Calibri"/>
                <a:cs typeface="Calibri"/>
              </a:rPr>
              <a:t>j</a:t>
            </a:r>
            <a:endParaRPr lang="en-US" i="1" baseline="-25000" dirty="0">
              <a:latin typeface="Calibri"/>
              <a:cs typeface="Calibri"/>
            </a:endParaRPr>
          </a:p>
          <a:p>
            <a:pPr>
              <a:spcBef>
                <a:spcPts val="0"/>
              </a:spcBef>
            </a:pPr>
            <a:endParaRPr lang="en-US" sz="2200" dirty="0">
              <a:latin typeface="Calibri"/>
              <a:cs typeface="Calibri"/>
            </a:endParaRPr>
          </a:p>
        </p:txBody>
      </p:sp>
      <p:graphicFrame>
        <p:nvGraphicFramePr>
          <p:cNvPr id="52226" name="Object 2"/>
          <p:cNvGraphicFramePr>
            <a:graphicFrameLocks noChangeAspect="1"/>
          </p:cNvGraphicFramePr>
          <p:nvPr>
            <p:extLst>
              <p:ext uri="{D42A27DB-BD31-4B8C-83A1-F6EECF244321}">
                <p14:modId xmlns:p14="http://schemas.microsoft.com/office/powerpoint/2010/main" val="1052552574"/>
              </p:ext>
            </p:extLst>
          </p:nvPr>
        </p:nvGraphicFramePr>
        <p:xfrm>
          <a:off x="5233147" y="3486150"/>
          <a:ext cx="3606053" cy="785935"/>
        </p:xfrm>
        <a:graphic>
          <a:graphicData uri="http://schemas.openxmlformats.org/presentationml/2006/ole">
            <mc:AlternateContent xmlns:mc="http://schemas.openxmlformats.org/markup-compatibility/2006">
              <mc:Choice xmlns:v="urn:schemas-microsoft-com:vml" Requires="v">
                <p:oleObj name="Equation" r:id="rId2" imgW="1981200" imgH="431800" progId="Equation.3">
                  <p:embed/>
                </p:oleObj>
              </mc:Choice>
              <mc:Fallback>
                <p:oleObj name="Equation" r:id="rId2" imgW="1981200" imgH="431800" progId="Equation.3">
                  <p:embed/>
                  <p:pic>
                    <p:nvPicPr>
                      <p:cNvPr id="0" name=""/>
                      <p:cNvPicPr>
                        <a:picLocks noChangeAspect="1" noChangeArrowheads="1"/>
                      </p:cNvPicPr>
                      <p:nvPr/>
                    </p:nvPicPr>
                    <p:blipFill>
                      <a:blip r:embed="rId3"/>
                      <a:srcRect/>
                      <a:stretch>
                        <a:fillRect/>
                      </a:stretch>
                    </p:blipFill>
                    <p:spPr bwMode="auto">
                      <a:xfrm>
                        <a:off x="5233147" y="3486150"/>
                        <a:ext cx="3606053" cy="785935"/>
                      </a:xfrm>
                      <a:prstGeom prst="rect">
                        <a:avLst/>
                      </a:prstGeom>
                      <a:noFill/>
                    </p:spPr>
                  </p:pic>
                </p:oleObj>
              </mc:Fallback>
            </mc:AlternateContent>
          </a:graphicData>
        </a:graphic>
      </p:graphicFrame>
      <p:graphicFrame>
        <p:nvGraphicFramePr>
          <p:cNvPr id="52227" name="Object 3"/>
          <p:cNvGraphicFramePr>
            <a:graphicFrameLocks noChangeAspect="1"/>
          </p:cNvGraphicFramePr>
          <p:nvPr>
            <p:extLst>
              <p:ext uri="{D42A27DB-BD31-4B8C-83A1-F6EECF244321}">
                <p14:modId xmlns:p14="http://schemas.microsoft.com/office/powerpoint/2010/main" val="3549097549"/>
              </p:ext>
            </p:extLst>
          </p:nvPr>
        </p:nvGraphicFramePr>
        <p:xfrm>
          <a:off x="1066800" y="3257550"/>
          <a:ext cx="3200400" cy="742122"/>
        </p:xfrm>
        <a:graphic>
          <a:graphicData uri="http://schemas.openxmlformats.org/presentationml/2006/ole">
            <mc:AlternateContent xmlns:mc="http://schemas.openxmlformats.org/markup-compatibility/2006">
              <mc:Choice xmlns:v="urn:schemas-microsoft-com:vml" Requires="v">
                <p:oleObj name="Equation" r:id="rId4" imgW="1752600" imgH="406400" progId="Equation.3">
                  <p:embed/>
                </p:oleObj>
              </mc:Choice>
              <mc:Fallback>
                <p:oleObj name="Equation" r:id="rId4" imgW="1752600" imgH="406400" progId="Equation.3">
                  <p:embed/>
                  <p:pic>
                    <p:nvPicPr>
                      <p:cNvPr id="0" name=""/>
                      <p:cNvPicPr>
                        <a:picLocks noChangeAspect="1" noChangeArrowheads="1"/>
                      </p:cNvPicPr>
                      <p:nvPr/>
                    </p:nvPicPr>
                    <p:blipFill>
                      <a:blip r:embed="rId5"/>
                      <a:srcRect/>
                      <a:stretch>
                        <a:fillRect/>
                      </a:stretch>
                    </p:blipFill>
                    <p:spPr bwMode="auto">
                      <a:xfrm>
                        <a:off x="1066800" y="3257550"/>
                        <a:ext cx="3200400" cy="742122"/>
                      </a:xfrm>
                      <a:prstGeom prst="rect">
                        <a:avLst/>
                      </a:prstGeom>
                      <a:noFill/>
                    </p:spPr>
                  </p:pic>
                </p:oleObj>
              </mc:Fallback>
            </mc:AlternateContent>
          </a:graphicData>
        </a:graphic>
      </p:graphicFrame>
      <p:sp>
        <p:nvSpPr>
          <p:cNvPr id="8" name="Rectangle 4"/>
          <p:cNvSpPr txBox="1">
            <a:spLocks noChangeArrowheads="1"/>
          </p:cNvSpPr>
          <p:nvPr/>
        </p:nvSpPr>
        <p:spPr bwMode="auto">
          <a:xfrm>
            <a:off x="4038600" y="2114550"/>
            <a:ext cx="5791200" cy="15240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spcBef>
                <a:spcPts val="0"/>
              </a:spcBef>
            </a:pPr>
            <a:r>
              <a:rPr lang="en-US" sz="2200" dirty="0">
                <a:latin typeface="Calibri"/>
                <a:cs typeface="Calibri"/>
              </a:rPr>
              <a:t>Calculate </a:t>
            </a:r>
            <a:r>
              <a:rPr lang="en-US" sz="2200" i="1" dirty="0">
                <a:latin typeface="Calibri"/>
                <a:cs typeface="Calibri"/>
              </a:rPr>
              <a:t>P</a:t>
            </a:r>
            <a:r>
              <a:rPr lang="en-US" sz="2200" dirty="0">
                <a:latin typeface="Calibri"/>
                <a:cs typeface="Calibri"/>
              </a:rPr>
              <a:t>(</a:t>
            </a:r>
            <a:r>
              <a:rPr lang="en-US" sz="2200" i="1" dirty="0" err="1">
                <a:latin typeface="Calibri"/>
                <a:cs typeface="Calibri"/>
              </a:rPr>
              <a:t>w</a:t>
            </a:r>
            <a:r>
              <a:rPr lang="en-US" sz="2200" i="1" baseline="-25000" dirty="0" err="1">
                <a:latin typeface="Calibri"/>
                <a:cs typeface="Calibri"/>
              </a:rPr>
              <a:t>k</a:t>
            </a:r>
            <a:r>
              <a:rPr lang="en-US" sz="2200" i="1" dirty="0">
                <a:latin typeface="Calibri"/>
                <a:cs typeface="Calibri"/>
              </a:rPr>
              <a:t> </a:t>
            </a:r>
            <a:r>
              <a:rPr lang="en-US" sz="2200" dirty="0">
                <a:latin typeface="Calibri"/>
                <a:cs typeface="Calibri"/>
              </a:rPr>
              <a:t>|</a:t>
            </a:r>
            <a:r>
              <a:rPr lang="en-US" sz="2200" i="1" dirty="0">
                <a:latin typeface="Calibri"/>
                <a:cs typeface="Calibri"/>
              </a:rPr>
              <a:t> </a:t>
            </a:r>
            <a:r>
              <a:rPr lang="en-US" sz="2200" i="1" dirty="0" err="1">
                <a:latin typeface="Calibri"/>
                <a:cs typeface="Calibri"/>
              </a:rPr>
              <a:t>c</a:t>
            </a:r>
            <a:r>
              <a:rPr lang="en-US" sz="2200" i="1" baseline="-25000" dirty="0" err="1">
                <a:latin typeface="Calibri"/>
                <a:cs typeface="Calibri"/>
              </a:rPr>
              <a:t>j</a:t>
            </a:r>
            <a:r>
              <a:rPr lang="en-US" sz="2200" dirty="0">
                <a:latin typeface="Calibri"/>
                <a:cs typeface="Calibri"/>
              </a:rPr>
              <a:t>)</a:t>
            </a:r>
            <a:r>
              <a:rPr lang="en-US" sz="2200" i="1" dirty="0">
                <a:latin typeface="Calibri"/>
                <a:cs typeface="Calibri"/>
              </a:rPr>
              <a:t> </a:t>
            </a:r>
            <a:r>
              <a:rPr lang="en-US" sz="2200" dirty="0">
                <a:latin typeface="Calibri"/>
                <a:cs typeface="Calibri"/>
              </a:rPr>
              <a:t>terms</a:t>
            </a:r>
          </a:p>
          <a:p>
            <a:pPr lvl="1">
              <a:spcBef>
                <a:spcPts val="0"/>
              </a:spcBef>
            </a:pPr>
            <a:r>
              <a:rPr lang="en-US" i="1" dirty="0" err="1">
                <a:latin typeface="Calibri"/>
                <a:ea typeface="ＭＳ Ｐゴシック" charset="-128"/>
                <a:cs typeface="Calibri"/>
              </a:rPr>
              <a:t>Text</a:t>
            </a:r>
            <a:r>
              <a:rPr lang="en-US" i="1" baseline="-25000" dirty="0" err="1">
                <a:latin typeface="Calibri"/>
                <a:ea typeface="ＭＳ Ｐゴシック" charset="-128"/>
                <a:cs typeface="Calibri"/>
              </a:rPr>
              <a:t>j</a:t>
            </a:r>
            <a:r>
              <a:rPr lang="en-US" i="1" dirty="0">
                <a:latin typeface="Calibri"/>
                <a:ea typeface="ＭＳ Ｐゴシック" charset="-128"/>
                <a:cs typeface="Calibri"/>
              </a:rPr>
              <a:t> </a:t>
            </a:r>
            <a:r>
              <a:rPr lang="en-US" dirty="0">
                <a:latin typeface="Calibri"/>
                <a:ea typeface="ＭＳ Ｐゴシック" charset="-128"/>
                <a:cs typeface="Calibri"/>
                <a:sym typeface="Symbol" charset="2"/>
              </a:rPr>
              <a:t> single doc containing all </a:t>
            </a:r>
            <a:r>
              <a:rPr lang="en-US" i="1" dirty="0" err="1">
                <a:latin typeface="Calibri"/>
                <a:ea typeface="ＭＳ Ｐゴシック" charset="-128"/>
                <a:cs typeface="Calibri"/>
              </a:rPr>
              <a:t>docs</a:t>
            </a:r>
            <a:r>
              <a:rPr lang="en-US" i="1" baseline="-25000" dirty="0" err="1">
                <a:latin typeface="Calibri"/>
                <a:ea typeface="ＭＳ Ｐゴシック" charset="-128"/>
                <a:cs typeface="Calibri"/>
              </a:rPr>
              <a:t>j</a:t>
            </a:r>
            <a:endParaRPr lang="en-US" i="1" baseline="-25000" dirty="0">
              <a:latin typeface="Calibri"/>
              <a:ea typeface="ＭＳ Ｐゴシック" charset="-128"/>
              <a:cs typeface="Calibri"/>
            </a:endParaRPr>
          </a:p>
          <a:p>
            <a:pPr lvl="1">
              <a:spcBef>
                <a:spcPts val="0"/>
              </a:spcBef>
            </a:pPr>
            <a:r>
              <a:rPr lang="en-US" dirty="0">
                <a:latin typeface="Calibri"/>
                <a:ea typeface="ＭＳ Ｐゴシック" charset="-128"/>
                <a:cs typeface="Calibri"/>
              </a:rPr>
              <a:t>For</a:t>
            </a:r>
            <a:r>
              <a:rPr lang="en-US" i="1" baseline="-25000" dirty="0">
                <a:latin typeface="Calibri"/>
                <a:ea typeface="ＭＳ Ｐゴシック" charset="-128"/>
                <a:cs typeface="Calibri"/>
              </a:rPr>
              <a:t> </a:t>
            </a:r>
            <a:r>
              <a:rPr lang="en-US" dirty="0">
                <a:latin typeface="Calibri"/>
                <a:ea typeface="ＭＳ Ｐゴシック" charset="-128"/>
                <a:cs typeface="Calibri"/>
              </a:rPr>
              <a:t>each word </a:t>
            </a:r>
            <a:r>
              <a:rPr lang="en-US" i="1" dirty="0" err="1">
                <a:latin typeface="Calibri"/>
                <a:ea typeface="ＭＳ Ｐゴシック" charset="-128"/>
                <a:cs typeface="Calibri"/>
              </a:rPr>
              <a:t>w</a:t>
            </a:r>
            <a:r>
              <a:rPr lang="en-US" i="1" baseline="-25000" dirty="0" err="1">
                <a:latin typeface="Calibri"/>
                <a:ea typeface="ＭＳ Ｐゴシック" charset="-128"/>
                <a:cs typeface="Calibri"/>
              </a:rPr>
              <a:t>k</a:t>
            </a:r>
            <a:r>
              <a:rPr lang="en-US" i="1" dirty="0">
                <a:latin typeface="Calibri"/>
                <a:ea typeface="ＭＳ Ｐゴシック" charset="-128"/>
                <a:cs typeface="Calibri"/>
              </a:rPr>
              <a:t> </a:t>
            </a:r>
            <a:r>
              <a:rPr lang="en-US" dirty="0">
                <a:latin typeface="Calibri"/>
                <a:ea typeface="ＭＳ Ｐゴシック" charset="-128"/>
                <a:cs typeface="Calibri"/>
              </a:rPr>
              <a:t>in </a:t>
            </a:r>
            <a:r>
              <a:rPr lang="en-US" i="1" dirty="0">
                <a:latin typeface="Calibri"/>
                <a:ea typeface="ＭＳ Ｐゴシック" charset="-128"/>
                <a:cs typeface="Calibri"/>
              </a:rPr>
              <a:t>Vocabulary</a:t>
            </a:r>
          </a:p>
          <a:p>
            <a:pPr marL="800100" lvl="2" indent="0">
              <a:spcBef>
                <a:spcPts val="0"/>
              </a:spcBef>
              <a:buNone/>
            </a:pPr>
            <a:r>
              <a:rPr lang="en-US" i="1" dirty="0">
                <a:latin typeface="Calibri"/>
                <a:ea typeface="ＭＳ Ｐゴシック" charset="-128"/>
                <a:cs typeface="Calibri"/>
              </a:rPr>
              <a:t>    </a:t>
            </a:r>
            <a:r>
              <a:rPr lang="en-US" i="1" dirty="0" err="1">
                <a:latin typeface="Calibri"/>
                <a:ea typeface="ＭＳ Ｐゴシック" charset="-128"/>
                <a:cs typeface="Calibri"/>
              </a:rPr>
              <a:t>n</a:t>
            </a:r>
            <a:r>
              <a:rPr lang="en-US" i="1" baseline="-25000" dirty="0" err="1">
                <a:latin typeface="Calibri"/>
                <a:ea typeface="ＭＳ Ｐゴシック" charset="-128"/>
                <a:cs typeface="Calibri"/>
              </a:rPr>
              <a:t>k</a:t>
            </a:r>
            <a:r>
              <a:rPr lang="en-US" i="1" dirty="0">
                <a:latin typeface="Calibri"/>
                <a:ea typeface="ＭＳ Ｐゴシック" charset="-128"/>
                <a:cs typeface="Calibri"/>
              </a:rPr>
              <a:t> </a:t>
            </a:r>
            <a:r>
              <a:rPr lang="en-US" dirty="0">
                <a:latin typeface="Calibri"/>
                <a:ea typeface="ＭＳ Ｐゴシック" charset="-128"/>
                <a:cs typeface="Calibri"/>
                <a:sym typeface="Symbol" charset="2"/>
              </a:rPr>
              <a:t> # of occurrences of </a:t>
            </a:r>
            <a:r>
              <a:rPr lang="en-US" i="1" dirty="0" err="1">
                <a:latin typeface="Calibri"/>
                <a:ea typeface="ＭＳ Ｐゴシック" charset="-128"/>
                <a:cs typeface="Calibri"/>
                <a:sym typeface="Symbol" charset="2"/>
              </a:rPr>
              <a:t>w</a:t>
            </a:r>
            <a:r>
              <a:rPr lang="en-US" i="1" baseline="-25000" dirty="0" err="1">
                <a:latin typeface="Calibri"/>
                <a:ea typeface="ＭＳ Ｐゴシック" charset="-128"/>
                <a:cs typeface="Calibri"/>
              </a:rPr>
              <a:t>k</a:t>
            </a:r>
            <a:r>
              <a:rPr lang="en-US" i="1" dirty="0">
                <a:latin typeface="Calibri"/>
                <a:ea typeface="ＭＳ Ｐゴシック" charset="-128"/>
                <a:cs typeface="Calibri"/>
              </a:rPr>
              <a:t> </a:t>
            </a:r>
            <a:r>
              <a:rPr lang="en-US" dirty="0">
                <a:latin typeface="Calibri"/>
                <a:ea typeface="ＭＳ Ｐゴシック" charset="-128"/>
                <a:cs typeface="Calibri"/>
              </a:rPr>
              <a:t>in </a:t>
            </a:r>
            <a:r>
              <a:rPr lang="en-US" i="1" dirty="0" err="1">
                <a:latin typeface="Calibri"/>
                <a:ea typeface="ＭＳ Ｐゴシック" charset="-128"/>
                <a:cs typeface="Calibri"/>
              </a:rPr>
              <a:t>Text</a:t>
            </a:r>
            <a:r>
              <a:rPr lang="en-US" i="1" baseline="-25000" dirty="0" err="1">
                <a:latin typeface="Calibri"/>
                <a:ea typeface="ＭＳ Ｐゴシック" charset="-128"/>
                <a:cs typeface="Calibri"/>
              </a:rPr>
              <a:t>j</a:t>
            </a:r>
            <a:endParaRPr lang="en-US" i="1" baseline="-25000" dirty="0">
              <a:latin typeface="Calibri"/>
              <a:ea typeface="ＭＳ Ｐゴシック" charset="-128"/>
              <a:cs typeface="Calibri"/>
            </a:endParaRPr>
          </a:p>
        </p:txBody>
      </p:sp>
      <p:sp>
        <p:nvSpPr>
          <p:cNvPr id="9" name="Rectangle 4"/>
          <p:cNvSpPr txBox="1">
            <a:spLocks noChangeArrowheads="1"/>
          </p:cNvSpPr>
          <p:nvPr/>
        </p:nvSpPr>
        <p:spPr bwMode="auto">
          <a:xfrm>
            <a:off x="152400" y="1581150"/>
            <a:ext cx="5410200" cy="3810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lnSpc>
                <a:spcPct val="90000"/>
              </a:lnSpc>
            </a:pPr>
            <a:r>
              <a:rPr lang="en-US" sz="2200" dirty="0">
                <a:latin typeface="Calibri" charset="0"/>
              </a:rPr>
              <a:t>From training corpus, extract </a:t>
            </a:r>
            <a:r>
              <a:rPr lang="en-US" sz="2200" i="1" dirty="0">
                <a:latin typeface="Times New Roman" charset="0"/>
              </a:rPr>
              <a:t>Vocabulary</a:t>
            </a:r>
            <a:endParaRPr lang="en-US" sz="2200" dirty="0">
              <a:latin typeface="Calibri" charset="0"/>
            </a:endParaRPr>
          </a:p>
        </p:txBody>
      </p:sp>
    </p:spTree>
    <p:extLst>
      <p:ext uri="{BB962C8B-B14F-4D97-AF65-F5344CB8AC3E}">
        <p14:creationId xmlns:p14="http://schemas.microsoft.com/office/powerpoint/2010/main" val="5569399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3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3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2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ED69B3-D5B3-574F-9818-F323E76C17EE}"/>
              </a:ext>
            </a:extLst>
          </p:cNvPr>
          <p:cNvSpPr>
            <a:spLocks noGrp="1"/>
          </p:cNvSpPr>
          <p:nvPr>
            <p:ph type="title"/>
          </p:nvPr>
        </p:nvSpPr>
        <p:spPr/>
        <p:txBody>
          <a:bodyPr/>
          <a:lstStyle/>
          <a:p>
            <a:r>
              <a:rPr lang="en-US"/>
              <a:t>Unknown words</a:t>
            </a:r>
          </a:p>
        </p:txBody>
      </p:sp>
      <p:sp>
        <p:nvSpPr>
          <p:cNvPr id="8" name="Content Placeholder 7">
            <a:extLst>
              <a:ext uri="{FF2B5EF4-FFF2-40B4-BE49-F238E27FC236}">
                <a16:creationId xmlns:a16="http://schemas.microsoft.com/office/drawing/2014/main" id="{273B1AD8-BC8F-A14C-8CC2-168C9A3E2FEB}"/>
              </a:ext>
            </a:extLst>
          </p:cNvPr>
          <p:cNvSpPr>
            <a:spLocks noGrp="1"/>
          </p:cNvSpPr>
          <p:nvPr>
            <p:ph idx="1"/>
          </p:nvPr>
        </p:nvSpPr>
        <p:spPr>
          <a:xfrm>
            <a:off x="822960" y="1200150"/>
            <a:ext cx="8016240" cy="3823648"/>
          </a:xfrm>
        </p:spPr>
        <p:txBody>
          <a:bodyPr>
            <a:normAutofit lnSpcReduction="10000"/>
          </a:bodyPr>
          <a:lstStyle/>
          <a:p>
            <a:r>
              <a:rPr lang="en-US" dirty="0"/>
              <a:t>What about unknown words</a:t>
            </a:r>
          </a:p>
          <a:p>
            <a:pPr lvl="1"/>
            <a:r>
              <a:rPr lang="en-US" dirty="0"/>
              <a:t>that appear in our test data </a:t>
            </a:r>
          </a:p>
          <a:p>
            <a:pPr lvl="1"/>
            <a:r>
              <a:rPr lang="en-US" dirty="0"/>
              <a:t>but not in our training data or vocabulary?</a:t>
            </a:r>
          </a:p>
          <a:p>
            <a:r>
              <a:rPr lang="en-US" dirty="0"/>
              <a:t>We </a:t>
            </a:r>
            <a:r>
              <a:rPr lang="en-US" b="1" dirty="0"/>
              <a:t>ignore</a:t>
            </a:r>
            <a:r>
              <a:rPr lang="en-US" dirty="0"/>
              <a:t> them</a:t>
            </a:r>
          </a:p>
          <a:p>
            <a:pPr lvl="1"/>
            <a:r>
              <a:rPr lang="en-US" dirty="0"/>
              <a:t>Remove them from the test document!</a:t>
            </a:r>
          </a:p>
          <a:p>
            <a:pPr lvl="1"/>
            <a:r>
              <a:rPr lang="en-US" dirty="0"/>
              <a:t>Pretend they weren't there!</a:t>
            </a:r>
          </a:p>
          <a:p>
            <a:pPr lvl="1"/>
            <a:r>
              <a:rPr lang="en-US" dirty="0"/>
              <a:t>Don't include any probability for them at all!</a:t>
            </a:r>
          </a:p>
          <a:p>
            <a:r>
              <a:rPr lang="en-US" dirty="0"/>
              <a:t>Why don't we build an unknown word model?</a:t>
            </a:r>
          </a:p>
          <a:p>
            <a:pPr lvl="1"/>
            <a:r>
              <a:rPr lang="en-US" dirty="0"/>
              <a:t>It doesn't help: knowing which class has more unknown words is not generally helpful!</a:t>
            </a:r>
          </a:p>
          <a:p>
            <a:endParaRPr lang="en-US" dirty="0"/>
          </a:p>
        </p:txBody>
      </p:sp>
    </p:spTree>
    <p:extLst>
      <p:ext uri="{BB962C8B-B14F-4D97-AF65-F5344CB8AC3E}">
        <p14:creationId xmlns:p14="http://schemas.microsoft.com/office/powerpoint/2010/main" val="264932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11A0F-A7E2-5F4E-AF6A-7166F8DB212F}"/>
              </a:ext>
            </a:extLst>
          </p:cNvPr>
          <p:cNvSpPr>
            <a:spLocks noGrp="1"/>
          </p:cNvSpPr>
          <p:nvPr>
            <p:ph type="title"/>
          </p:nvPr>
        </p:nvSpPr>
        <p:spPr/>
        <p:txBody>
          <a:bodyPr/>
          <a:lstStyle/>
          <a:p>
            <a:r>
              <a:rPr lang="en-US"/>
              <a:t>Stop words</a:t>
            </a:r>
          </a:p>
        </p:txBody>
      </p:sp>
      <p:sp>
        <p:nvSpPr>
          <p:cNvPr id="3" name="Content Placeholder 2">
            <a:extLst>
              <a:ext uri="{FF2B5EF4-FFF2-40B4-BE49-F238E27FC236}">
                <a16:creationId xmlns:a16="http://schemas.microsoft.com/office/drawing/2014/main" id="{0D25C8EB-58F8-3245-846E-B538A745351C}"/>
              </a:ext>
            </a:extLst>
          </p:cNvPr>
          <p:cNvSpPr>
            <a:spLocks noGrp="1"/>
          </p:cNvSpPr>
          <p:nvPr>
            <p:ph idx="1"/>
          </p:nvPr>
        </p:nvSpPr>
        <p:spPr>
          <a:xfrm>
            <a:off x="822960" y="1200150"/>
            <a:ext cx="7940040" cy="3733800"/>
          </a:xfrm>
        </p:spPr>
        <p:txBody>
          <a:bodyPr>
            <a:normAutofit/>
          </a:bodyPr>
          <a:lstStyle/>
          <a:p>
            <a:r>
              <a:rPr lang="en-US"/>
              <a:t>Some systems ignore stop words</a:t>
            </a:r>
          </a:p>
          <a:p>
            <a:pPr lvl="1"/>
            <a:r>
              <a:rPr lang="en-US" b="1" dirty="0"/>
              <a:t>Stop words:</a:t>
            </a:r>
            <a:r>
              <a:rPr lang="en-US" dirty="0"/>
              <a:t> very frequent words like </a:t>
            </a:r>
            <a:r>
              <a:rPr lang="en-US" i="1" dirty="0"/>
              <a:t>the </a:t>
            </a:r>
            <a:r>
              <a:rPr lang="en-US" dirty="0"/>
              <a:t>and </a:t>
            </a:r>
            <a:r>
              <a:rPr lang="en-US" i="1" dirty="0"/>
              <a:t>a</a:t>
            </a:r>
            <a:r>
              <a:rPr lang="en-US" dirty="0"/>
              <a:t>.</a:t>
            </a:r>
          </a:p>
          <a:p>
            <a:pPr lvl="2"/>
            <a:r>
              <a:rPr lang="en-US" dirty="0"/>
              <a:t>Sort the vocabulary by word frequency in training set</a:t>
            </a:r>
          </a:p>
          <a:p>
            <a:pPr lvl="2"/>
            <a:r>
              <a:rPr lang="en-US" dirty="0"/>
              <a:t>Call the top 10 or 50 words the </a:t>
            </a:r>
            <a:r>
              <a:rPr lang="en-US" b="1" dirty="0" err="1"/>
              <a:t>stopword</a:t>
            </a:r>
            <a:r>
              <a:rPr lang="en-US" b="1" dirty="0"/>
              <a:t> list</a:t>
            </a:r>
            <a:r>
              <a:rPr lang="en-US" dirty="0"/>
              <a:t>.</a:t>
            </a:r>
          </a:p>
          <a:p>
            <a:pPr lvl="2"/>
            <a:r>
              <a:rPr lang="en-US" dirty="0"/>
              <a:t>Remove all stop words from both training and test sets</a:t>
            </a:r>
          </a:p>
          <a:p>
            <a:pPr lvl="3"/>
            <a:r>
              <a:rPr lang="en-US" sz="1800" dirty="0"/>
              <a:t>As if they were never there!</a:t>
            </a:r>
          </a:p>
          <a:p>
            <a:r>
              <a:rPr lang="en-US" dirty="0"/>
              <a:t>But removing stop words doesn't usually help</a:t>
            </a:r>
          </a:p>
          <a:p>
            <a:pPr marL="458788" lvl="1" indent="-279400">
              <a:buFont typeface="Arial" panose="020B0604020202020204" pitchFamily="34" charset="0"/>
              <a:buChar char="•"/>
            </a:pPr>
            <a:r>
              <a:rPr lang="en-US" dirty="0"/>
              <a:t>So in practice most NB algorithms use </a:t>
            </a:r>
            <a:r>
              <a:rPr lang="en-US" b="1" dirty="0"/>
              <a:t>all</a:t>
            </a:r>
            <a:r>
              <a:rPr lang="en-US" dirty="0"/>
              <a:t> words and </a:t>
            </a:r>
            <a:r>
              <a:rPr lang="en-US" b="1" dirty="0"/>
              <a:t>don't</a:t>
            </a:r>
            <a:r>
              <a:rPr lang="en-US" dirty="0"/>
              <a:t> use </a:t>
            </a:r>
            <a:r>
              <a:rPr lang="en-US" dirty="0" err="1"/>
              <a:t>stopword</a:t>
            </a:r>
            <a:r>
              <a:rPr lang="en-US" dirty="0"/>
              <a:t> lists</a:t>
            </a:r>
          </a:p>
          <a:p>
            <a:endParaRPr lang="en-US" dirty="0"/>
          </a:p>
        </p:txBody>
      </p:sp>
    </p:spTree>
    <p:extLst>
      <p:ext uri="{BB962C8B-B14F-4D97-AF65-F5344CB8AC3E}">
        <p14:creationId xmlns:p14="http://schemas.microsoft.com/office/powerpoint/2010/main" val="16653131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Learning</a:t>
            </a:r>
          </a:p>
        </p:txBody>
      </p:sp>
    </p:spTree>
    <p:extLst>
      <p:ext uri="{BB962C8B-B14F-4D97-AF65-F5344CB8AC3E}">
        <p14:creationId xmlns:p14="http://schemas.microsoft.com/office/powerpoint/2010/main" val="363713134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Relationship to Language Modeling</a:t>
            </a:r>
          </a:p>
        </p:txBody>
      </p:sp>
    </p:spTree>
    <p:extLst>
      <p:ext uri="{BB962C8B-B14F-4D97-AF65-F5344CB8AC3E}">
        <p14:creationId xmlns:p14="http://schemas.microsoft.com/office/powerpoint/2010/main" val="363713134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Generative Model for Multinomial Na</a:t>
            </a:r>
            <a:r>
              <a:rPr lang="fr-FR" sz="2800" dirty="0" err="1"/>
              <a:t>ï</a:t>
            </a:r>
            <a:r>
              <a:rPr lang="en-US" sz="2800" dirty="0" err="1"/>
              <a:t>ve</a:t>
            </a:r>
            <a:r>
              <a:rPr lang="en-US" sz="2800" dirty="0"/>
              <a:t> Bayes</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39</a:t>
            </a:fld>
            <a:endParaRPr lang="en-US"/>
          </a:p>
        </p:txBody>
      </p:sp>
      <p:sp>
        <p:nvSpPr>
          <p:cNvPr id="32" name="Oval 4"/>
          <p:cNvSpPr>
            <a:spLocks noChangeArrowheads="1"/>
          </p:cNvSpPr>
          <p:nvPr/>
        </p:nvSpPr>
        <p:spPr bwMode="auto">
          <a:xfrm>
            <a:off x="3886200" y="1905000"/>
            <a:ext cx="11430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kern="0" dirty="0">
                <a:solidFill>
                  <a:sysClr val="windowText" lastClr="000000"/>
                </a:solidFill>
              </a:rPr>
              <a:t>c</a:t>
            </a:r>
            <a:r>
              <a:rPr kumimoji="0" lang="en-US" sz="1800" b="0" i="0" u="none" strike="noStrike" kern="0" cap="none" spc="0" normalizeH="0" baseline="0" noProof="0" dirty="0">
                <a:ln>
                  <a:noFill/>
                </a:ln>
                <a:solidFill>
                  <a:sysClr val="windowText" lastClr="000000"/>
                </a:solidFill>
                <a:effectLst/>
                <a:uLnTx/>
                <a:uFillTx/>
              </a:rPr>
              <a:t>=China</a:t>
            </a:r>
          </a:p>
        </p:txBody>
      </p:sp>
      <p:sp>
        <p:nvSpPr>
          <p:cNvPr id="33" name="Oval 6"/>
          <p:cNvSpPr>
            <a:spLocks noChangeArrowheads="1"/>
          </p:cNvSpPr>
          <p:nvPr/>
        </p:nvSpPr>
        <p:spPr bwMode="auto">
          <a:xfrm>
            <a:off x="533400" y="3790950"/>
            <a:ext cx="16002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ysClr val="windowText" lastClr="000000"/>
                </a:solidFill>
                <a:effectLst/>
                <a:uLnTx/>
                <a:uFillTx/>
              </a:rPr>
              <a:t>X</a:t>
            </a:r>
            <a:r>
              <a:rPr kumimoji="0" lang="en-US" sz="1800" b="0" i="1" u="none" strike="noStrike" kern="0" cap="none" spc="0" normalizeH="0" baseline="-25000" noProof="0" dirty="0">
                <a:ln>
                  <a:noFill/>
                </a:ln>
                <a:solidFill>
                  <a:sysClr val="windowText" lastClr="000000"/>
                </a:solidFill>
                <a:effectLst/>
                <a:uLnTx/>
                <a:uFillTx/>
              </a:rPr>
              <a:t>1</a:t>
            </a:r>
            <a:r>
              <a:rPr kumimoji="0" lang="en-US" sz="1800" b="0" i="1" u="none" strike="noStrike" kern="0" cap="none" spc="0" normalizeH="0" baseline="0" noProof="0" dirty="0">
                <a:ln>
                  <a:noFill/>
                </a:ln>
                <a:solidFill>
                  <a:sysClr val="windowText" lastClr="000000"/>
                </a:solidFill>
                <a:effectLst/>
                <a:uLnTx/>
                <a:uFillTx/>
              </a:rPr>
              <a:t>=Shanghai</a:t>
            </a:r>
            <a:endParaRPr kumimoji="0" lang="en-US" sz="1800" b="0" i="0" u="none" strike="noStrike" kern="0" cap="none" spc="0" normalizeH="0" baseline="-25000" noProof="0" dirty="0">
              <a:ln>
                <a:noFill/>
              </a:ln>
              <a:solidFill>
                <a:sysClr val="windowText" lastClr="000000"/>
              </a:solidFill>
              <a:effectLst/>
              <a:uLnTx/>
              <a:uFillTx/>
            </a:endParaRPr>
          </a:p>
        </p:txBody>
      </p:sp>
      <p:sp>
        <p:nvSpPr>
          <p:cNvPr id="39" name="Line 14"/>
          <p:cNvSpPr>
            <a:spLocks noChangeShapeType="1"/>
          </p:cNvSpPr>
          <p:nvPr/>
        </p:nvSpPr>
        <p:spPr bwMode="auto">
          <a:xfrm flipH="1">
            <a:off x="1524000" y="2419350"/>
            <a:ext cx="2590800" cy="137160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0" name="Line 15"/>
          <p:cNvSpPr>
            <a:spLocks noChangeShapeType="1"/>
          </p:cNvSpPr>
          <p:nvPr/>
        </p:nvSpPr>
        <p:spPr bwMode="auto">
          <a:xfrm flipH="1">
            <a:off x="3048000" y="2514600"/>
            <a:ext cx="1295400" cy="127635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1" name="Line 16"/>
          <p:cNvSpPr>
            <a:spLocks noChangeShapeType="1"/>
          </p:cNvSpPr>
          <p:nvPr/>
        </p:nvSpPr>
        <p:spPr bwMode="auto">
          <a:xfrm flipH="1">
            <a:off x="4419600" y="2495550"/>
            <a:ext cx="76200" cy="129540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3" name="Line 18"/>
          <p:cNvSpPr>
            <a:spLocks noChangeShapeType="1"/>
          </p:cNvSpPr>
          <p:nvPr/>
        </p:nvSpPr>
        <p:spPr bwMode="auto">
          <a:xfrm>
            <a:off x="4648200" y="2495550"/>
            <a:ext cx="1447800" cy="129540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4" name="Line 19"/>
          <p:cNvSpPr>
            <a:spLocks noChangeShapeType="1"/>
          </p:cNvSpPr>
          <p:nvPr/>
        </p:nvSpPr>
        <p:spPr bwMode="auto">
          <a:xfrm>
            <a:off x="4800600" y="2438400"/>
            <a:ext cx="2667000" cy="135255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1" name="Oval 6"/>
          <p:cNvSpPr>
            <a:spLocks noChangeArrowheads="1"/>
          </p:cNvSpPr>
          <p:nvPr/>
        </p:nvSpPr>
        <p:spPr bwMode="auto">
          <a:xfrm>
            <a:off x="2286000" y="3790950"/>
            <a:ext cx="12954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ysClr val="windowText" lastClr="000000"/>
                </a:solidFill>
                <a:effectLst/>
                <a:uLnTx/>
                <a:uFillTx/>
              </a:rPr>
              <a:t>X</a:t>
            </a:r>
            <a:r>
              <a:rPr kumimoji="0" lang="en-US" sz="1800" b="0" i="1" u="none" strike="noStrike" kern="0" cap="none" spc="0" normalizeH="0" baseline="-25000" noProof="0" dirty="0">
                <a:ln>
                  <a:noFill/>
                </a:ln>
                <a:solidFill>
                  <a:sysClr val="windowText" lastClr="000000"/>
                </a:solidFill>
                <a:effectLst/>
                <a:uLnTx/>
                <a:uFillTx/>
              </a:rPr>
              <a:t>2</a:t>
            </a:r>
            <a:r>
              <a:rPr kumimoji="0" lang="en-US" sz="1800" b="0" i="1" u="none" strike="noStrike" kern="0" cap="none" spc="0" normalizeH="0" baseline="0" noProof="0" dirty="0">
                <a:ln>
                  <a:noFill/>
                </a:ln>
                <a:solidFill>
                  <a:sysClr val="windowText" lastClr="000000"/>
                </a:solidFill>
                <a:effectLst/>
                <a:uLnTx/>
                <a:uFillTx/>
              </a:rPr>
              <a:t>=and</a:t>
            </a:r>
            <a:endParaRPr kumimoji="0" lang="en-US" sz="1800" b="0" i="0" u="none" strike="noStrike" kern="0" cap="none" spc="0" normalizeH="0" baseline="-25000" noProof="0" dirty="0">
              <a:ln>
                <a:noFill/>
              </a:ln>
              <a:solidFill>
                <a:sysClr val="windowText" lastClr="000000"/>
              </a:solidFill>
              <a:effectLst/>
              <a:uLnTx/>
              <a:uFillTx/>
            </a:endParaRPr>
          </a:p>
        </p:txBody>
      </p:sp>
      <p:sp>
        <p:nvSpPr>
          <p:cNvPr id="72" name="Oval 6"/>
          <p:cNvSpPr>
            <a:spLocks noChangeArrowheads="1"/>
          </p:cNvSpPr>
          <p:nvPr/>
        </p:nvSpPr>
        <p:spPr bwMode="auto">
          <a:xfrm>
            <a:off x="3657600" y="3790950"/>
            <a:ext cx="16764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ysClr val="windowText" lastClr="000000"/>
                </a:solidFill>
                <a:effectLst/>
                <a:uLnTx/>
                <a:uFillTx/>
              </a:rPr>
              <a:t>X</a:t>
            </a:r>
            <a:r>
              <a:rPr kumimoji="0" lang="en-US" sz="1800" b="0" i="1" u="none" strike="noStrike" kern="0" cap="none" spc="0" normalizeH="0" baseline="-25000" noProof="0" dirty="0">
                <a:ln>
                  <a:noFill/>
                </a:ln>
                <a:solidFill>
                  <a:sysClr val="windowText" lastClr="000000"/>
                </a:solidFill>
                <a:effectLst/>
                <a:uLnTx/>
                <a:uFillTx/>
              </a:rPr>
              <a:t>3</a:t>
            </a:r>
            <a:r>
              <a:rPr kumimoji="0" lang="en-US" sz="1800" b="0" i="1" u="none" strike="noStrike" kern="0" cap="none" spc="0" normalizeH="0" baseline="0" noProof="0" dirty="0">
                <a:ln>
                  <a:noFill/>
                </a:ln>
                <a:solidFill>
                  <a:sysClr val="windowText" lastClr="000000"/>
                </a:solidFill>
                <a:effectLst/>
                <a:uLnTx/>
                <a:uFillTx/>
              </a:rPr>
              <a:t>=Shenzhen</a:t>
            </a:r>
            <a:endParaRPr kumimoji="0" lang="en-US" sz="1800" b="0" i="0" u="none" strike="noStrike" kern="0" cap="none" spc="0" normalizeH="0" baseline="-25000" noProof="0" dirty="0">
              <a:ln>
                <a:noFill/>
              </a:ln>
              <a:solidFill>
                <a:sysClr val="windowText" lastClr="000000"/>
              </a:solidFill>
              <a:effectLst/>
              <a:uLnTx/>
              <a:uFillTx/>
            </a:endParaRPr>
          </a:p>
        </p:txBody>
      </p:sp>
      <p:sp>
        <p:nvSpPr>
          <p:cNvPr id="73" name="Oval 6"/>
          <p:cNvSpPr>
            <a:spLocks noChangeArrowheads="1"/>
          </p:cNvSpPr>
          <p:nvPr/>
        </p:nvSpPr>
        <p:spPr bwMode="auto">
          <a:xfrm>
            <a:off x="5486400" y="3790950"/>
            <a:ext cx="12954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ysClr val="windowText" lastClr="000000"/>
                </a:solidFill>
                <a:effectLst/>
                <a:uLnTx/>
                <a:uFillTx/>
              </a:rPr>
              <a:t>X</a:t>
            </a:r>
            <a:r>
              <a:rPr kumimoji="0" lang="en-US" sz="1800" b="0" i="1" u="none" strike="noStrike" kern="0" cap="none" spc="0" normalizeH="0" baseline="-25000" noProof="0" dirty="0">
                <a:ln>
                  <a:noFill/>
                </a:ln>
                <a:solidFill>
                  <a:sysClr val="windowText" lastClr="000000"/>
                </a:solidFill>
                <a:effectLst/>
                <a:uLnTx/>
                <a:uFillTx/>
              </a:rPr>
              <a:t>4</a:t>
            </a:r>
            <a:r>
              <a:rPr kumimoji="0" lang="en-US" sz="1800" b="0" i="1" u="none" strike="noStrike" kern="0" cap="none" spc="0" normalizeH="0" baseline="0" noProof="0" dirty="0">
                <a:ln>
                  <a:noFill/>
                </a:ln>
                <a:solidFill>
                  <a:sysClr val="windowText" lastClr="000000"/>
                </a:solidFill>
                <a:effectLst/>
                <a:uLnTx/>
                <a:uFillTx/>
              </a:rPr>
              <a:t>=issue</a:t>
            </a:r>
            <a:endParaRPr kumimoji="0" lang="en-US" sz="1800" b="0" i="0" u="none" strike="noStrike" kern="0" cap="none" spc="0" normalizeH="0" baseline="-25000" noProof="0" dirty="0">
              <a:ln>
                <a:noFill/>
              </a:ln>
              <a:solidFill>
                <a:sysClr val="windowText" lastClr="000000"/>
              </a:solidFill>
              <a:effectLst/>
              <a:uLnTx/>
              <a:uFillTx/>
            </a:endParaRPr>
          </a:p>
        </p:txBody>
      </p:sp>
      <p:sp>
        <p:nvSpPr>
          <p:cNvPr id="74" name="Oval 6"/>
          <p:cNvSpPr>
            <a:spLocks noChangeArrowheads="1"/>
          </p:cNvSpPr>
          <p:nvPr/>
        </p:nvSpPr>
        <p:spPr bwMode="auto">
          <a:xfrm>
            <a:off x="6934200" y="3790950"/>
            <a:ext cx="12954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ysClr val="windowText" lastClr="000000"/>
                </a:solidFill>
                <a:effectLst/>
                <a:uLnTx/>
                <a:uFillTx/>
              </a:rPr>
              <a:t>X</a:t>
            </a:r>
            <a:r>
              <a:rPr kumimoji="0" lang="en-US" sz="1800" b="0" i="1" u="none" strike="noStrike" kern="0" cap="none" spc="0" normalizeH="0" baseline="-25000" noProof="0" dirty="0">
                <a:ln>
                  <a:noFill/>
                </a:ln>
                <a:solidFill>
                  <a:sysClr val="windowText" lastClr="000000"/>
                </a:solidFill>
                <a:effectLst/>
                <a:uLnTx/>
                <a:uFillTx/>
              </a:rPr>
              <a:t>5</a:t>
            </a:r>
            <a:r>
              <a:rPr kumimoji="0" lang="en-US" sz="1800" b="0" i="1" u="none" strike="noStrike" kern="0" cap="none" spc="0" normalizeH="0" baseline="0" noProof="0" dirty="0">
                <a:ln>
                  <a:noFill/>
                </a:ln>
                <a:solidFill>
                  <a:sysClr val="windowText" lastClr="000000"/>
                </a:solidFill>
                <a:effectLst/>
                <a:uLnTx/>
                <a:uFillTx/>
              </a:rPr>
              <a:t>=bonds</a:t>
            </a:r>
            <a:endParaRPr kumimoji="0" lang="en-US" sz="1800" b="0" i="0" u="none" strike="noStrike" kern="0" cap="none" spc="0" normalizeH="0" baseline="-25000" noProof="0" dirty="0">
              <a:ln>
                <a:noFill/>
              </a:ln>
              <a:solidFill>
                <a:sysClr val="windowText" lastClr="000000"/>
              </a:solidFill>
              <a:effectLst/>
              <a:uLnTx/>
              <a:uFillTx/>
            </a:endParaRPr>
          </a:p>
        </p:txBody>
      </p:sp>
    </p:spTree>
    <p:extLst>
      <p:ext uri="{BB962C8B-B14F-4D97-AF65-F5344CB8AC3E}">
        <p14:creationId xmlns:p14="http://schemas.microsoft.com/office/powerpoint/2010/main" val="232028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9" grpId="0" animBg="1"/>
      <p:bldP spid="40" grpId="0" animBg="1"/>
      <p:bldP spid="41" grpId="0" animBg="1"/>
      <p:bldP spid="43" grpId="0" animBg="1"/>
      <p:bldP spid="44" grpId="0" animBg="1"/>
      <p:bldP spid="71" grpId="0" animBg="1"/>
      <p:bldP spid="72" grpId="0" animBg="1"/>
      <p:bldP spid="73" grpId="0" animBg="1"/>
      <p:bldP spid="7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a:t>
            </a:r>
            <a:r>
              <a:rPr lang="fr-FR" dirty="0" err="1"/>
              <a:t>ï</a:t>
            </a:r>
            <a:r>
              <a:rPr lang="en-US" dirty="0" err="1"/>
              <a:t>ve</a:t>
            </a:r>
            <a:r>
              <a:rPr lang="en-US" dirty="0"/>
              <a:t> Bayes and Language Modeling</a:t>
            </a:r>
          </a:p>
        </p:txBody>
      </p:sp>
      <p:sp>
        <p:nvSpPr>
          <p:cNvPr id="3" name="Content Placeholder 2"/>
          <p:cNvSpPr>
            <a:spLocks noGrp="1"/>
          </p:cNvSpPr>
          <p:nvPr>
            <p:ph idx="1"/>
          </p:nvPr>
        </p:nvSpPr>
        <p:spPr/>
        <p:txBody>
          <a:bodyPr/>
          <a:lstStyle/>
          <a:p>
            <a:r>
              <a:rPr lang="fr-FR" sz="2800" dirty="0"/>
              <a:t>Naï</a:t>
            </a:r>
            <a:r>
              <a:rPr lang="en-US" sz="2800" dirty="0" err="1"/>
              <a:t>ve</a:t>
            </a:r>
            <a:r>
              <a:rPr lang="en-US" sz="2800" dirty="0"/>
              <a:t> </a:t>
            </a:r>
            <a:r>
              <a:rPr lang="en-US" sz="2800" dirty="0" err="1"/>
              <a:t>bayes</a:t>
            </a:r>
            <a:r>
              <a:rPr lang="en-US" sz="2800" dirty="0"/>
              <a:t> classifiers can use any sort of feature</a:t>
            </a:r>
          </a:p>
          <a:p>
            <a:pPr lvl="1"/>
            <a:r>
              <a:rPr lang="en-US" sz="2400" dirty="0"/>
              <a:t>URL, email address, dictionaries, network features</a:t>
            </a:r>
          </a:p>
          <a:p>
            <a:r>
              <a:rPr lang="en-US" sz="2800" dirty="0"/>
              <a:t>But if, as in the previous slides</a:t>
            </a:r>
          </a:p>
          <a:p>
            <a:pPr lvl="1"/>
            <a:r>
              <a:rPr lang="en-US" sz="2400" dirty="0"/>
              <a:t>We use </a:t>
            </a:r>
            <a:r>
              <a:rPr lang="en-US" sz="2400" b="1" dirty="0"/>
              <a:t>only</a:t>
            </a:r>
            <a:r>
              <a:rPr lang="en-US" sz="2400" dirty="0"/>
              <a:t> word features </a:t>
            </a:r>
          </a:p>
          <a:p>
            <a:pPr lvl="1"/>
            <a:r>
              <a:rPr lang="en-US" sz="2400" dirty="0"/>
              <a:t>we use </a:t>
            </a:r>
            <a:r>
              <a:rPr lang="en-US" sz="2400" b="1" dirty="0"/>
              <a:t>all</a:t>
            </a:r>
            <a:r>
              <a:rPr lang="en-US" sz="2400" dirty="0"/>
              <a:t> of the words in the text (not a subset)</a:t>
            </a:r>
          </a:p>
          <a:p>
            <a:r>
              <a:rPr lang="en-US" sz="2800" dirty="0"/>
              <a:t>Then </a:t>
            </a:r>
          </a:p>
          <a:p>
            <a:pPr lvl="1"/>
            <a:r>
              <a:rPr lang="en-US" sz="2400" dirty="0"/>
              <a:t>Na</a:t>
            </a:r>
            <a:r>
              <a:rPr lang="fr-FR" sz="2400" dirty="0" err="1"/>
              <a:t>ï</a:t>
            </a:r>
            <a:r>
              <a:rPr lang="en-US" sz="2400" dirty="0" err="1"/>
              <a:t>ve</a:t>
            </a:r>
            <a:r>
              <a:rPr lang="en-US" sz="2400" dirty="0"/>
              <a:t> </a:t>
            </a:r>
            <a:r>
              <a:rPr lang="en-US" sz="2400" dirty="0" err="1"/>
              <a:t>bayes</a:t>
            </a:r>
            <a:r>
              <a:rPr lang="en-US" sz="2400" dirty="0"/>
              <a:t> has an important similarity to language modeling.</a:t>
            </a:r>
          </a:p>
        </p:txBody>
      </p:sp>
      <p:sp>
        <p:nvSpPr>
          <p:cNvPr id="4" name="Slide Number Placeholder 3"/>
          <p:cNvSpPr>
            <a:spLocks noGrp="1"/>
          </p:cNvSpPr>
          <p:nvPr>
            <p:ph type="sldNum" sz="quarter" idx="12"/>
          </p:nvPr>
        </p:nvSpPr>
        <p:spPr/>
        <p:txBody>
          <a:bodyPr/>
          <a:lstStyle/>
          <a:p>
            <a:fld id="{10F35DC5-7E65-8247-99AB-4E984F8A921E}" type="slidenum">
              <a:rPr lang="en-US" smtClean="0"/>
              <a:pPr/>
              <a:t>40</a:t>
            </a:fld>
            <a:endParaRPr lang="en-US"/>
          </a:p>
        </p:txBody>
      </p:sp>
    </p:spTree>
    <p:extLst>
      <p:ext uri="{BB962C8B-B14F-4D97-AF65-F5344CB8AC3E}">
        <p14:creationId xmlns:p14="http://schemas.microsoft.com/office/powerpoint/2010/main" val="3636641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p:txBody>
          <a:bodyPr/>
          <a:lstStyle/>
          <a:p>
            <a:pPr eaLnBrk="1" hangingPunct="1"/>
            <a:r>
              <a:rPr lang="en-US" dirty="0">
                <a:latin typeface="Calibri" charset="0"/>
                <a:ea typeface="ＭＳ Ｐゴシック" charset="0"/>
                <a:cs typeface="ＭＳ Ｐゴシック" charset="0"/>
              </a:rPr>
              <a:t>Each class = a unigram language model</a:t>
            </a:r>
          </a:p>
        </p:txBody>
      </p:sp>
      <p:sp>
        <p:nvSpPr>
          <p:cNvPr id="46082" name="Rectangle 3"/>
          <p:cNvSpPr>
            <a:spLocks noGrp="1" noChangeArrowheads="1"/>
          </p:cNvSpPr>
          <p:nvPr>
            <p:ph type="body" idx="1"/>
          </p:nvPr>
        </p:nvSpPr>
        <p:spPr>
          <a:xfrm>
            <a:off x="685800" y="1314450"/>
            <a:ext cx="7772400" cy="1028700"/>
          </a:xfrm>
        </p:spPr>
        <p:txBody>
          <a:bodyPr/>
          <a:lstStyle/>
          <a:p>
            <a:pPr eaLnBrk="1" hangingPunct="1"/>
            <a:r>
              <a:rPr lang="en-US" dirty="0">
                <a:latin typeface="Calibri"/>
                <a:ea typeface="ＭＳ Ｐゴシック" charset="0"/>
                <a:cs typeface="Calibri"/>
              </a:rPr>
              <a:t>Assigning each word: P(word | c)</a:t>
            </a:r>
          </a:p>
          <a:p>
            <a:pPr eaLnBrk="1" hangingPunct="1"/>
            <a:r>
              <a:rPr lang="en-US" dirty="0">
                <a:latin typeface="Calibri"/>
                <a:ea typeface="ＭＳ Ｐゴシック" charset="0"/>
                <a:cs typeface="Calibri"/>
              </a:rPr>
              <a:t>Assigning each sentence: P(</a:t>
            </a:r>
            <a:r>
              <a:rPr lang="en-US" dirty="0" err="1">
                <a:latin typeface="Calibri"/>
                <a:ea typeface="ＭＳ Ｐゴシック" charset="0"/>
                <a:cs typeface="Calibri"/>
              </a:rPr>
              <a:t>s|c</a:t>
            </a:r>
            <a:r>
              <a:rPr lang="en-US" dirty="0">
                <a:latin typeface="Calibri"/>
                <a:ea typeface="ＭＳ Ｐゴシック" charset="0"/>
                <a:cs typeface="Calibri"/>
              </a:rPr>
              <a:t>)=</a:t>
            </a:r>
            <a:r>
              <a:rPr lang="en-US" dirty="0">
                <a:latin typeface="Symbol" charset="2"/>
                <a:ea typeface="ＭＳ Ｐゴシック" charset="0"/>
                <a:cs typeface="Symbol" charset="2"/>
              </a:rPr>
              <a:t>Π</a:t>
            </a:r>
            <a:r>
              <a:rPr lang="en-US" dirty="0">
                <a:latin typeface="Calibri"/>
                <a:ea typeface="ＭＳ Ｐゴシック" charset="0"/>
                <a:cs typeface="Calibri"/>
              </a:rPr>
              <a:t> P(</a:t>
            </a:r>
            <a:r>
              <a:rPr lang="en-US" dirty="0" err="1">
                <a:latin typeface="Calibri"/>
                <a:ea typeface="ＭＳ Ｐゴシック" charset="0"/>
                <a:cs typeface="Calibri"/>
              </a:rPr>
              <a:t>word|c</a:t>
            </a:r>
            <a:r>
              <a:rPr lang="en-US" dirty="0">
                <a:latin typeface="Calibri"/>
                <a:ea typeface="ＭＳ Ｐゴシック" charset="0"/>
                <a:cs typeface="Calibri"/>
              </a:rPr>
              <a:t>)</a:t>
            </a:r>
          </a:p>
        </p:txBody>
      </p:sp>
      <p:sp>
        <p:nvSpPr>
          <p:cNvPr id="46083" name="Text Box 4"/>
          <p:cNvSpPr txBox="1">
            <a:spLocks noChangeArrowheads="1"/>
          </p:cNvSpPr>
          <p:nvPr/>
        </p:nvSpPr>
        <p:spPr bwMode="auto">
          <a:xfrm>
            <a:off x="457200" y="2628901"/>
            <a:ext cx="2438400" cy="27084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a:latin typeface="Calibri"/>
                <a:cs typeface="Calibri"/>
              </a:rPr>
              <a:t>0.1	I</a:t>
            </a:r>
          </a:p>
          <a:p>
            <a:pPr eaLnBrk="1" hangingPunct="1">
              <a:spcBef>
                <a:spcPct val="50000"/>
              </a:spcBef>
            </a:pPr>
            <a:r>
              <a:rPr lang="en-US" sz="2000" dirty="0">
                <a:latin typeface="Calibri"/>
                <a:cs typeface="Calibri"/>
              </a:rPr>
              <a:t>0.1	love</a:t>
            </a:r>
          </a:p>
          <a:p>
            <a:pPr eaLnBrk="1" hangingPunct="1">
              <a:spcBef>
                <a:spcPct val="50000"/>
              </a:spcBef>
            </a:pPr>
            <a:r>
              <a:rPr lang="en-US" sz="2000" dirty="0">
                <a:latin typeface="Calibri"/>
                <a:cs typeface="Calibri"/>
              </a:rPr>
              <a:t>0.01	this</a:t>
            </a:r>
          </a:p>
          <a:p>
            <a:pPr eaLnBrk="1" hangingPunct="1">
              <a:spcBef>
                <a:spcPct val="50000"/>
              </a:spcBef>
            </a:pPr>
            <a:r>
              <a:rPr lang="en-US" sz="2000" dirty="0">
                <a:latin typeface="Calibri"/>
                <a:cs typeface="Calibri"/>
              </a:rPr>
              <a:t>0.05	fun</a:t>
            </a:r>
          </a:p>
          <a:p>
            <a:pPr eaLnBrk="1" hangingPunct="1">
              <a:spcBef>
                <a:spcPct val="50000"/>
              </a:spcBef>
            </a:pPr>
            <a:r>
              <a:rPr lang="en-US" sz="2000" dirty="0">
                <a:latin typeface="Calibri"/>
                <a:cs typeface="Calibri"/>
              </a:rPr>
              <a:t>0.1	film</a:t>
            </a:r>
          </a:p>
          <a:p>
            <a:pPr eaLnBrk="1" hangingPunct="1">
              <a:spcBef>
                <a:spcPct val="50000"/>
              </a:spcBef>
            </a:pPr>
            <a:r>
              <a:rPr lang="en-US" sz="2000" dirty="0">
                <a:latin typeface="Calibri"/>
                <a:cs typeface="Calibri"/>
              </a:rPr>
              <a:t>…</a:t>
            </a:r>
          </a:p>
        </p:txBody>
      </p:sp>
      <p:sp>
        <p:nvSpPr>
          <p:cNvPr id="753669" name="Text Box 5"/>
          <p:cNvSpPr txBox="1">
            <a:spLocks noChangeArrowheads="1"/>
          </p:cNvSpPr>
          <p:nvPr/>
        </p:nvSpPr>
        <p:spPr bwMode="auto">
          <a:xfrm>
            <a:off x="3505200" y="2743200"/>
            <a:ext cx="609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I</a:t>
            </a:r>
          </a:p>
        </p:txBody>
      </p:sp>
      <p:sp>
        <p:nvSpPr>
          <p:cNvPr id="753670" name="Text Box 6"/>
          <p:cNvSpPr txBox="1">
            <a:spLocks noChangeArrowheads="1"/>
          </p:cNvSpPr>
          <p:nvPr/>
        </p:nvSpPr>
        <p:spPr bwMode="auto">
          <a:xfrm>
            <a:off x="4419600" y="27432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love</a:t>
            </a:r>
          </a:p>
        </p:txBody>
      </p:sp>
      <p:sp>
        <p:nvSpPr>
          <p:cNvPr id="753671" name="Text Box 7"/>
          <p:cNvSpPr txBox="1">
            <a:spLocks noChangeArrowheads="1"/>
          </p:cNvSpPr>
          <p:nvPr/>
        </p:nvSpPr>
        <p:spPr bwMode="auto">
          <a:xfrm>
            <a:off x="5257800" y="27432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this</a:t>
            </a:r>
          </a:p>
        </p:txBody>
      </p:sp>
      <p:sp>
        <p:nvSpPr>
          <p:cNvPr id="753672" name="Text Box 8"/>
          <p:cNvSpPr txBox="1">
            <a:spLocks noChangeArrowheads="1"/>
          </p:cNvSpPr>
          <p:nvPr/>
        </p:nvSpPr>
        <p:spPr bwMode="auto">
          <a:xfrm>
            <a:off x="6324600" y="27432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fun</a:t>
            </a:r>
          </a:p>
        </p:txBody>
      </p:sp>
      <p:sp>
        <p:nvSpPr>
          <p:cNvPr id="753673" name="Text Box 9"/>
          <p:cNvSpPr txBox="1">
            <a:spLocks noChangeArrowheads="1"/>
          </p:cNvSpPr>
          <p:nvPr/>
        </p:nvSpPr>
        <p:spPr bwMode="auto">
          <a:xfrm>
            <a:off x="7086600" y="2743200"/>
            <a:ext cx="1371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film</a:t>
            </a:r>
          </a:p>
        </p:txBody>
      </p:sp>
      <p:grpSp>
        <p:nvGrpSpPr>
          <p:cNvPr id="2" name="Group 10"/>
          <p:cNvGrpSpPr>
            <a:grpSpLocks/>
          </p:cNvGrpSpPr>
          <p:nvPr/>
        </p:nvGrpSpPr>
        <p:grpSpPr bwMode="auto">
          <a:xfrm>
            <a:off x="3581400" y="3143250"/>
            <a:ext cx="4191000" cy="0"/>
            <a:chOff x="2256" y="2640"/>
            <a:chExt cx="2640" cy="0"/>
          </a:xfrm>
        </p:grpSpPr>
        <p:sp>
          <p:nvSpPr>
            <p:cNvPr id="46101" name="Line 11"/>
            <p:cNvSpPr>
              <a:spLocks noChangeShapeType="1"/>
            </p:cNvSpPr>
            <p:nvPr/>
          </p:nvSpPr>
          <p:spPr bwMode="auto">
            <a:xfrm>
              <a:off x="2256"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6102" name="Line 12"/>
            <p:cNvSpPr>
              <a:spLocks noChangeShapeType="1"/>
            </p:cNvSpPr>
            <p:nvPr/>
          </p:nvSpPr>
          <p:spPr bwMode="auto">
            <a:xfrm>
              <a:off x="2832"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6103" name="Line 13"/>
            <p:cNvSpPr>
              <a:spLocks noChangeShapeType="1"/>
            </p:cNvSpPr>
            <p:nvPr/>
          </p:nvSpPr>
          <p:spPr bwMode="auto">
            <a:xfrm>
              <a:off x="3408"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6104" name="Line 14"/>
            <p:cNvSpPr>
              <a:spLocks noChangeShapeType="1"/>
            </p:cNvSpPr>
            <p:nvPr/>
          </p:nvSpPr>
          <p:spPr bwMode="auto">
            <a:xfrm>
              <a:off x="3984"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6105" name="Line 15"/>
            <p:cNvSpPr>
              <a:spLocks noChangeShapeType="1"/>
            </p:cNvSpPr>
            <p:nvPr/>
          </p:nvSpPr>
          <p:spPr bwMode="auto">
            <a:xfrm>
              <a:off x="4608"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grpSp>
      <p:sp>
        <p:nvSpPr>
          <p:cNvPr id="753680" name="Text Box 16"/>
          <p:cNvSpPr txBox="1">
            <a:spLocks noChangeArrowheads="1"/>
          </p:cNvSpPr>
          <p:nvPr/>
        </p:nvSpPr>
        <p:spPr bwMode="auto">
          <a:xfrm>
            <a:off x="3505200" y="3314700"/>
            <a:ext cx="609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0.1</a:t>
            </a:r>
          </a:p>
        </p:txBody>
      </p:sp>
      <p:sp>
        <p:nvSpPr>
          <p:cNvPr id="753681" name="Text Box 17"/>
          <p:cNvSpPr txBox="1">
            <a:spLocks noChangeArrowheads="1"/>
          </p:cNvSpPr>
          <p:nvPr/>
        </p:nvSpPr>
        <p:spPr bwMode="auto">
          <a:xfrm>
            <a:off x="4419600" y="33147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0.1</a:t>
            </a:r>
          </a:p>
        </p:txBody>
      </p:sp>
      <p:sp>
        <p:nvSpPr>
          <p:cNvPr id="753682" name="Text Box 18"/>
          <p:cNvSpPr txBox="1">
            <a:spLocks noChangeArrowheads="1"/>
          </p:cNvSpPr>
          <p:nvPr/>
        </p:nvSpPr>
        <p:spPr bwMode="auto">
          <a:xfrm>
            <a:off x="5257800" y="33147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.05</a:t>
            </a:r>
          </a:p>
        </p:txBody>
      </p:sp>
      <p:sp>
        <p:nvSpPr>
          <p:cNvPr id="753683" name="Text Box 19"/>
          <p:cNvSpPr txBox="1">
            <a:spLocks noChangeArrowheads="1"/>
          </p:cNvSpPr>
          <p:nvPr/>
        </p:nvSpPr>
        <p:spPr bwMode="auto">
          <a:xfrm>
            <a:off x="6324600" y="33147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0.01</a:t>
            </a:r>
          </a:p>
        </p:txBody>
      </p:sp>
      <p:sp>
        <p:nvSpPr>
          <p:cNvPr id="753684" name="Text Box 20"/>
          <p:cNvSpPr txBox="1">
            <a:spLocks noChangeArrowheads="1"/>
          </p:cNvSpPr>
          <p:nvPr/>
        </p:nvSpPr>
        <p:spPr bwMode="auto">
          <a:xfrm>
            <a:off x="7086600" y="3314700"/>
            <a:ext cx="1371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0.1</a:t>
            </a:r>
          </a:p>
        </p:txBody>
      </p:sp>
      <p:sp>
        <p:nvSpPr>
          <p:cNvPr id="46096" name="Text Box 24"/>
          <p:cNvSpPr txBox="1">
            <a:spLocks noChangeArrowheads="1"/>
          </p:cNvSpPr>
          <p:nvPr/>
        </p:nvSpPr>
        <p:spPr bwMode="auto">
          <a:xfrm>
            <a:off x="609600" y="2228850"/>
            <a:ext cx="1371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Class </a:t>
            </a:r>
            <a:r>
              <a:rPr lang="en-US" i="1" dirty="0" err="1">
                <a:latin typeface="Calibri"/>
                <a:cs typeface="Calibri"/>
              </a:rPr>
              <a:t>pos</a:t>
            </a:r>
            <a:endParaRPr lang="en-US" i="1" dirty="0">
              <a:latin typeface="Calibri"/>
              <a:cs typeface="Calibri"/>
            </a:endParaRPr>
          </a:p>
        </p:txBody>
      </p:sp>
      <p:sp>
        <p:nvSpPr>
          <p:cNvPr id="753689" name="Text Box 25"/>
          <p:cNvSpPr txBox="1">
            <a:spLocks noChangeArrowheads="1"/>
          </p:cNvSpPr>
          <p:nvPr/>
        </p:nvSpPr>
        <p:spPr bwMode="auto">
          <a:xfrm>
            <a:off x="5791200" y="4457700"/>
            <a:ext cx="2971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P(s | </a:t>
            </a:r>
            <a:r>
              <a:rPr lang="en-US" dirty="0" err="1">
                <a:latin typeface="Calibri"/>
                <a:cs typeface="Calibri"/>
              </a:rPr>
              <a:t>pos</a:t>
            </a:r>
            <a:r>
              <a:rPr lang="en-US" dirty="0">
                <a:latin typeface="Calibri"/>
                <a:cs typeface="Calibri"/>
              </a:rPr>
              <a:t>) = 0.0000005 </a:t>
            </a:r>
          </a:p>
        </p:txBody>
      </p:sp>
      <p:sp>
        <p:nvSpPr>
          <p:cNvPr id="46098" name="TextBox 26"/>
          <p:cNvSpPr txBox="1">
            <a:spLocks noChangeArrowheads="1"/>
          </p:cNvSpPr>
          <p:nvPr/>
        </p:nvSpPr>
        <p:spPr bwMode="auto">
          <a:xfrm>
            <a:off x="7620001" y="-67479"/>
            <a:ext cx="1039167"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600">
                <a:solidFill>
                  <a:srgbClr val="FBFCFF"/>
                </a:solidFill>
                <a:latin typeface="Calibri"/>
                <a:cs typeface="Calibri"/>
              </a:rPr>
              <a:t>Sec.13.2.1</a:t>
            </a:r>
          </a:p>
        </p:txBody>
      </p:sp>
    </p:spTree>
    <p:extLst>
      <p:ext uri="{BB962C8B-B14F-4D97-AF65-F5344CB8AC3E}">
        <p14:creationId xmlns:p14="http://schemas.microsoft.com/office/powerpoint/2010/main" val="63898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366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75367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9"/>
                                          </p:stCondLst>
                                        </p:cTn>
                                        <p:tgtEl>
                                          <p:spTgt spid="75367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9"/>
                                          </p:stCondLst>
                                        </p:cTn>
                                        <p:tgtEl>
                                          <p:spTgt spid="75367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9"/>
                                          </p:stCondLst>
                                        </p:cTn>
                                        <p:tgtEl>
                                          <p:spTgt spid="75367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9"/>
                                          </p:stCondLst>
                                        </p:cTn>
                                        <p:tgtEl>
                                          <p:spTgt spid="75368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9"/>
                                          </p:stCondLst>
                                        </p:cTn>
                                        <p:tgtEl>
                                          <p:spTgt spid="75368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9"/>
                                          </p:stCondLst>
                                        </p:cTn>
                                        <p:tgtEl>
                                          <p:spTgt spid="75368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9"/>
                                          </p:stCondLst>
                                        </p:cTn>
                                        <p:tgtEl>
                                          <p:spTgt spid="75368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9"/>
                                          </p:stCondLst>
                                        </p:cTn>
                                        <p:tgtEl>
                                          <p:spTgt spid="75368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753689"/>
                                        </p:tgtEl>
                                        <p:attrNameLst>
                                          <p:attrName>style.visibility</p:attrName>
                                        </p:attrNameLst>
                                      </p:cBhvr>
                                      <p:to>
                                        <p:strVal val="visible"/>
                                      </p:to>
                                    </p:set>
                                    <p:anim calcmode="lin" valueType="num">
                                      <p:cBhvr additive="base">
                                        <p:cTn id="51" dur="10" fill="hold"/>
                                        <p:tgtEl>
                                          <p:spTgt spid="753689"/>
                                        </p:tgtEl>
                                        <p:attrNameLst>
                                          <p:attrName>ppt_x</p:attrName>
                                        </p:attrNameLst>
                                      </p:cBhvr>
                                      <p:tavLst>
                                        <p:tav tm="0">
                                          <p:val>
                                            <p:strVal val="0-#ppt_w/2"/>
                                          </p:val>
                                        </p:tav>
                                        <p:tav tm="100000">
                                          <p:val>
                                            <p:strVal val="#ppt_x"/>
                                          </p:val>
                                        </p:tav>
                                      </p:tavLst>
                                    </p:anim>
                                    <p:anim calcmode="lin" valueType="num">
                                      <p:cBhvr additive="base">
                                        <p:cTn id="52" dur="10" fill="hold"/>
                                        <p:tgtEl>
                                          <p:spTgt spid="7536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3669" grpId="0" autoUpdateAnimBg="0"/>
      <p:bldP spid="753670" grpId="0" autoUpdateAnimBg="0"/>
      <p:bldP spid="753671" grpId="0" autoUpdateAnimBg="0"/>
      <p:bldP spid="753672" grpId="0" autoUpdateAnimBg="0"/>
      <p:bldP spid="753673" grpId="0" autoUpdateAnimBg="0"/>
      <p:bldP spid="753680" grpId="0" autoUpdateAnimBg="0"/>
      <p:bldP spid="753681" grpId="0" autoUpdateAnimBg="0"/>
      <p:bldP spid="753682" grpId="0" autoUpdateAnimBg="0"/>
      <p:bldP spid="753683" grpId="0" autoUpdateAnimBg="0"/>
      <p:bldP spid="753684" grpId="0" autoUpdateAnimBg="0"/>
      <p:bldP spid="753689"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pPr eaLnBrk="1" hangingPunct="1"/>
            <a:r>
              <a:rPr lang="en-US" dirty="0">
                <a:latin typeface="Calibri" charset="0"/>
                <a:ea typeface="ＭＳ Ｐゴシック" charset="0"/>
                <a:cs typeface="ＭＳ Ｐゴシック" charset="0"/>
              </a:rPr>
              <a:t>Na</a:t>
            </a:r>
            <a:r>
              <a:rPr lang="fr-FR" dirty="0" err="1">
                <a:latin typeface="Calibri" charset="0"/>
                <a:ea typeface="ＭＳ Ｐゴシック" charset="0"/>
                <a:cs typeface="ＭＳ Ｐゴシック" charset="0"/>
              </a:rPr>
              <a:t>ï</a:t>
            </a:r>
            <a:r>
              <a:rPr lang="en-US" dirty="0" err="1">
                <a:latin typeface="Calibri" charset="0"/>
                <a:ea typeface="ＭＳ Ｐゴシック" charset="0"/>
                <a:cs typeface="ＭＳ Ｐゴシック" charset="0"/>
              </a:rPr>
              <a:t>ve</a:t>
            </a:r>
            <a:r>
              <a:rPr lang="en-US" dirty="0">
                <a:latin typeface="Calibri" charset="0"/>
                <a:ea typeface="ＭＳ Ｐゴシック" charset="0"/>
                <a:cs typeface="ＭＳ Ｐゴシック" charset="0"/>
              </a:rPr>
              <a:t> Bayes as a Language Model</a:t>
            </a:r>
          </a:p>
        </p:txBody>
      </p:sp>
      <p:sp>
        <p:nvSpPr>
          <p:cNvPr id="47106" name="Rectangle 3"/>
          <p:cNvSpPr>
            <a:spLocks noGrp="1" noChangeArrowheads="1"/>
          </p:cNvSpPr>
          <p:nvPr>
            <p:ph type="body" idx="1"/>
          </p:nvPr>
        </p:nvSpPr>
        <p:spPr>
          <a:xfrm>
            <a:off x="685800" y="1314451"/>
            <a:ext cx="7772400" cy="813197"/>
          </a:xfrm>
        </p:spPr>
        <p:txBody>
          <a:bodyPr/>
          <a:lstStyle/>
          <a:p>
            <a:pPr eaLnBrk="1" hangingPunct="1"/>
            <a:r>
              <a:rPr lang="en-US" dirty="0">
                <a:latin typeface="Calibri"/>
                <a:ea typeface="ＭＳ Ｐゴシック" charset="0"/>
                <a:cs typeface="Calibri"/>
              </a:rPr>
              <a:t>Which class assigns the higher probability to s?</a:t>
            </a:r>
          </a:p>
        </p:txBody>
      </p:sp>
      <p:sp>
        <p:nvSpPr>
          <p:cNvPr id="47107" name="Text Box 4"/>
          <p:cNvSpPr txBox="1">
            <a:spLocks noChangeArrowheads="1"/>
          </p:cNvSpPr>
          <p:nvPr/>
        </p:nvSpPr>
        <p:spPr bwMode="auto">
          <a:xfrm>
            <a:off x="381000" y="2628900"/>
            <a:ext cx="2438400" cy="2246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a:solidFill>
                  <a:srgbClr val="00AB7E"/>
                </a:solidFill>
                <a:latin typeface="Calibri"/>
                <a:cs typeface="Calibri"/>
              </a:rPr>
              <a:t>0.1	I</a:t>
            </a:r>
          </a:p>
          <a:p>
            <a:pPr eaLnBrk="1" hangingPunct="1">
              <a:spcBef>
                <a:spcPct val="50000"/>
              </a:spcBef>
            </a:pPr>
            <a:r>
              <a:rPr lang="en-US" sz="2000" dirty="0">
                <a:solidFill>
                  <a:srgbClr val="00AB7E"/>
                </a:solidFill>
                <a:latin typeface="Calibri"/>
                <a:cs typeface="Calibri"/>
              </a:rPr>
              <a:t>0.1	love</a:t>
            </a:r>
          </a:p>
          <a:p>
            <a:pPr eaLnBrk="1" hangingPunct="1">
              <a:spcBef>
                <a:spcPct val="50000"/>
              </a:spcBef>
            </a:pPr>
            <a:r>
              <a:rPr lang="en-US" sz="2000" dirty="0">
                <a:solidFill>
                  <a:srgbClr val="00AB7E"/>
                </a:solidFill>
                <a:latin typeface="Calibri"/>
                <a:cs typeface="Calibri"/>
              </a:rPr>
              <a:t>0.01	this</a:t>
            </a:r>
          </a:p>
          <a:p>
            <a:pPr eaLnBrk="1" hangingPunct="1">
              <a:spcBef>
                <a:spcPct val="50000"/>
              </a:spcBef>
            </a:pPr>
            <a:r>
              <a:rPr lang="en-US" sz="2000" dirty="0">
                <a:solidFill>
                  <a:srgbClr val="00AB7E"/>
                </a:solidFill>
                <a:latin typeface="Calibri"/>
                <a:cs typeface="Calibri"/>
              </a:rPr>
              <a:t>0.05	fun</a:t>
            </a:r>
          </a:p>
          <a:p>
            <a:pPr eaLnBrk="1" hangingPunct="1">
              <a:spcBef>
                <a:spcPct val="50000"/>
              </a:spcBef>
            </a:pPr>
            <a:r>
              <a:rPr lang="en-US" sz="2000" dirty="0">
                <a:solidFill>
                  <a:srgbClr val="00AB7E"/>
                </a:solidFill>
                <a:latin typeface="Calibri"/>
                <a:cs typeface="Calibri"/>
              </a:rPr>
              <a:t>0.1	film</a:t>
            </a:r>
          </a:p>
        </p:txBody>
      </p:sp>
      <p:sp>
        <p:nvSpPr>
          <p:cNvPr id="47108" name="Text Box 5"/>
          <p:cNvSpPr txBox="1">
            <a:spLocks noChangeArrowheads="1"/>
          </p:cNvSpPr>
          <p:nvPr/>
        </p:nvSpPr>
        <p:spPr bwMode="auto">
          <a:xfrm>
            <a:off x="533400" y="2114550"/>
            <a:ext cx="1600200" cy="461665"/>
          </a:xfrm>
          <a:prstGeom prst="rect">
            <a:avLst/>
          </a:prstGeom>
          <a:noFill/>
          <a:ln w="9525">
            <a:no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solidFill>
                  <a:srgbClr val="00AB7E"/>
                </a:solidFill>
                <a:latin typeface="Calibri"/>
                <a:cs typeface="Calibri"/>
              </a:rPr>
              <a:t>Model </a:t>
            </a:r>
            <a:r>
              <a:rPr lang="en-US" dirty="0" err="1">
                <a:solidFill>
                  <a:srgbClr val="00AB7E"/>
                </a:solidFill>
                <a:latin typeface="Calibri"/>
                <a:cs typeface="Calibri"/>
              </a:rPr>
              <a:t>pos</a:t>
            </a:r>
            <a:endParaRPr lang="en-US" dirty="0">
              <a:solidFill>
                <a:srgbClr val="00AB7E"/>
              </a:solidFill>
              <a:latin typeface="Calibri"/>
              <a:cs typeface="Calibri"/>
            </a:endParaRPr>
          </a:p>
        </p:txBody>
      </p:sp>
      <p:sp>
        <p:nvSpPr>
          <p:cNvPr id="47109" name="Text Box 6"/>
          <p:cNvSpPr txBox="1">
            <a:spLocks noChangeArrowheads="1"/>
          </p:cNvSpPr>
          <p:nvPr/>
        </p:nvSpPr>
        <p:spPr bwMode="auto">
          <a:xfrm>
            <a:off x="2819400" y="2114550"/>
            <a:ext cx="16002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solidFill>
                  <a:srgbClr val="FF0000"/>
                </a:solidFill>
                <a:latin typeface="Calibri"/>
                <a:cs typeface="Calibri"/>
              </a:rPr>
              <a:t>Model </a:t>
            </a:r>
            <a:r>
              <a:rPr lang="en-US" dirty="0" err="1">
                <a:solidFill>
                  <a:srgbClr val="FF0000"/>
                </a:solidFill>
                <a:latin typeface="Calibri"/>
                <a:cs typeface="Calibri"/>
              </a:rPr>
              <a:t>neg</a:t>
            </a:r>
            <a:endParaRPr lang="en-US" dirty="0">
              <a:solidFill>
                <a:srgbClr val="FF0000"/>
              </a:solidFill>
              <a:latin typeface="Calibri"/>
              <a:cs typeface="Calibri"/>
            </a:endParaRPr>
          </a:p>
        </p:txBody>
      </p:sp>
      <p:sp>
        <p:nvSpPr>
          <p:cNvPr id="47110" name="Rectangle 7"/>
          <p:cNvSpPr>
            <a:spLocks noChangeArrowheads="1"/>
          </p:cNvSpPr>
          <p:nvPr/>
        </p:nvSpPr>
        <p:spPr bwMode="auto">
          <a:xfrm>
            <a:off x="228600" y="2000250"/>
            <a:ext cx="2133600" cy="2971800"/>
          </a:xfrm>
          <a:prstGeom prst="rect">
            <a:avLst/>
          </a:prstGeom>
          <a:noFill/>
          <a:ln w="9525">
            <a:solidFill>
              <a:srgbClr val="00E4A8"/>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a:cs typeface="Calibri"/>
            </a:endParaRPr>
          </a:p>
        </p:txBody>
      </p:sp>
      <p:sp>
        <p:nvSpPr>
          <p:cNvPr id="47111" name="Rectangle 8"/>
          <p:cNvSpPr>
            <a:spLocks noChangeArrowheads="1"/>
          </p:cNvSpPr>
          <p:nvPr/>
        </p:nvSpPr>
        <p:spPr bwMode="auto">
          <a:xfrm>
            <a:off x="2438400" y="2000250"/>
            <a:ext cx="2133600" cy="2971800"/>
          </a:xfrm>
          <a:prstGeom prst="rect">
            <a:avLst/>
          </a:prstGeom>
          <a:noFill/>
          <a:ln w="952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a:cs typeface="Calibri"/>
            </a:endParaRPr>
          </a:p>
        </p:txBody>
      </p:sp>
      <p:grpSp>
        <p:nvGrpSpPr>
          <p:cNvPr id="2" name="Group 9"/>
          <p:cNvGrpSpPr>
            <a:grpSpLocks/>
          </p:cNvGrpSpPr>
          <p:nvPr/>
        </p:nvGrpSpPr>
        <p:grpSpPr bwMode="auto">
          <a:xfrm>
            <a:off x="4648200" y="2743200"/>
            <a:ext cx="4953000" cy="401241"/>
            <a:chOff x="2928" y="2304"/>
            <a:chExt cx="3120" cy="337"/>
          </a:xfrm>
        </p:grpSpPr>
        <p:sp>
          <p:nvSpPr>
            <p:cNvPr id="47127" name="Text Box 10"/>
            <p:cNvSpPr txBox="1">
              <a:spLocks noChangeArrowheads="1"/>
            </p:cNvSpPr>
            <p:nvPr/>
          </p:nvSpPr>
          <p:spPr bwMode="auto">
            <a:xfrm>
              <a:off x="5184" y="2304"/>
              <a:ext cx="864"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a:latin typeface="Calibri"/>
                  <a:cs typeface="Calibri"/>
                </a:rPr>
                <a:t>film</a:t>
              </a:r>
            </a:p>
          </p:txBody>
        </p:sp>
        <p:sp>
          <p:nvSpPr>
            <p:cNvPr id="47128" name="Text Box 11"/>
            <p:cNvSpPr txBox="1">
              <a:spLocks noChangeArrowheads="1"/>
            </p:cNvSpPr>
            <p:nvPr/>
          </p:nvSpPr>
          <p:spPr bwMode="auto">
            <a:xfrm>
              <a:off x="3504" y="2304"/>
              <a:ext cx="624"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a:latin typeface="Calibri"/>
                  <a:cs typeface="Calibri"/>
                </a:rPr>
                <a:t>love</a:t>
              </a:r>
            </a:p>
          </p:txBody>
        </p:sp>
        <p:sp>
          <p:nvSpPr>
            <p:cNvPr id="47129" name="Text Box 12"/>
            <p:cNvSpPr txBox="1">
              <a:spLocks noChangeArrowheads="1"/>
            </p:cNvSpPr>
            <p:nvPr/>
          </p:nvSpPr>
          <p:spPr bwMode="auto">
            <a:xfrm>
              <a:off x="4032" y="2304"/>
              <a:ext cx="624"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a:latin typeface="Calibri"/>
                  <a:cs typeface="Calibri"/>
                </a:rPr>
                <a:t>this</a:t>
              </a:r>
            </a:p>
          </p:txBody>
        </p:sp>
        <p:sp>
          <p:nvSpPr>
            <p:cNvPr id="47130" name="Text Box 13"/>
            <p:cNvSpPr txBox="1">
              <a:spLocks noChangeArrowheads="1"/>
            </p:cNvSpPr>
            <p:nvPr/>
          </p:nvSpPr>
          <p:spPr bwMode="auto">
            <a:xfrm>
              <a:off x="4704" y="2304"/>
              <a:ext cx="480"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a:latin typeface="Calibri"/>
                  <a:cs typeface="Calibri"/>
                </a:rPr>
                <a:t>fun</a:t>
              </a:r>
            </a:p>
          </p:txBody>
        </p:sp>
        <p:grpSp>
          <p:nvGrpSpPr>
            <p:cNvPr id="47131" name="Group 14"/>
            <p:cNvGrpSpPr>
              <a:grpSpLocks/>
            </p:cNvGrpSpPr>
            <p:nvPr/>
          </p:nvGrpSpPr>
          <p:grpSpPr bwMode="auto">
            <a:xfrm>
              <a:off x="2976" y="2640"/>
              <a:ext cx="2640" cy="1"/>
              <a:chOff x="2256" y="2640"/>
              <a:chExt cx="2640" cy="0"/>
            </a:xfrm>
          </p:grpSpPr>
          <p:sp>
            <p:nvSpPr>
              <p:cNvPr id="47133" name="Line 15"/>
              <p:cNvSpPr>
                <a:spLocks noChangeShapeType="1"/>
              </p:cNvSpPr>
              <p:nvPr/>
            </p:nvSpPr>
            <p:spPr bwMode="auto">
              <a:xfrm>
                <a:off x="2256"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7134" name="Line 16"/>
              <p:cNvSpPr>
                <a:spLocks noChangeShapeType="1"/>
              </p:cNvSpPr>
              <p:nvPr/>
            </p:nvSpPr>
            <p:spPr bwMode="auto">
              <a:xfrm>
                <a:off x="2832"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7135" name="Line 17"/>
              <p:cNvSpPr>
                <a:spLocks noChangeShapeType="1"/>
              </p:cNvSpPr>
              <p:nvPr/>
            </p:nvSpPr>
            <p:spPr bwMode="auto">
              <a:xfrm>
                <a:off x="3408"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7136" name="Line 18"/>
              <p:cNvSpPr>
                <a:spLocks noChangeShapeType="1"/>
              </p:cNvSpPr>
              <p:nvPr/>
            </p:nvSpPr>
            <p:spPr bwMode="auto">
              <a:xfrm>
                <a:off x="3984"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7137" name="Line 19"/>
              <p:cNvSpPr>
                <a:spLocks noChangeShapeType="1"/>
              </p:cNvSpPr>
              <p:nvPr/>
            </p:nvSpPr>
            <p:spPr bwMode="auto">
              <a:xfrm>
                <a:off x="4608"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grpSp>
        <p:sp>
          <p:nvSpPr>
            <p:cNvPr id="47132" name="Text Box 20"/>
            <p:cNvSpPr txBox="1">
              <a:spLocks noChangeArrowheads="1"/>
            </p:cNvSpPr>
            <p:nvPr/>
          </p:nvSpPr>
          <p:spPr bwMode="auto">
            <a:xfrm>
              <a:off x="2928" y="2304"/>
              <a:ext cx="624"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a:latin typeface="Calibri"/>
                  <a:cs typeface="Calibri"/>
                </a:rPr>
                <a:t>I</a:t>
              </a:r>
            </a:p>
          </p:txBody>
        </p:sp>
      </p:grpSp>
      <p:grpSp>
        <p:nvGrpSpPr>
          <p:cNvPr id="4" name="Group 21"/>
          <p:cNvGrpSpPr>
            <a:grpSpLocks/>
          </p:cNvGrpSpPr>
          <p:nvPr/>
        </p:nvGrpSpPr>
        <p:grpSpPr bwMode="auto">
          <a:xfrm>
            <a:off x="4648200" y="3314698"/>
            <a:ext cx="4953000" cy="608409"/>
            <a:chOff x="2928" y="2784"/>
            <a:chExt cx="3120" cy="511"/>
          </a:xfrm>
        </p:grpSpPr>
        <p:sp>
          <p:nvSpPr>
            <p:cNvPr id="47117" name="Text Box 22"/>
            <p:cNvSpPr txBox="1">
              <a:spLocks noChangeArrowheads="1"/>
            </p:cNvSpPr>
            <p:nvPr/>
          </p:nvSpPr>
          <p:spPr bwMode="auto">
            <a:xfrm>
              <a:off x="5184" y="2784"/>
              <a:ext cx="86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00AB7E"/>
                  </a:solidFill>
                  <a:latin typeface="Calibri"/>
                  <a:cs typeface="Calibri"/>
                </a:rPr>
                <a:t>0.1</a:t>
              </a:r>
            </a:p>
          </p:txBody>
        </p:sp>
        <p:sp>
          <p:nvSpPr>
            <p:cNvPr id="47118" name="Text Box 23"/>
            <p:cNvSpPr txBox="1">
              <a:spLocks noChangeArrowheads="1"/>
            </p:cNvSpPr>
            <p:nvPr/>
          </p:nvSpPr>
          <p:spPr bwMode="auto">
            <a:xfrm>
              <a:off x="3504" y="2784"/>
              <a:ext cx="48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00AB7E"/>
                  </a:solidFill>
                  <a:latin typeface="Calibri"/>
                  <a:cs typeface="Calibri"/>
                </a:rPr>
                <a:t>0.1</a:t>
              </a:r>
            </a:p>
          </p:txBody>
        </p:sp>
        <p:sp>
          <p:nvSpPr>
            <p:cNvPr id="47119" name="Text Box 24"/>
            <p:cNvSpPr txBox="1">
              <a:spLocks noChangeArrowheads="1"/>
            </p:cNvSpPr>
            <p:nvPr/>
          </p:nvSpPr>
          <p:spPr bwMode="auto">
            <a:xfrm>
              <a:off x="4032" y="2784"/>
              <a:ext cx="5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00AB7E"/>
                  </a:solidFill>
                  <a:latin typeface="Calibri"/>
                  <a:cs typeface="Calibri"/>
                </a:rPr>
                <a:t>0.01</a:t>
              </a:r>
            </a:p>
          </p:txBody>
        </p:sp>
        <p:sp>
          <p:nvSpPr>
            <p:cNvPr id="47120" name="Text Box 25"/>
            <p:cNvSpPr txBox="1">
              <a:spLocks noChangeArrowheads="1"/>
            </p:cNvSpPr>
            <p:nvPr/>
          </p:nvSpPr>
          <p:spPr bwMode="auto">
            <a:xfrm>
              <a:off x="4704" y="2784"/>
              <a:ext cx="5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00AB7E"/>
                  </a:solidFill>
                  <a:latin typeface="Calibri"/>
                  <a:cs typeface="Calibri"/>
                </a:rPr>
                <a:t>0.05</a:t>
              </a:r>
            </a:p>
          </p:txBody>
        </p:sp>
        <p:sp>
          <p:nvSpPr>
            <p:cNvPr id="47121" name="Text Box 26"/>
            <p:cNvSpPr txBox="1">
              <a:spLocks noChangeArrowheads="1"/>
            </p:cNvSpPr>
            <p:nvPr/>
          </p:nvSpPr>
          <p:spPr bwMode="auto">
            <a:xfrm>
              <a:off x="2928" y="2784"/>
              <a:ext cx="48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00AB7E"/>
                  </a:solidFill>
                  <a:latin typeface="Calibri"/>
                  <a:cs typeface="Calibri"/>
                </a:rPr>
                <a:t>0.1</a:t>
              </a:r>
            </a:p>
          </p:txBody>
        </p:sp>
        <p:sp>
          <p:nvSpPr>
            <p:cNvPr id="47122" name="Text Box 27"/>
            <p:cNvSpPr txBox="1">
              <a:spLocks noChangeArrowheads="1"/>
            </p:cNvSpPr>
            <p:nvPr/>
          </p:nvSpPr>
          <p:spPr bwMode="auto">
            <a:xfrm>
              <a:off x="5184" y="2985"/>
              <a:ext cx="86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FF0000"/>
                  </a:solidFill>
                  <a:latin typeface="Calibri"/>
                  <a:cs typeface="Calibri"/>
                </a:rPr>
                <a:t>0.1</a:t>
              </a:r>
            </a:p>
          </p:txBody>
        </p:sp>
        <p:sp>
          <p:nvSpPr>
            <p:cNvPr id="47123" name="Text Box 28"/>
            <p:cNvSpPr txBox="1">
              <a:spLocks noChangeArrowheads="1"/>
            </p:cNvSpPr>
            <p:nvPr/>
          </p:nvSpPr>
          <p:spPr bwMode="auto">
            <a:xfrm>
              <a:off x="3504" y="2985"/>
              <a:ext cx="52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FF0000"/>
                  </a:solidFill>
                  <a:latin typeface="Calibri"/>
                  <a:cs typeface="Calibri"/>
                </a:rPr>
                <a:t>0.001</a:t>
              </a:r>
            </a:p>
          </p:txBody>
        </p:sp>
        <p:sp>
          <p:nvSpPr>
            <p:cNvPr id="47124" name="Text Box 29"/>
            <p:cNvSpPr txBox="1">
              <a:spLocks noChangeArrowheads="1"/>
            </p:cNvSpPr>
            <p:nvPr/>
          </p:nvSpPr>
          <p:spPr bwMode="auto">
            <a:xfrm>
              <a:off x="4032" y="2985"/>
              <a:ext cx="5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FF0000"/>
                  </a:solidFill>
                  <a:latin typeface="Calibri"/>
                  <a:cs typeface="Calibri"/>
                </a:rPr>
                <a:t>0.01</a:t>
              </a:r>
            </a:p>
          </p:txBody>
        </p:sp>
        <p:sp>
          <p:nvSpPr>
            <p:cNvPr id="47125" name="Text Box 30"/>
            <p:cNvSpPr txBox="1">
              <a:spLocks noChangeArrowheads="1"/>
            </p:cNvSpPr>
            <p:nvPr/>
          </p:nvSpPr>
          <p:spPr bwMode="auto">
            <a:xfrm>
              <a:off x="4704" y="2985"/>
              <a:ext cx="5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FF0000"/>
                  </a:solidFill>
                  <a:latin typeface="Calibri"/>
                  <a:cs typeface="Calibri"/>
                </a:rPr>
                <a:t>0.005</a:t>
              </a:r>
            </a:p>
          </p:txBody>
        </p:sp>
        <p:sp>
          <p:nvSpPr>
            <p:cNvPr id="47126" name="Text Box 31"/>
            <p:cNvSpPr txBox="1">
              <a:spLocks noChangeArrowheads="1"/>
            </p:cNvSpPr>
            <p:nvPr/>
          </p:nvSpPr>
          <p:spPr bwMode="auto">
            <a:xfrm>
              <a:off x="2928" y="2985"/>
              <a:ext cx="48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a:solidFill>
                    <a:srgbClr val="FF0000"/>
                  </a:solidFill>
                  <a:latin typeface="Calibri"/>
                  <a:cs typeface="Calibri"/>
                </a:rPr>
                <a:t>0.2</a:t>
              </a:r>
            </a:p>
          </p:txBody>
        </p:sp>
      </p:grpSp>
      <p:sp>
        <p:nvSpPr>
          <p:cNvPr id="754720" name="Text Box 32"/>
          <p:cNvSpPr txBox="1">
            <a:spLocks noChangeArrowheads="1"/>
          </p:cNvSpPr>
          <p:nvPr/>
        </p:nvSpPr>
        <p:spPr bwMode="auto">
          <a:xfrm>
            <a:off x="5410200" y="4286250"/>
            <a:ext cx="2895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P(</a:t>
            </a:r>
            <a:r>
              <a:rPr lang="en-US" dirty="0" err="1">
                <a:latin typeface="Calibri"/>
                <a:cs typeface="Calibri"/>
              </a:rPr>
              <a:t>s|</a:t>
            </a:r>
            <a:r>
              <a:rPr lang="en-US" dirty="0" err="1">
                <a:solidFill>
                  <a:srgbClr val="008000"/>
                </a:solidFill>
                <a:latin typeface="Calibri"/>
                <a:cs typeface="Calibri"/>
              </a:rPr>
              <a:t>pos</a:t>
            </a:r>
            <a:r>
              <a:rPr lang="en-US" dirty="0">
                <a:latin typeface="Calibri"/>
                <a:cs typeface="Calibri"/>
              </a:rPr>
              <a:t>)  &gt;  P(</a:t>
            </a:r>
            <a:r>
              <a:rPr lang="en-US" dirty="0" err="1">
                <a:latin typeface="Calibri"/>
                <a:cs typeface="Calibri"/>
              </a:rPr>
              <a:t>s|</a:t>
            </a:r>
            <a:r>
              <a:rPr lang="en-US" dirty="0" err="1">
                <a:solidFill>
                  <a:srgbClr val="FF0000"/>
                </a:solidFill>
                <a:latin typeface="Calibri"/>
                <a:cs typeface="Calibri"/>
              </a:rPr>
              <a:t>neg</a:t>
            </a:r>
            <a:r>
              <a:rPr lang="en-US" dirty="0">
                <a:latin typeface="Calibri"/>
                <a:cs typeface="Calibri"/>
              </a:rPr>
              <a:t>)</a:t>
            </a:r>
          </a:p>
        </p:txBody>
      </p:sp>
      <p:sp>
        <p:nvSpPr>
          <p:cNvPr id="47115" name="Text Box 33"/>
          <p:cNvSpPr txBox="1">
            <a:spLocks noChangeArrowheads="1"/>
          </p:cNvSpPr>
          <p:nvPr/>
        </p:nvSpPr>
        <p:spPr bwMode="auto">
          <a:xfrm>
            <a:off x="2574925" y="2513410"/>
            <a:ext cx="1545565" cy="23750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lnSpc>
                <a:spcPct val="150000"/>
              </a:lnSpc>
            </a:pPr>
            <a:r>
              <a:rPr lang="en-US" sz="2000" dirty="0">
                <a:solidFill>
                  <a:schemeClr val="hlink"/>
                </a:solidFill>
                <a:latin typeface="Calibri"/>
                <a:cs typeface="Calibri"/>
              </a:rPr>
              <a:t>0.2	I</a:t>
            </a:r>
          </a:p>
          <a:p>
            <a:pPr eaLnBrk="1" hangingPunct="1">
              <a:lnSpc>
                <a:spcPct val="150000"/>
              </a:lnSpc>
            </a:pPr>
            <a:r>
              <a:rPr lang="en-US" sz="2000" dirty="0">
                <a:solidFill>
                  <a:schemeClr val="hlink"/>
                </a:solidFill>
                <a:latin typeface="Calibri"/>
                <a:cs typeface="Calibri"/>
              </a:rPr>
              <a:t>0.001	love</a:t>
            </a:r>
          </a:p>
          <a:p>
            <a:pPr eaLnBrk="1" hangingPunct="1">
              <a:lnSpc>
                <a:spcPct val="150000"/>
              </a:lnSpc>
            </a:pPr>
            <a:r>
              <a:rPr lang="en-US" sz="2000" dirty="0">
                <a:solidFill>
                  <a:schemeClr val="hlink"/>
                </a:solidFill>
                <a:latin typeface="Calibri"/>
                <a:cs typeface="Calibri"/>
              </a:rPr>
              <a:t>0.01	this</a:t>
            </a:r>
          </a:p>
          <a:p>
            <a:pPr eaLnBrk="1" hangingPunct="1">
              <a:lnSpc>
                <a:spcPct val="150000"/>
              </a:lnSpc>
            </a:pPr>
            <a:r>
              <a:rPr lang="en-US" sz="2000" dirty="0">
                <a:solidFill>
                  <a:schemeClr val="hlink"/>
                </a:solidFill>
                <a:latin typeface="Calibri"/>
                <a:cs typeface="Calibri"/>
              </a:rPr>
              <a:t>0.005	fun</a:t>
            </a:r>
          </a:p>
          <a:p>
            <a:pPr eaLnBrk="1" hangingPunct="1">
              <a:lnSpc>
                <a:spcPct val="150000"/>
              </a:lnSpc>
            </a:pPr>
            <a:r>
              <a:rPr lang="en-US" sz="2000" dirty="0">
                <a:solidFill>
                  <a:schemeClr val="hlink"/>
                </a:solidFill>
                <a:latin typeface="Calibri"/>
                <a:cs typeface="Calibri"/>
              </a:rPr>
              <a:t>0.1	film</a:t>
            </a:r>
          </a:p>
        </p:txBody>
      </p:sp>
      <p:sp>
        <p:nvSpPr>
          <p:cNvPr id="47116" name="TextBox 34"/>
          <p:cNvSpPr txBox="1">
            <a:spLocks noChangeArrowheads="1"/>
          </p:cNvSpPr>
          <p:nvPr/>
        </p:nvSpPr>
        <p:spPr bwMode="auto">
          <a:xfrm>
            <a:off x="7620001" y="-67479"/>
            <a:ext cx="122832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600">
                <a:solidFill>
                  <a:srgbClr val="FBFCFF"/>
                </a:solidFill>
              </a:rPr>
              <a:t>Sec.13.2.1</a:t>
            </a:r>
          </a:p>
        </p:txBody>
      </p:sp>
    </p:spTree>
    <p:extLst>
      <p:ext uri="{BB962C8B-B14F-4D97-AF65-F5344CB8AC3E}">
        <p14:creationId xmlns:p14="http://schemas.microsoft.com/office/powerpoint/2010/main" val="23588454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547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720"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Relationship to Language Modeling</a:t>
            </a:r>
          </a:p>
        </p:txBody>
      </p:sp>
    </p:spTree>
    <p:extLst>
      <p:ext uri="{BB962C8B-B14F-4D97-AF65-F5344CB8AC3E}">
        <p14:creationId xmlns:p14="http://schemas.microsoft.com/office/powerpoint/2010/main" val="334804155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Multinomial 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A Worked Example</a:t>
            </a:r>
          </a:p>
        </p:txBody>
      </p:sp>
    </p:spTree>
    <p:extLst>
      <p:ext uri="{BB962C8B-B14F-4D97-AF65-F5344CB8AC3E}">
        <p14:creationId xmlns:p14="http://schemas.microsoft.com/office/powerpoint/2010/main" val="89821091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257800" y="2266950"/>
            <a:ext cx="4038600" cy="2585323"/>
          </a:xfrm>
          <a:prstGeom prst="rect">
            <a:avLst/>
          </a:prstGeom>
          <a:noFill/>
        </p:spPr>
        <p:txBody>
          <a:bodyPr wrap="square" rtlCol="0">
            <a:spAutoFit/>
          </a:bodyPr>
          <a:lstStyle/>
          <a:p>
            <a:r>
              <a:rPr lang="en-US" sz="1800" b="1" dirty="0">
                <a:latin typeface="+mn-lt"/>
              </a:rPr>
              <a:t>Choosing a class:</a:t>
            </a:r>
          </a:p>
          <a:p>
            <a:r>
              <a:rPr lang="en-US" sz="1800" dirty="0">
                <a:latin typeface="+mn-lt"/>
              </a:rPr>
              <a:t>P(c|d5) </a:t>
            </a:r>
          </a:p>
          <a:p>
            <a:endParaRPr lang="en-US" sz="1800" dirty="0">
              <a:latin typeface="+mn-lt"/>
            </a:endParaRPr>
          </a:p>
          <a:p>
            <a:endParaRPr lang="en-US" sz="1800" dirty="0">
              <a:latin typeface="+mn-lt"/>
            </a:endParaRPr>
          </a:p>
          <a:p>
            <a:endParaRPr lang="en-US" sz="1800" dirty="0">
              <a:latin typeface="+mn-lt"/>
            </a:endParaRPr>
          </a:p>
          <a:p>
            <a:r>
              <a:rPr lang="en-US" sz="1800" dirty="0">
                <a:latin typeface="+mn-lt"/>
              </a:rPr>
              <a:t>P(j|d5) </a:t>
            </a:r>
          </a:p>
          <a:p>
            <a:endParaRPr lang="en-US" sz="1800" dirty="0">
              <a:latin typeface="+mn-lt"/>
            </a:endParaRPr>
          </a:p>
          <a:p>
            <a:endParaRPr lang="en-US" sz="1800" dirty="0">
              <a:latin typeface="+mn-lt"/>
            </a:endParaRPr>
          </a:p>
          <a:p>
            <a:endParaRPr lang="en-US" sz="1800" dirty="0">
              <a:latin typeface="+mn-lt"/>
            </a:endParaRPr>
          </a:p>
        </p:txBody>
      </p:sp>
      <p:sp>
        <p:nvSpPr>
          <p:cNvPr id="40" name="TextBox 39"/>
          <p:cNvSpPr txBox="1"/>
          <p:nvPr/>
        </p:nvSpPr>
        <p:spPr>
          <a:xfrm>
            <a:off x="5867400" y="3663374"/>
            <a:ext cx="2158664" cy="584776"/>
          </a:xfrm>
          <a:prstGeom prst="rect">
            <a:avLst/>
          </a:prstGeom>
          <a:noFill/>
        </p:spPr>
        <p:txBody>
          <a:bodyPr wrap="none" rtlCol="0">
            <a:spAutoFit/>
          </a:bodyPr>
          <a:lstStyle/>
          <a:p>
            <a:pPr lvl="1"/>
            <a:r>
              <a:rPr lang="en-US" altLang="zh-TW" sz="1600" dirty="0">
                <a:latin typeface="Calibri" charset="0"/>
              </a:rPr>
              <a:t> </a:t>
            </a:r>
            <a:r>
              <a:rPr lang="en-US" altLang="zh-TW" sz="1600" dirty="0">
                <a:latin typeface="Calibri" charset="0"/>
                <a:ea typeface="Arial" charset="0"/>
                <a:cs typeface="Arial" charset="0"/>
              </a:rPr>
              <a:t>1/4 * (2/9)</a:t>
            </a:r>
            <a:r>
              <a:rPr lang="en-US" altLang="zh-TW" sz="1600" baseline="30000" dirty="0">
                <a:latin typeface="Calibri" charset="0"/>
                <a:ea typeface="Arial" charset="0"/>
                <a:cs typeface="Arial" charset="0"/>
              </a:rPr>
              <a:t>3</a:t>
            </a:r>
            <a:r>
              <a:rPr lang="en-US" altLang="zh-TW" sz="1600" dirty="0">
                <a:latin typeface="Calibri" charset="0"/>
                <a:ea typeface="Arial" charset="0"/>
                <a:cs typeface="Arial" charset="0"/>
              </a:rPr>
              <a:t> * 2/9 * 2/9 </a:t>
            </a:r>
            <a:r>
              <a:rPr lang="en-US" altLang="zh-TW" sz="1600" dirty="0">
                <a:latin typeface="Calibri" charset="0"/>
              </a:rPr>
              <a:t> </a:t>
            </a:r>
          </a:p>
          <a:p>
            <a:pPr lvl="1">
              <a:buFont typeface="Wingdings" charset="2"/>
              <a:buNone/>
            </a:pPr>
            <a:r>
              <a:rPr lang="en-US" altLang="zh-TW" sz="1600" dirty="0">
                <a:latin typeface="Calibri" charset="0"/>
                <a:ea typeface="Arial" charset="0"/>
                <a:cs typeface="Arial" charset="0"/>
              </a:rPr>
              <a:t>	≈ 0.0001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862673228"/>
              </p:ext>
            </p:extLst>
          </p:nvPr>
        </p:nvGraphicFramePr>
        <p:xfrm>
          <a:off x="2895600" y="133350"/>
          <a:ext cx="5867400" cy="1676400"/>
        </p:xfrm>
        <a:graphic>
          <a:graphicData uri="http://schemas.openxmlformats.org/drawingml/2006/table">
            <a:tbl>
              <a:tblPr firstRow="1" bandRow="1">
                <a:tableStyleId>{5C22544A-7EE6-4342-B048-85BDC9FD1C3A}</a:tableStyleId>
              </a:tblPr>
              <a:tblGrid>
                <a:gridCol w="995363">
                  <a:extLst>
                    <a:ext uri="{9D8B030D-6E8A-4147-A177-3AD203B41FA5}">
                      <a16:colId xmlns:a16="http://schemas.microsoft.com/office/drawing/2014/main" val="20000"/>
                    </a:ext>
                  </a:extLst>
                </a:gridCol>
                <a:gridCol w="523874">
                  <a:extLst>
                    <a:ext uri="{9D8B030D-6E8A-4147-A177-3AD203B41FA5}">
                      <a16:colId xmlns:a16="http://schemas.microsoft.com/office/drawing/2014/main" val="20001"/>
                    </a:ext>
                  </a:extLst>
                </a:gridCol>
                <a:gridCol w="3586163">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279400">
                <a:tc>
                  <a:txBody>
                    <a:bodyPr/>
                    <a:lstStyle/>
                    <a:p>
                      <a:pPr>
                        <a:lnSpc>
                          <a:spcPct val="70000"/>
                        </a:lnSpc>
                      </a:pPr>
                      <a:endParaRPr lang="en-US" sz="1600" dirty="0"/>
                    </a:p>
                  </a:txBody>
                  <a:tcPr/>
                </a:tc>
                <a:tc>
                  <a:txBody>
                    <a:bodyPr/>
                    <a:lstStyle/>
                    <a:p>
                      <a:pPr>
                        <a:lnSpc>
                          <a:spcPct val="70000"/>
                        </a:lnSpc>
                      </a:pPr>
                      <a:r>
                        <a:rPr lang="en-US" sz="1600" dirty="0"/>
                        <a:t>Doc</a:t>
                      </a:r>
                    </a:p>
                  </a:txBody>
                  <a:tcPr/>
                </a:tc>
                <a:tc>
                  <a:txBody>
                    <a:bodyPr/>
                    <a:lstStyle/>
                    <a:p>
                      <a:pPr>
                        <a:lnSpc>
                          <a:spcPct val="70000"/>
                        </a:lnSpc>
                      </a:pPr>
                      <a:r>
                        <a:rPr lang="en-US" sz="1600" dirty="0"/>
                        <a:t>Words</a:t>
                      </a:r>
                    </a:p>
                  </a:txBody>
                  <a:tcPr/>
                </a:tc>
                <a:tc>
                  <a:txBody>
                    <a:bodyPr/>
                    <a:lstStyle/>
                    <a:p>
                      <a:pPr>
                        <a:lnSpc>
                          <a:spcPct val="70000"/>
                        </a:lnSpc>
                      </a:pPr>
                      <a:r>
                        <a:rPr lang="en-US" sz="1600" dirty="0"/>
                        <a:t>Class</a:t>
                      </a:r>
                    </a:p>
                  </a:txBody>
                  <a:tcPr/>
                </a:tc>
                <a:extLst>
                  <a:ext uri="{0D108BD9-81ED-4DB2-BD59-A6C34878D82A}">
                    <a16:rowId xmlns:a16="http://schemas.microsoft.com/office/drawing/2014/main" val="10000"/>
                  </a:ext>
                </a:extLst>
              </a:tr>
              <a:tr h="279400">
                <a:tc>
                  <a:txBody>
                    <a:bodyPr/>
                    <a:lstStyle/>
                    <a:p>
                      <a:pPr>
                        <a:lnSpc>
                          <a:spcPct val="70000"/>
                        </a:lnSpc>
                      </a:pPr>
                      <a:r>
                        <a:rPr lang="en-US" sz="1600" dirty="0"/>
                        <a:t>Training</a:t>
                      </a:r>
                    </a:p>
                  </a:txBody>
                  <a:tcPr>
                    <a:solidFill>
                      <a:schemeClr val="accent6">
                        <a:lumMod val="20000"/>
                        <a:lumOff val="80000"/>
                      </a:schemeClr>
                    </a:solidFill>
                  </a:tcPr>
                </a:tc>
                <a:tc>
                  <a:txBody>
                    <a:bodyPr/>
                    <a:lstStyle/>
                    <a:p>
                      <a:pPr>
                        <a:lnSpc>
                          <a:spcPct val="70000"/>
                        </a:lnSpc>
                      </a:pPr>
                      <a:r>
                        <a:rPr lang="en-US" sz="1600" dirty="0"/>
                        <a:t>1</a:t>
                      </a:r>
                    </a:p>
                  </a:txBody>
                  <a:tcPr>
                    <a:solidFill>
                      <a:schemeClr val="accent6">
                        <a:lumMod val="20000"/>
                        <a:lumOff val="80000"/>
                      </a:schemeClr>
                    </a:solidFill>
                  </a:tcPr>
                </a:tc>
                <a:tc>
                  <a:txBody>
                    <a:bodyPr/>
                    <a:lstStyle/>
                    <a:p>
                      <a:pPr>
                        <a:lnSpc>
                          <a:spcPct val="70000"/>
                        </a:lnSpc>
                      </a:pPr>
                      <a:r>
                        <a:rPr lang="en-US" sz="1600" dirty="0"/>
                        <a:t>Chinese</a:t>
                      </a:r>
                      <a:r>
                        <a:rPr lang="en-US" sz="1600" baseline="0" dirty="0"/>
                        <a:t> Beijing Chinese</a:t>
                      </a:r>
                      <a:endParaRPr lang="en-US" sz="1600" dirty="0"/>
                    </a:p>
                  </a:txBody>
                  <a:tcPr>
                    <a:solidFill>
                      <a:schemeClr val="accent6">
                        <a:lumMod val="20000"/>
                        <a:lumOff val="80000"/>
                      </a:schemeClr>
                    </a:solidFill>
                  </a:tcPr>
                </a:tc>
                <a:tc>
                  <a:txBody>
                    <a:bodyPr/>
                    <a:lstStyle/>
                    <a:p>
                      <a:pPr>
                        <a:lnSpc>
                          <a:spcPct val="70000"/>
                        </a:lnSpc>
                      </a:pPr>
                      <a:r>
                        <a:rPr lang="en-US" sz="1600" dirty="0"/>
                        <a:t>c</a:t>
                      </a:r>
                    </a:p>
                  </a:txBody>
                  <a:tcPr>
                    <a:solidFill>
                      <a:schemeClr val="accent6">
                        <a:lumMod val="20000"/>
                        <a:lumOff val="80000"/>
                      </a:schemeClr>
                    </a:solidFill>
                  </a:tcPr>
                </a:tc>
                <a:extLst>
                  <a:ext uri="{0D108BD9-81ED-4DB2-BD59-A6C34878D82A}">
                    <a16:rowId xmlns:a16="http://schemas.microsoft.com/office/drawing/2014/main" val="10001"/>
                  </a:ext>
                </a:extLst>
              </a:tr>
              <a:tr h="279400">
                <a:tc>
                  <a:txBody>
                    <a:bodyPr/>
                    <a:lstStyle/>
                    <a:p>
                      <a:pPr>
                        <a:lnSpc>
                          <a:spcPct val="70000"/>
                        </a:lnSpc>
                      </a:pPr>
                      <a:endParaRPr lang="en-US" sz="1600" dirty="0"/>
                    </a:p>
                  </a:txBody>
                  <a:tcPr>
                    <a:solidFill>
                      <a:schemeClr val="accent6">
                        <a:lumMod val="20000"/>
                        <a:lumOff val="80000"/>
                      </a:schemeClr>
                    </a:solidFill>
                  </a:tcPr>
                </a:tc>
                <a:tc>
                  <a:txBody>
                    <a:bodyPr/>
                    <a:lstStyle/>
                    <a:p>
                      <a:pPr>
                        <a:lnSpc>
                          <a:spcPct val="70000"/>
                        </a:lnSpc>
                      </a:pPr>
                      <a:r>
                        <a:rPr lang="en-US" sz="1600" dirty="0"/>
                        <a:t>2</a:t>
                      </a:r>
                    </a:p>
                  </a:txBody>
                  <a:tcPr>
                    <a:solidFill>
                      <a:schemeClr val="accent6">
                        <a:lumMod val="20000"/>
                        <a:lumOff val="80000"/>
                      </a:schemeClr>
                    </a:solidFill>
                  </a:tcPr>
                </a:tc>
                <a:tc>
                  <a:txBody>
                    <a:bodyPr/>
                    <a:lstStyle/>
                    <a:p>
                      <a:pPr>
                        <a:lnSpc>
                          <a:spcPct val="70000"/>
                        </a:lnSpc>
                      </a:pPr>
                      <a:r>
                        <a:rPr lang="en-US" sz="1600" dirty="0"/>
                        <a:t>Chinese Chinese Shanghai</a:t>
                      </a:r>
                    </a:p>
                  </a:txBody>
                  <a:tcPr>
                    <a:solidFill>
                      <a:schemeClr val="accent6">
                        <a:lumMod val="20000"/>
                        <a:lumOff val="80000"/>
                      </a:schemeClr>
                    </a:solidFill>
                  </a:tcPr>
                </a:tc>
                <a:tc>
                  <a:txBody>
                    <a:bodyPr/>
                    <a:lstStyle/>
                    <a:p>
                      <a:pPr>
                        <a:lnSpc>
                          <a:spcPct val="70000"/>
                        </a:lnSpc>
                      </a:pPr>
                      <a:r>
                        <a:rPr lang="en-US" sz="1600" dirty="0"/>
                        <a:t>c</a:t>
                      </a:r>
                    </a:p>
                  </a:txBody>
                  <a:tcPr>
                    <a:solidFill>
                      <a:schemeClr val="accent6">
                        <a:lumMod val="20000"/>
                        <a:lumOff val="80000"/>
                      </a:schemeClr>
                    </a:solidFill>
                  </a:tcPr>
                </a:tc>
                <a:extLst>
                  <a:ext uri="{0D108BD9-81ED-4DB2-BD59-A6C34878D82A}">
                    <a16:rowId xmlns:a16="http://schemas.microsoft.com/office/drawing/2014/main" val="10002"/>
                  </a:ext>
                </a:extLst>
              </a:tr>
              <a:tr h="279400">
                <a:tc>
                  <a:txBody>
                    <a:bodyPr/>
                    <a:lstStyle/>
                    <a:p>
                      <a:pPr>
                        <a:lnSpc>
                          <a:spcPct val="70000"/>
                        </a:lnSpc>
                      </a:pPr>
                      <a:endParaRPr lang="en-US" sz="1600"/>
                    </a:p>
                  </a:txBody>
                  <a:tcPr>
                    <a:solidFill>
                      <a:schemeClr val="accent6">
                        <a:lumMod val="20000"/>
                        <a:lumOff val="80000"/>
                      </a:schemeClr>
                    </a:solidFill>
                  </a:tcPr>
                </a:tc>
                <a:tc>
                  <a:txBody>
                    <a:bodyPr/>
                    <a:lstStyle/>
                    <a:p>
                      <a:pPr>
                        <a:lnSpc>
                          <a:spcPct val="70000"/>
                        </a:lnSpc>
                      </a:pPr>
                      <a:r>
                        <a:rPr lang="en-US" sz="1600" dirty="0"/>
                        <a:t>3</a:t>
                      </a:r>
                    </a:p>
                  </a:txBody>
                  <a:tcPr>
                    <a:solidFill>
                      <a:schemeClr val="accent6">
                        <a:lumMod val="20000"/>
                        <a:lumOff val="80000"/>
                      </a:schemeClr>
                    </a:solidFill>
                  </a:tcPr>
                </a:tc>
                <a:tc>
                  <a:txBody>
                    <a:bodyPr/>
                    <a:lstStyle/>
                    <a:p>
                      <a:pPr>
                        <a:lnSpc>
                          <a:spcPct val="70000"/>
                        </a:lnSpc>
                      </a:pPr>
                      <a:r>
                        <a:rPr lang="en-US" sz="1600" dirty="0"/>
                        <a:t>Chinese Macao</a:t>
                      </a:r>
                    </a:p>
                  </a:txBody>
                  <a:tcPr>
                    <a:solidFill>
                      <a:schemeClr val="accent6">
                        <a:lumMod val="20000"/>
                        <a:lumOff val="80000"/>
                      </a:schemeClr>
                    </a:solidFill>
                  </a:tcPr>
                </a:tc>
                <a:tc>
                  <a:txBody>
                    <a:bodyPr/>
                    <a:lstStyle/>
                    <a:p>
                      <a:pPr>
                        <a:lnSpc>
                          <a:spcPct val="70000"/>
                        </a:lnSpc>
                      </a:pPr>
                      <a:r>
                        <a:rPr lang="en-US" sz="1600" dirty="0"/>
                        <a:t>c</a:t>
                      </a:r>
                    </a:p>
                  </a:txBody>
                  <a:tcPr>
                    <a:solidFill>
                      <a:schemeClr val="accent6">
                        <a:lumMod val="20000"/>
                        <a:lumOff val="80000"/>
                      </a:schemeClr>
                    </a:solidFill>
                  </a:tcPr>
                </a:tc>
                <a:extLst>
                  <a:ext uri="{0D108BD9-81ED-4DB2-BD59-A6C34878D82A}">
                    <a16:rowId xmlns:a16="http://schemas.microsoft.com/office/drawing/2014/main" val="10003"/>
                  </a:ext>
                </a:extLst>
              </a:tr>
              <a:tr h="279400">
                <a:tc>
                  <a:txBody>
                    <a:bodyPr/>
                    <a:lstStyle/>
                    <a:p>
                      <a:pPr>
                        <a:lnSpc>
                          <a:spcPct val="70000"/>
                        </a:lnSpc>
                      </a:pPr>
                      <a:endParaRPr lang="en-US" sz="1600"/>
                    </a:p>
                  </a:txBody>
                  <a:tcPr>
                    <a:solidFill>
                      <a:schemeClr val="accent6">
                        <a:lumMod val="20000"/>
                        <a:lumOff val="80000"/>
                      </a:schemeClr>
                    </a:solidFill>
                  </a:tcPr>
                </a:tc>
                <a:tc>
                  <a:txBody>
                    <a:bodyPr/>
                    <a:lstStyle/>
                    <a:p>
                      <a:pPr>
                        <a:lnSpc>
                          <a:spcPct val="70000"/>
                        </a:lnSpc>
                      </a:pPr>
                      <a:r>
                        <a:rPr lang="en-US" sz="1600" dirty="0"/>
                        <a:t>4</a:t>
                      </a:r>
                    </a:p>
                  </a:txBody>
                  <a:tcPr>
                    <a:solidFill>
                      <a:schemeClr val="accent6">
                        <a:lumMod val="20000"/>
                        <a:lumOff val="80000"/>
                      </a:schemeClr>
                    </a:solidFill>
                  </a:tcPr>
                </a:tc>
                <a:tc>
                  <a:txBody>
                    <a:bodyPr/>
                    <a:lstStyle/>
                    <a:p>
                      <a:pPr>
                        <a:lnSpc>
                          <a:spcPct val="70000"/>
                        </a:lnSpc>
                      </a:pPr>
                      <a:r>
                        <a:rPr lang="en-US" sz="1600" dirty="0"/>
                        <a:t>Tokyo Japan Chinese</a:t>
                      </a:r>
                    </a:p>
                  </a:txBody>
                  <a:tcPr>
                    <a:solidFill>
                      <a:schemeClr val="accent6">
                        <a:lumMod val="20000"/>
                        <a:lumOff val="80000"/>
                      </a:schemeClr>
                    </a:solidFill>
                  </a:tcPr>
                </a:tc>
                <a:tc>
                  <a:txBody>
                    <a:bodyPr/>
                    <a:lstStyle/>
                    <a:p>
                      <a:pPr>
                        <a:lnSpc>
                          <a:spcPct val="70000"/>
                        </a:lnSpc>
                      </a:pPr>
                      <a:r>
                        <a:rPr lang="en-US" sz="1600" dirty="0"/>
                        <a:t>j</a:t>
                      </a:r>
                    </a:p>
                  </a:txBody>
                  <a:tcPr>
                    <a:solidFill>
                      <a:schemeClr val="accent6">
                        <a:lumMod val="20000"/>
                        <a:lumOff val="80000"/>
                      </a:schemeClr>
                    </a:solidFill>
                  </a:tcPr>
                </a:tc>
                <a:extLst>
                  <a:ext uri="{0D108BD9-81ED-4DB2-BD59-A6C34878D82A}">
                    <a16:rowId xmlns:a16="http://schemas.microsoft.com/office/drawing/2014/main" val="10004"/>
                  </a:ext>
                </a:extLst>
              </a:tr>
              <a:tr h="279400">
                <a:tc>
                  <a:txBody>
                    <a:bodyPr/>
                    <a:lstStyle/>
                    <a:p>
                      <a:pPr>
                        <a:lnSpc>
                          <a:spcPct val="70000"/>
                        </a:lnSpc>
                      </a:pPr>
                      <a:r>
                        <a:rPr lang="en-US" sz="1600" dirty="0"/>
                        <a:t>Test</a:t>
                      </a:r>
                    </a:p>
                  </a:txBody>
                  <a:tcPr/>
                </a:tc>
                <a:tc>
                  <a:txBody>
                    <a:bodyPr/>
                    <a:lstStyle/>
                    <a:p>
                      <a:pPr>
                        <a:lnSpc>
                          <a:spcPct val="70000"/>
                        </a:lnSpc>
                      </a:pPr>
                      <a:r>
                        <a:rPr lang="en-US" sz="1600" dirty="0"/>
                        <a:t>5</a:t>
                      </a:r>
                    </a:p>
                  </a:txBody>
                  <a:tcPr/>
                </a:tc>
                <a:tc>
                  <a:txBody>
                    <a:bodyPr/>
                    <a:lstStyle/>
                    <a:p>
                      <a:pPr>
                        <a:lnSpc>
                          <a:spcPct val="70000"/>
                        </a:lnSpc>
                      </a:pPr>
                      <a:r>
                        <a:rPr lang="en-US" sz="1600" dirty="0"/>
                        <a:t>Chinese Chinese Chinese Tokyo</a:t>
                      </a:r>
                      <a:r>
                        <a:rPr lang="en-US" sz="1600" baseline="0" dirty="0"/>
                        <a:t> Japan</a:t>
                      </a:r>
                      <a:endParaRPr lang="en-US" sz="1600" dirty="0"/>
                    </a:p>
                  </a:txBody>
                  <a:tcPr/>
                </a:tc>
                <a:tc>
                  <a:txBody>
                    <a:bodyPr/>
                    <a:lstStyle/>
                    <a:p>
                      <a:pPr>
                        <a:lnSpc>
                          <a:spcPct val="70000"/>
                        </a:lnSpc>
                      </a:pPr>
                      <a:r>
                        <a:rPr lang="en-US" sz="1600" dirty="0"/>
                        <a:t>?</a:t>
                      </a:r>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10F35DC5-7E65-8247-99AB-4E984F8A921E}" type="slidenum">
              <a:rPr lang="en-US" smtClean="0"/>
              <a:pPr/>
              <a:t>45</a:t>
            </a:fld>
            <a:endParaRPr lang="en-US"/>
          </a:p>
        </p:txBody>
      </p:sp>
      <p:sp>
        <p:nvSpPr>
          <p:cNvPr id="7" name="TextBox 6"/>
          <p:cNvSpPr txBox="1"/>
          <p:nvPr/>
        </p:nvSpPr>
        <p:spPr>
          <a:xfrm>
            <a:off x="838200" y="3028950"/>
            <a:ext cx="2609195" cy="2031325"/>
          </a:xfrm>
          <a:prstGeom prst="rect">
            <a:avLst/>
          </a:prstGeom>
          <a:noFill/>
        </p:spPr>
        <p:txBody>
          <a:bodyPr wrap="none" rtlCol="0">
            <a:spAutoFit/>
          </a:bodyPr>
          <a:lstStyle/>
          <a:p>
            <a:r>
              <a:rPr lang="en-US" sz="1800" b="1" dirty="0">
                <a:latin typeface="+mn-lt"/>
              </a:rPr>
              <a:t>Conditional Probabilities:</a:t>
            </a:r>
          </a:p>
          <a:p>
            <a:r>
              <a:rPr lang="en-US" sz="1800" dirty="0">
                <a:latin typeface="+mn-lt"/>
              </a:rPr>
              <a:t>P(</a:t>
            </a:r>
            <a:r>
              <a:rPr lang="en-US" sz="1800" dirty="0" err="1">
                <a:latin typeface="+mn-lt"/>
              </a:rPr>
              <a:t>Chinese|</a:t>
            </a:r>
            <a:r>
              <a:rPr lang="en-US" sz="1800" i="1" dirty="0" err="1">
                <a:latin typeface="+mn-lt"/>
              </a:rPr>
              <a:t>c</a:t>
            </a:r>
            <a:r>
              <a:rPr lang="en-US" sz="1800" dirty="0">
                <a:latin typeface="+mn-lt"/>
              </a:rPr>
              <a:t>) =</a:t>
            </a:r>
          </a:p>
          <a:p>
            <a:r>
              <a:rPr lang="en-US" sz="1800" dirty="0">
                <a:latin typeface="+mn-lt"/>
              </a:rPr>
              <a:t>P(</a:t>
            </a:r>
            <a:r>
              <a:rPr lang="en-US" sz="1800" dirty="0" err="1">
                <a:latin typeface="+mn-lt"/>
              </a:rPr>
              <a:t>Tokyo|</a:t>
            </a:r>
            <a:r>
              <a:rPr lang="en-US" sz="1800" i="1" dirty="0" err="1">
                <a:latin typeface="+mn-lt"/>
              </a:rPr>
              <a:t>c</a:t>
            </a:r>
            <a:r>
              <a:rPr lang="en-US" sz="1800" dirty="0">
                <a:latin typeface="+mn-lt"/>
              </a:rPr>
              <a:t>)    =</a:t>
            </a:r>
          </a:p>
          <a:p>
            <a:r>
              <a:rPr lang="en-US" sz="1800" dirty="0">
                <a:latin typeface="+mn-lt"/>
              </a:rPr>
              <a:t>P(</a:t>
            </a:r>
            <a:r>
              <a:rPr lang="en-US" sz="1800" dirty="0" err="1">
                <a:latin typeface="+mn-lt"/>
              </a:rPr>
              <a:t>Japan|</a:t>
            </a:r>
            <a:r>
              <a:rPr lang="en-US" sz="1800" i="1" dirty="0" err="1">
                <a:latin typeface="+mn-lt"/>
              </a:rPr>
              <a:t>c</a:t>
            </a:r>
            <a:r>
              <a:rPr lang="en-US" sz="1800" dirty="0">
                <a:latin typeface="+mn-lt"/>
              </a:rPr>
              <a:t>)     =</a:t>
            </a:r>
          </a:p>
          <a:p>
            <a:r>
              <a:rPr lang="en-US" sz="1800" dirty="0">
                <a:latin typeface="+mn-lt"/>
              </a:rPr>
              <a:t>P(</a:t>
            </a:r>
            <a:r>
              <a:rPr lang="en-US" sz="1800" dirty="0" err="1">
                <a:latin typeface="+mn-lt"/>
              </a:rPr>
              <a:t>Chinese|</a:t>
            </a:r>
            <a:r>
              <a:rPr lang="en-US" sz="1800" i="1" dirty="0" err="1">
                <a:latin typeface="+mn-lt"/>
              </a:rPr>
              <a:t>j</a:t>
            </a:r>
            <a:r>
              <a:rPr lang="en-US" sz="1800" dirty="0">
                <a:latin typeface="+mn-lt"/>
              </a:rPr>
              <a:t>) =</a:t>
            </a:r>
          </a:p>
          <a:p>
            <a:r>
              <a:rPr lang="en-US" sz="1800" dirty="0">
                <a:latin typeface="+mn-lt"/>
              </a:rPr>
              <a:t>P(</a:t>
            </a:r>
            <a:r>
              <a:rPr lang="en-US" sz="1800" dirty="0" err="1">
                <a:latin typeface="+mn-lt"/>
              </a:rPr>
              <a:t>Tokyo|</a:t>
            </a:r>
            <a:r>
              <a:rPr lang="en-US" sz="1800" i="1" dirty="0" err="1">
                <a:latin typeface="+mn-lt"/>
              </a:rPr>
              <a:t>j</a:t>
            </a:r>
            <a:r>
              <a:rPr lang="en-US" sz="1800" dirty="0">
                <a:latin typeface="+mn-lt"/>
              </a:rPr>
              <a:t>)     =</a:t>
            </a:r>
          </a:p>
          <a:p>
            <a:r>
              <a:rPr lang="en-US" sz="1800" dirty="0">
                <a:latin typeface="+mn-lt"/>
              </a:rPr>
              <a:t>P(</a:t>
            </a:r>
            <a:r>
              <a:rPr lang="en-US" sz="1800" dirty="0" err="1">
                <a:latin typeface="+mn-lt"/>
              </a:rPr>
              <a:t>Japan|</a:t>
            </a:r>
            <a:r>
              <a:rPr lang="en-US" sz="1800" i="1" dirty="0" err="1">
                <a:latin typeface="+mn-lt"/>
              </a:rPr>
              <a:t>j</a:t>
            </a:r>
            <a:r>
              <a:rPr lang="en-US" sz="1800" dirty="0">
                <a:latin typeface="+mn-lt"/>
              </a:rPr>
              <a:t>)      = </a:t>
            </a:r>
          </a:p>
        </p:txBody>
      </p:sp>
      <p:sp>
        <p:nvSpPr>
          <p:cNvPr id="8" name="TextBox 7"/>
          <p:cNvSpPr txBox="1"/>
          <p:nvPr/>
        </p:nvSpPr>
        <p:spPr>
          <a:xfrm>
            <a:off x="457200" y="1834574"/>
            <a:ext cx="838199" cy="954107"/>
          </a:xfrm>
          <a:prstGeom prst="rect">
            <a:avLst/>
          </a:prstGeom>
          <a:noFill/>
        </p:spPr>
        <p:txBody>
          <a:bodyPr wrap="square" rtlCol="0">
            <a:spAutoFit/>
          </a:bodyPr>
          <a:lstStyle/>
          <a:p>
            <a:r>
              <a:rPr lang="en-US" sz="1800" b="1" dirty="0">
                <a:latin typeface="+mn-lt"/>
              </a:rPr>
              <a:t>Priors:</a:t>
            </a:r>
          </a:p>
          <a:p>
            <a:r>
              <a:rPr lang="en-US" sz="1800" i="1" dirty="0">
                <a:latin typeface="+mn-lt"/>
              </a:rPr>
              <a:t>P</a:t>
            </a:r>
            <a:r>
              <a:rPr lang="en-US" sz="1800" dirty="0">
                <a:latin typeface="+mn-lt"/>
              </a:rPr>
              <a:t>(</a:t>
            </a:r>
            <a:r>
              <a:rPr lang="en-US" sz="1800" i="1" dirty="0">
                <a:latin typeface="+mn-lt"/>
              </a:rPr>
              <a:t>c</a:t>
            </a:r>
            <a:r>
              <a:rPr lang="en-US" sz="1800" dirty="0">
                <a:latin typeface="+mn-lt"/>
              </a:rPr>
              <a:t>)= </a:t>
            </a:r>
          </a:p>
          <a:p>
            <a:endParaRPr lang="en-US" sz="200" i="1" dirty="0">
              <a:latin typeface="+mn-lt"/>
            </a:endParaRPr>
          </a:p>
          <a:p>
            <a:r>
              <a:rPr lang="en-US" sz="1800" i="1" dirty="0">
                <a:latin typeface="+mn-lt"/>
              </a:rPr>
              <a:t>P</a:t>
            </a:r>
            <a:r>
              <a:rPr lang="en-US" sz="1800" dirty="0">
                <a:latin typeface="+mn-lt"/>
              </a:rPr>
              <a:t>(</a:t>
            </a:r>
            <a:r>
              <a:rPr lang="en-US" sz="1800" i="1" dirty="0">
                <a:latin typeface="+mn-lt"/>
              </a:rPr>
              <a:t>j</a:t>
            </a:r>
            <a:r>
              <a:rPr lang="en-US" sz="1800" dirty="0">
                <a:latin typeface="+mn-lt"/>
              </a:rPr>
              <a:t>)= </a:t>
            </a:r>
          </a:p>
        </p:txBody>
      </p:sp>
      <p:sp>
        <p:nvSpPr>
          <p:cNvPr id="12" name="TextBox 11"/>
          <p:cNvSpPr txBox="1"/>
          <p:nvPr/>
        </p:nvSpPr>
        <p:spPr>
          <a:xfrm>
            <a:off x="1143000" y="2087998"/>
            <a:ext cx="331537" cy="584776"/>
          </a:xfrm>
          <a:prstGeom prst="rect">
            <a:avLst/>
          </a:prstGeom>
          <a:noFill/>
        </p:spPr>
        <p:txBody>
          <a:bodyPr wrap="square" rtlCol="0">
            <a:spAutoFit/>
          </a:bodyPr>
          <a:lstStyle/>
          <a:p>
            <a:r>
              <a:rPr lang="en-US" sz="1600" dirty="0">
                <a:latin typeface="+mn-lt"/>
              </a:rPr>
              <a:t>3</a:t>
            </a:r>
          </a:p>
          <a:p>
            <a:endParaRPr lang="en-US" sz="1600" dirty="0">
              <a:latin typeface="+mn-lt"/>
            </a:endParaRPr>
          </a:p>
        </p:txBody>
      </p:sp>
      <p:sp>
        <p:nvSpPr>
          <p:cNvPr id="13" name="TextBox 12"/>
          <p:cNvSpPr txBox="1"/>
          <p:nvPr/>
        </p:nvSpPr>
        <p:spPr>
          <a:xfrm>
            <a:off x="1143000" y="2312590"/>
            <a:ext cx="304800" cy="338554"/>
          </a:xfrm>
          <a:prstGeom prst="rect">
            <a:avLst/>
          </a:prstGeom>
          <a:noFill/>
        </p:spPr>
        <p:txBody>
          <a:bodyPr wrap="square" rtlCol="0">
            <a:spAutoFit/>
          </a:bodyPr>
          <a:lstStyle/>
          <a:p>
            <a:r>
              <a:rPr lang="en-US" sz="1600" dirty="0">
                <a:latin typeface="+mn-lt"/>
              </a:rPr>
              <a:t>4</a:t>
            </a:r>
          </a:p>
        </p:txBody>
      </p:sp>
      <p:cxnSp>
        <p:nvCxnSpPr>
          <p:cNvPr id="15" name="Straight Connector 14"/>
          <p:cNvCxnSpPr/>
          <p:nvPr/>
        </p:nvCxnSpPr>
        <p:spPr bwMode="auto">
          <a:xfrm>
            <a:off x="1196472" y="2388790"/>
            <a:ext cx="177960" cy="0"/>
          </a:xfrm>
          <a:prstGeom prst="line">
            <a:avLst/>
          </a:prstGeom>
          <a:ln>
            <a:headEnd type="none" w="med" len="med"/>
            <a:tailEnd type="none" w="med" len="med"/>
          </a:ln>
          <a:effectLst/>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1371600" y="2291774"/>
            <a:ext cx="331537" cy="584776"/>
          </a:xfrm>
          <a:prstGeom prst="rect">
            <a:avLst/>
          </a:prstGeom>
          <a:noFill/>
        </p:spPr>
        <p:txBody>
          <a:bodyPr wrap="square" rtlCol="0">
            <a:spAutoFit/>
          </a:bodyPr>
          <a:lstStyle/>
          <a:p>
            <a:r>
              <a:rPr lang="en-US" sz="1600" dirty="0">
                <a:latin typeface="+mn-lt"/>
              </a:rPr>
              <a:t>1</a:t>
            </a:r>
          </a:p>
          <a:p>
            <a:endParaRPr lang="en-US" sz="1600" dirty="0">
              <a:latin typeface="+mn-lt"/>
            </a:endParaRPr>
          </a:p>
        </p:txBody>
      </p:sp>
      <p:sp>
        <p:nvSpPr>
          <p:cNvPr id="24" name="TextBox 23"/>
          <p:cNvSpPr txBox="1"/>
          <p:nvPr/>
        </p:nvSpPr>
        <p:spPr>
          <a:xfrm>
            <a:off x="1371600" y="2516366"/>
            <a:ext cx="304800" cy="338554"/>
          </a:xfrm>
          <a:prstGeom prst="rect">
            <a:avLst/>
          </a:prstGeom>
          <a:noFill/>
        </p:spPr>
        <p:txBody>
          <a:bodyPr wrap="square" rtlCol="0">
            <a:spAutoFit/>
          </a:bodyPr>
          <a:lstStyle/>
          <a:p>
            <a:r>
              <a:rPr lang="en-US" sz="1600" dirty="0">
                <a:latin typeface="+mn-lt"/>
              </a:rPr>
              <a:t>4</a:t>
            </a:r>
          </a:p>
        </p:txBody>
      </p:sp>
      <p:cxnSp>
        <p:nvCxnSpPr>
          <p:cNvPr id="25" name="Straight Connector 24"/>
          <p:cNvCxnSpPr/>
          <p:nvPr/>
        </p:nvCxnSpPr>
        <p:spPr bwMode="auto">
          <a:xfrm>
            <a:off x="1425072" y="2592566"/>
            <a:ext cx="177960" cy="0"/>
          </a:xfrm>
          <a:prstGeom prst="line">
            <a:avLst/>
          </a:prstGeom>
          <a:ln>
            <a:headEnd type="none" w="med" len="med"/>
            <a:tailEnd type="none" w="med" len="med"/>
          </a:ln>
          <a:effectLst/>
        </p:spPr>
        <p:style>
          <a:lnRef idx="2">
            <a:schemeClr val="dk1"/>
          </a:lnRef>
          <a:fillRef idx="0">
            <a:schemeClr val="dk1"/>
          </a:fillRef>
          <a:effectRef idx="1">
            <a:schemeClr val="dk1"/>
          </a:effectRef>
          <a:fontRef idx="minor">
            <a:schemeClr val="tx1"/>
          </a:fontRef>
        </p:style>
      </p:cxnSp>
      <p:graphicFrame>
        <p:nvGraphicFramePr>
          <p:cNvPr id="27" name="Object 2"/>
          <p:cNvGraphicFramePr>
            <a:graphicFrameLocks noChangeAspect="1"/>
          </p:cNvGraphicFramePr>
          <p:nvPr>
            <p:extLst>
              <p:ext uri="{D42A27DB-BD31-4B8C-83A1-F6EECF244321}">
                <p14:modId xmlns:p14="http://schemas.microsoft.com/office/powerpoint/2010/main" val="3982358750"/>
              </p:ext>
            </p:extLst>
          </p:nvPr>
        </p:nvGraphicFramePr>
        <p:xfrm>
          <a:off x="228600" y="1123951"/>
          <a:ext cx="2493718" cy="685800"/>
        </p:xfrm>
        <a:graphic>
          <a:graphicData uri="http://schemas.openxmlformats.org/presentationml/2006/ole">
            <mc:AlternateContent xmlns:mc="http://schemas.openxmlformats.org/markup-compatibility/2006">
              <mc:Choice xmlns:v="urn:schemas-microsoft-com:vml" Requires="v">
                <p:oleObj name="Equation" r:id="rId2" imgW="1524000" imgH="419100" progId="Equation.3">
                  <p:embed/>
                </p:oleObj>
              </mc:Choice>
              <mc:Fallback>
                <p:oleObj name="Equation" r:id="rId2" imgW="1524000" imgH="419100" progId="Equation.3">
                  <p:embed/>
                  <p:pic>
                    <p:nvPicPr>
                      <p:cNvPr id="0" name=""/>
                      <p:cNvPicPr>
                        <a:picLocks noChangeAspect="1" noChangeArrowheads="1"/>
                      </p:cNvPicPr>
                      <p:nvPr/>
                    </p:nvPicPr>
                    <p:blipFill>
                      <a:blip r:embed="rId3"/>
                      <a:srcRect/>
                      <a:stretch>
                        <a:fillRect/>
                      </a:stretch>
                    </p:blipFill>
                    <p:spPr bwMode="auto">
                      <a:xfrm>
                        <a:off x="228600" y="1123951"/>
                        <a:ext cx="2493718" cy="685800"/>
                      </a:xfrm>
                      <a:prstGeom prst="rect">
                        <a:avLst/>
                      </a:prstGeom>
                      <a:noFill/>
                    </p:spPr>
                  </p:pic>
                </p:oleObj>
              </mc:Fallback>
            </mc:AlternateContent>
          </a:graphicData>
        </a:graphic>
      </p:graphicFrame>
      <p:graphicFrame>
        <p:nvGraphicFramePr>
          <p:cNvPr id="28" name="Object 2"/>
          <p:cNvGraphicFramePr>
            <a:graphicFrameLocks noChangeAspect="1"/>
          </p:cNvGraphicFramePr>
          <p:nvPr>
            <p:extLst>
              <p:ext uri="{D42A27DB-BD31-4B8C-83A1-F6EECF244321}">
                <p14:modId xmlns:p14="http://schemas.microsoft.com/office/powerpoint/2010/main" val="2025775752"/>
              </p:ext>
            </p:extLst>
          </p:nvPr>
        </p:nvGraphicFramePr>
        <p:xfrm>
          <a:off x="1524000" y="306388"/>
          <a:ext cx="1079500" cy="644525"/>
        </p:xfrm>
        <a:graphic>
          <a:graphicData uri="http://schemas.openxmlformats.org/presentationml/2006/ole">
            <mc:AlternateContent xmlns:mc="http://schemas.openxmlformats.org/markup-compatibility/2006">
              <mc:Choice xmlns:v="urn:schemas-microsoft-com:vml" Requires="v">
                <p:oleObj name="Equation" r:id="rId4" imgW="660400" imgH="393700" progId="Equation.3">
                  <p:embed/>
                </p:oleObj>
              </mc:Choice>
              <mc:Fallback>
                <p:oleObj name="Equation" r:id="rId4" imgW="660400" imgH="393700" progId="Equation.3">
                  <p:embed/>
                  <p:pic>
                    <p:nvPicPr>
                      <p:cNvPr id="0" name=""/>
                      <p:cNvPicPr>
                        <a:picLocks noChangeAspect="1" noChangeArrowheads="1"/>
                      </p:cNvPicPr>
                      <p:nvPr/>
                    </p:nvPicPr>
                    <p:blipFill>
                      <a:blip r:embed="rId5"/>
                      <a:srcRect/>
                      <a:stretch>
                        <a:fillRect/>
                      </a:stretch>
                    </p:blipFill>
                    <p:spPr bwMode="auto">
                      <a:xfrm>
                        <a:off x="1524000" y="306388"/>
                        <a:ext cx="1079500" cy="644525"/>
                      </a:xfrm>
                      <a:prstGeom prst="rect">
                        <a:avLst/>
                      </a:prstGeom>
                      <a:noFill/>
                    </p:spPr>
                  </p:pic>
                </p:oleObj>
              </mc:Fallback>
            </mc:AlternateContent>
          </a:graphicData>
        </a:graphic>
      </p:graphicFrame>
      <p:sp>
        <p:nvSpPr>
          <p:cNvPr id="29" name="TextBox 28"/>
          <p:cNvSpPr txBox="1"/>
          <p:nvPr/>
        </p:nvSpPr>
        <p:spPr>
          <a:xfrm>
            <a:off x="2438400" y="3293646"/>
            <a:ext cx="2558024" cy="369332"/>
          </a:xfrm>
          <a:prstGeom prst="rect">
            <a:avLst/>
          </a:prstGeom>
          <a:noFill/>
        </p:spPr>
        <p:txBody>
          <a:bodyPr wrap="none" rtlCol="0">
            <a:spAutoFit/>
          </a:bodyPr>
          <a:lstStyle/>
          <a:p>
            <a:r>
              <a:rPr lang="en-US" sz="1800" dirty="0">
                <a:latin typeface="+mn-lt"/>
              </a:rPr>
              <a:t>(5+1) / (8+6) = 6/14 = 3/7</a:t>
            </a:r>
          </a:p>
        </p:txBody>
      </p:sp>
      <p:sp>
        <p:nvSpPr>
          <p:cNvPr id="30" name="TextBox 29"/>
          <p:cNvSpPr txBox="1"/>
          <p:nvPr/>
        </p:nvSpPr>
        <p:spPr>
          <a:xfrm>
            <a:off x="2438400" y="3562350"/>
            <a:ext cx="2018501" cy="369332"/>
          </a:xfrm>
          <a:prstGeom prst="rect">
            <a:avLst/>
          </a:prstGeom>
          <a:noFill/>
        </p:spPr>
        <p:txBody>
          <a:bodyPr wrap="none" rtlCol="0">
            <a:spAutoFit/>
          </a:bodyPr>
          <a:lstStyle/>
          <a:p>
            <a:r>
              <a:rPr lang="en-US" sz="1800" dirty="0">
                <a:latin typeface="+mn-lt"/>
              </a:rPr>
              <a:t>(0+1) / (8+6) = 1/14</a:t>
            </a:r>
          </a:p>
        </p:txBody>
      </p:sp>
      <p:sp>
        <p:nvSpPr>
          <p:cNvPr id="32" name="TextBox 31"/>
          <p:cNvSpPr txBox="1"/>
          <p:nvPr/>
        </p:nvSpPr>
        <p:spPr>
          <a:xfrm>
            <a:off x="2438400" y="4145214"/>
            <a:ext cx="1898552" cy="369332"/>
          </a:xfrm>
          <a:prstGeom prst="rect">
            <a:avLst/>
          </a:prstGeom>
          <a:noFill/>
        </p:spPr>
        <p:txBody>
          <a:bodyPr wrap="none" rtlCol="0">
            <a:spAutoFit/>
          </a:bodyPr>
          <a:lstStyle/>
          <a:p>
            <a:r>
              <a:rPr lang="en-US" altLang="zh-TW" sz="1800" dirty="0">
                <a:latin typeface="Calibri" charset="0"/>
              </a:rPr>
              <a:t>(1+1) / (3+6) = 2/9 </a:t>
            </a:r>
            <a:endParaRPr lang="en-US" sz="1800" dirty="0">
              <a:latin typeface="+mn-lt"/>
            </a:endParaRPr>
          </a:p>
        </p:txBody>
      </p:sp>
      <p:sp>
        <p:nvSpPr>
          <p:cNvPr id="33" name="TextBox 32"/>
          <p:cNvSpPr txBox="1"/>
          <p:nvPr/>
        </p:nvSpPr>
        <p:spPr>
          <a:xfrm>
            <a:off x="2438400" y="3852082"/>
            <a:ext cx="2018501" cy="369332"/>
          </a:xfrm>
          <a:prstGeom prst="rect">
            <a:avLst/>
          </a:prstGeom>
          <a:noFill/>
        </p:spPr>
        <p:txBody>
          <a:bodyPr wrap="none" rtlCol="0">
            <a:spAutoFit/>
          </a:bodyPr>
          <a:lstStyle/>
          <a:p>
            <a:r>
              <a:rPr lang="en-US" sz="1800" dirty="0">
                <a:latin typeface="+mn-lt"/>
              </a:rPr>
              <a:t>(0+1) / (8+6) = 1/14</a:t>
            </a:r>
          </a:p>
        </p:txBody>
      </p:sp>
      <p:sp>
        <p:nvSpPr>
          <p:cNvPr id="34" name="TextBox 33"/>
          <p:cNvSpPr txBox="1"/>
          <p:nvPr/>
        </p:nvSpPr>
        <p:spPr>
          <a:xfrm>
            <a:off x="2438400" y="4412218"/>
            <a:ext cx="1898552" cy="369332"/>
          </a:xfrm>
          <a:prstGeom prst="rect">
            <a:avLst/>
          </a:prstGeom>
          <a:noFill/>
        </p:spPr>
        <p:txBody>
          <a:bodyPr wrap="none" rtlCol="0">
            <a:spAutoFit/>
          </a:bodyPr>
          <a:lstStyle/>
          <a:p>
            <a:r>
              <a:rPr lang="en-US" altLang="zh-TW" sz="1800" dirty="0">
                <a:latin typeface="Calibri" charset="0"/>
              </a:rPr>
              <a:t>(1+1) / (3+6) = 2/9 </a:t>
            </a:r>
            <a:endParaRPr lang="en-US" sz="1800" dirty="0">
              <a:latin typeface="+mn-lt"/>
            </a:endParaRPr>
          </a:p>
        </p:txBody>
      </p:sp>
      <p:sp>
        <p:nvSpPr>
          <p:cNvPr id="35" name="TextBox 34"/>
          <p:cNvSpPr txBox="1"/>
          <p:nvPr/>
        </p:nvSpPr>
        <p:spPr>
          <a:xfrm>
            <a:off x="2444848" y="4669254"/>
            <a:ext cx="1898552" cy="369332"/>
          </a:xfrm>
          <a:prstGeom prst="rect">
            <a:avLst/>
          </a:prstGeom>
          <a:noFill/>
        </p:spPr>
        <p:txBody>
          <a:bodyPr wrap="none" rtlCol="0">
            <a:spAutoFit/>
          </a:bodyPr>
          <a:lstStyle/>
          <a:p>
            <a:r>
              <a:rPr lang="en-US" altLang="zh-TW" sz="1800" dirty="0">
                <a:latin typeface="Calibri" charset="0"/>
              </a:rPr>
              <a:t>(1+1) / (3+6) = 2/9 </a:t>
            </a:r>
            <a:endParaRPr lang="en-US" sz="1800" dirty="0">
              <a:latin typeface="+mn-lt"/>
            </a:endParaRPr>
          </a:p>
        </p:txBody>
      </p:sp>
      <p:sp>
        <p:nvSpPr>
          <p:cNvPr id="36" name="TextBox 35"/>
          <p:cNvSpPr txBox="1"/>
          <p:nvPr/>
        </p:nvSpPr>
        <p:spPr>
          <a:xfrm>
            <a:off x="5862947" y="2585118"/>
            <a:ext cx="2366653" cy="584776"/>
          </a:xfrm>
          <a:prstGeom prst="rect">
            <a:avLst/>
          </a:prstGeom>
          <a:noFill/>
        </p:spPr>
        <p:txBody>
          <a:bodyPr wrap="none" rtlCol="0">
            <a:spAutoFit/>
          </a:bodyPr>
          <a:lstStyle/>
          <a:p>
            <a:pPr lvl="1"/>
            <a:r>
              <a:rPr lang="en-US" altLang="zh-TW" sz="1600" dirty="0">
                <a:latin typeface="Calibri" charset="0"/>
              </a:rPr>
              <a:t> 3/4 * (3/7)</a:t>
            </a:r>
            <a:r>
              <a:rPr lang="en-US" altLang="zh-TW" sz="1600" baseline="30000" dirty="0">
                <a:latin typeface="Calibri" charset="0"/>
              </a:rPr>
              <a:t>3</a:t>
            </a:r>
            <a:r>
              <a:rPr lang="en-US" altLang="zh-TW" sz="1600" dirty="0">
                <a:latin typeface="Calibri" charset="0"/>
              </a:rPr>
              <a:t> * 1/14 * 1/14 </a:t>
            </a:r>
          </a:p>
          <a:p>
            <a:pPr lvl="1">
              <a:buFont typeface="Wingdings" charset="2"/>
              <a:buNone/>
            </a:pPr>
            <a:r>
              <a:rPr lang="en-US" altLang="zh-TW" sz="1600" dirty="0">
                <a:latin typeface="Calibri" charset="0"/>
                <a:ea typeface="Arial" charset="0"/>
                <a:cs typeface="Arial" charset="0"/>
              </a:rPr>
              <a:t>	≈ 0.0003</a:t>
            </a:r>
          </a:p>
        </p:txBody>
      </p:sp>
      <p:graphicFrame>
        <p:nvGraphicFramePr>
          <p:cNvPr id="38" name="Object 2"/>
          <p:cNvGraphicFramePr>
            <a:graphicFrameLocks noChangeAspect="1"/>
          </p:cNvGraphicFramePr>
          <p:nvPr>
            <p:extLst>
              <p:ext uri="{D42A27DB-BD31-4B8C-83A1-F6EECF244321}">
                <p14:modId xmlns:p14="http://schemas.microsoft.com/office/powerpoint/2010/main" val="1024907398"/>
              </p:ext>
            </p:extLst>
          </p:nvPr>
        </p:nvGraphicFramePr>
        <p:xfrm>
          <a:off x="6158832" y="2701422"/>
          <a:ext cx="223838" cy="140494"/>
        </p:xfrm>
        <a:graphic>
          <a:graphicData uri="http://schemas.openxmlformats.org/presentationml/2006/ole">
            <mc:AlternateContent xmlns:mc="http://schemas.openxmlformats.org/markup-compatibility/2006">
              <mc:Choice xmlns:v="urn:schemas-microsoft-com:vml" Requires="v">
                <p:oleObj name="Equation" r:id="rId6" imgW="152280" imgH="126720" progId="Equation.3">
                  <p:embed/>
                </p:oleObj>
              </mc:Choice>
              <mc:Fallback>
                <p:oleObj name="Equation" r:id="rId6" imgW="152280" imgH="12672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58832" y="2701422"/>
                        <a:ext cx="223838" cy="140494"/>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graphicFrame>
        <p:nvGraphicFramePr>
          <p:cNvPr id="39" name="Object 2"/>
          <p:cNvGraphicFramePr>
            <a:graphicFrameLocks noChangeAspect="1"/>
          </p:cNvGraphicFramePr>
          <p:nvPr>
            <p:extLst>
              <p:ext uri="{D42A27DB-BD31-4B8C-83A1-F6EECF244321}">
                <p14:modId xmlns:p14="http://schemas.microsoft.com/office/powerpoint/2010/main" val="3081629764"/>
              </p:ext>
            </p:extLst>
          </p:nvPr>
        </p:nvGraphicFramePr>
        <p:xfrm>
          <a:off x="6096000" y="3768222"/>
          <a:ext cx="223838" cy="140494"/>
        </p:xfrm>
        <a:graphic>
          <a:graphicData uri="http://schemas.openxmlformats.org/presentationml/2006/ole">
            <mc:AlternateContent xmlns:mc="http://schemas.openxmlformats.org/markup-compatibility/2006">
              <mc:Choice xmlns:v="urn:schemas-microsoft-com:vml" Requires="v">
                <p:oleObj name="Equation" r:id="rId8" imgW="152280" imgH="126720" progId="Equation.3">
                  <p:embed/>
                </p:oleObj>
              </mc:Choice>
              <mc:Fallback>
                <p:oleObj name="Equation" r:id="rId8" imgW="152280" imgH="12672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3768222"/>
                        <a:ext cx="223838" cy="140494"/>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837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1" nodeType="click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0" grpId="1"/>
      <p:bldP spid="7" grpId="0"/>
      <p:bldP spid="8" grpId="0" build="allAtOnce"/>
      <p:bldP spid="13" grpId="0"/>
      <p:bldP spid="24" grpId="0"/>
      <p:bldP spid="29" grpId="0"/>
      <p:bldP spid="30" grpId="0"/>
      <p:bldP spid="32" grpId="0"/>
      <p:bldP spid="33" grpId="0"/>
      <p:bldP spid="34" grpId="0"/>
      <p:bldP spid="35" grpId="0"/>
      <p:bldP spid="3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GB" dirty="0"/>
              <a:t>Na</a:t>
            </a:r>
            <a:r>
              <a:rPr lang="fr-FR" dirty="0" err="1"/>
              <a:t>ï</a:t>
            </a:r>
            <a:r>
              <a:rPr lang="en-GB" dirty="0" err="1"/>
              <a:t>ve</a:t>
            </a:r>
            <a:r>
              <a:rPr lang="en-GB" dirty="0"/>
              <a:t> Bayes in Spam Filtering</a:t>
            </a:r>
            <a:endParaRPr lang="en-US" dirty="0"/>
          </a:p>
        </p:txBody>
      </p:sp>
      <p:sp>
        <p:nvSpPr>
          <p:cNvPr id="74755" name="Rectangle 3"/>
          <p:cNvSpPr>
            <a:spLocks noGrp="1" noChangeArrowheads="1"/>
          </p:cNvSpPr>
          <p:nvPr>
            <p:ph sz="quarter" idx="1"/>
          </p:nvPr>
        </p:nvSpPr>
        <p:spPr/>
        <p:txBody>
          <a:bodyPr/>
          <a:lstStyle/>
          <a:p>
            <a:r>
              <a:rPr lang="en-US" dirty="0" err="1">
                <a:latin typeface="Calibri" charset="0"/>
              </a:rPr>
              <a:t>SpamAssassin</a:t>
            </a:r>
            <a:r>
              <a:rPr lang="en-US" dirty="0">
                <a:latin typeface="Calibri" charset="0"/>
              </a:rPr>
              <a:t> Features:</a:t>
            </a:r>
          </a:p>
          <a:p>
            <a:pPr lvl="1"/>
            <a:r>
              <a:rPr lang="en-US" sz="1600" dirty="0"/>
              <a:t>Online Pharmacy</a:t>
            </a:r>
          </a:p>
          <a:p>
            <a:pPr lvl="1"/>
            <a:r>
              <a:rPr lang="en-US" sz="1600" dirty="0"/>
              <a:t>Mentions millions of (dollar) ((dollar) NN,NNN,NNN.NN)</a:t>
            </a:r>
          </a:p>
          <a:p>
            <a:pPr lvl="1"/>
            <a:r>
              <a:rPr lang="en-US" sz="1600" dirty="0"/>
              <a:t>Phrase: impress ... </a:t>
            </a:r>
          </a:p>
          <a:p>
            <a:pPr lvl="1"/>
            <a:r>
              <a:rPr lang="en-US" sz="1600" dirty="0"/>
              <a:t>From: starts with many numbers</a:t>
            </a:r>
          </a:p>
          <a:p>
            <a:pPr lvl="1"/>
            <a:r>
              <a:rPr lang="en-US" sz="1600" dirty="0"/>
              <a:t>Subject is all capitals</a:t>
            </a:r>
          </a:p>
          <a:p>
            <a:pPr lvl="1"/>
            <a:r>
              <a:rPr lang="en-US" sz="1600" dirty="0"/>
              <a:t>HTML has a low ratio of text to image area</a:t>
            </a:r>
          </a:p>
          <a:p>
            <a:pPr lvl="1"/>
            <a:r>
              <a:rPr lang="en-US" sz="1600" dirty="0"/>
              <a:t>One hundred percent guaranteed</a:t>
            </a:r>
          </a:p>
          <a:p>
            <a:pPr lvl="1"/>
            <a:r>
              <a:rPr lang="en-US" sz="1600" dirty="0"/>
              <a:t>Claims you can be removed from the list</a:t>
            </a:r>
          </a:p>
          <a:p>
            <a:pPr lvl="1"/>
            <a:r>
              <a:rPr lang="en-US" sz="1600" dirty="0"/>
              <a:t>'Prestigious Non-Accredited Universities'		</a:t>
            </a:r>
          </a:p>
          <a:p>
            <a:pPr lvl="1"/>
            <a:r>
              <a:rPr lang="en-US" sz="1600" dirty="0">
                <a:hlinkClick r:id="rId2"/>
              </a:rPr>
              <a:t>http://spamassassin.apache.org/tests_3_3_x.html</a:t>
            </a:r>
            <a:endParaRPr lang="en-US" sz="1600" dirty="0"/>
          </a:p>
        </p:txBody>
      </p:sp>
    </p:spTree>
    <p:extLst>
      <p:ext uri="{BB962C8B-B14F-4D97-AF65-F5344CB8AC3E}">
        <p14:creationId xmlns:p14="http://schemas.microsoft.com/office/powerpoint/2010/main" val="49457148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371600" y="209550"/>
            <a:ext cx="7467600" cy="742950"/>
          </a:xfrm>
        </p:spPr>
        <p:txBody>
          <a:bodyPr/>
          <a:lstStyle/>
          <a:p>
            <a:r>
              <a:rPr lang="en-US" dirty="0"/>
              <a:t>Summary: Naive Bayes is Not So Naive</a:t>
            </a:r>
          </a:p>
        </p:txBody>
      </p:sp>
      <p:sp>
        <p:nvSpPr>
          <p:cNvPr id="73731" name="Rectangle 3"/>
          <p:cNvSpPr>
            <a:spLocks noGrp="1" noChangeArrowheads="1"/>
          </p:cNvSpPr>
          <p:nvPr>
            <p:ph sz="quarter" idx="1"/>
          </p:nvPr>
        </p:nvSpPr>
        <p:spPr>
          <a:xfrm>
            <a:off x="152400" y="1143000"/>
            <a:ext cx="8763000" cy="3771900"/>
          </a:xfrm>
        </p:spPr>
        <p:txBody>
          <a:bodyPr/>
          <a:lstStyle/>
          <a:p>
            <a:pPr marL="228600" indent="-228600"/>
            <a:r>
              <a:rPr lang="en-US" dirty="0">
                <a:latin typeface="Calibri" charset="0"/>
              </a:rPr>
              <a:t>Very Fast, low storage requirements</a:t>
            </a:r>
          </a:p>
          <a:p>
            <a:pPr marL="228600" indent="-228600"/>
            <a:r>
              <a:rPr lang="en-US" dirty="0">
                <a:latin typeface="Calibri" charset="0"/>
              </a:rPr>
              <a:t>Robust to Irrelevant Features</a:t>
            </a:r>
          </a:p>
          <a:p>
            <a:pPr marL="571500" lvl="1" indent="-165100">
              <a:lnSpc>
                <a:spcPct val="90000"/>
              </a:lnSpc>
              <a:buFont typeface="Wingdings" charset="2"/>
              <a:buNone/>
            </a:pPr>
            <a:r>
              <a:rPr lang="en-US" dirty="0">
                <a:latin typeface="Calibri" charset="0"/>
              </a:rPr>
              <a:t>	</a:t>
            </a:r>
            <a:r>
              <a:rPr lang="en-US" sz="1800" dirty="0">
                <a:latin typeface="Calibri" charset="0"/>
              </a:rPr>
              <a:t>Irrelevant Features cancel each other without affecting results</a:t>
            </a:r>
          </a:p>
          <a:p>
            <a:pPr marL="228600" indent="-228600"/>
            <a:r>
              <a:rPr lang="en-US" dirty="0">
                <a:latin typeface="Calibri" charset="0"/>
              </a:rPr>
              <a:t>Very good in domains with many equally important features</a:t>
            </a:r>
          </a:p>
          <a:p>
            <a:pPr marL="571500" lvl="1" indent="-165100">
              <a:buFont typeface="Wingdings" charset="2"/>
              <a:buNone/>
            </a:pPr>
            <a:r>
              <a:rPr lang="en-US" dirty="0">
                <a:latin typeface="Calibri" charset="0"/>
              </a:rPr>
              <a:t>	</a:t>
            </a:r>
            <a:r>
              <a:rPr lang="en-US" sz="1800" dirty="0">
                <a:latin typeface="Calibri" charset="0"/>
              </a:rPr>
              <a:t>Decision Trees suffer from </a:t>
            </a:r>
            <a:r>
              <a:rPr lang="en-US" sz="1800" i="1" dirty="0">
                <a:latin typeface="Calibri" charset="0"/>
              </a:rPr>
              <a:t>fragmentation</a:t>
            </a:r>
            <a:r>
              <a:rPr lang="en-US" sz="1800" dirty="0">
                <a:latin typeface="Calibri" charset="0"/>
              </a:rPr>
              <a:t> in such cases – especially if little data</a:t>
            </a:r>
          </a:p>
          <a:p>
            <a:pPr marL="228600" indent="-228600"/>
            <a:r>
              <a:rPr lang="en-US" dirty="0">
                <a:latin typeface="Calibri" charset="0"/>
              </a:rPr>
              <a:t>Optimal if the independence assumptions hold: </a:t>
            </a:r>
            <a:r>
              <a:rPr lang="en-US" sz="2000" dirty="0">
                <a:latin typeface="Calibri" charset="0"/>
              </a:rPr>
              <a:t>If assumed independence is correct, then it is the Bayes Optimal Classifier for problem</a:t>
            </a:r>
            <a:endParaRPr lang="en-US" dirty="0">
              <a:latin typeface="Calibri" charset="0"/>
            </a:endParaRPr>
          </a:p>
          <a:p>
            <a:pPr marL="228600" indent="-228600"/>
            <a:r>
              <a:rPr lang="en-US" dirty="0">
                <a:latin typeface="Calibri" charset="0"/>
              </a:rPr>
              <a:t>A good dependable baseline for text classification</a:t>
            </a:r>
          </a:p>
          <a:p>
            <a:pPr marL="571500" lvl="1"/>
            <a:r>
              <a:rPr lang="en-US" sz="2400" b="1" dirty="0">
                <a:solidFill>
                  <a:srgbClr val="FF0000"/>
                </a:solidFill>
                <a:latin typeface="Calibri" charset="0"/>
              </a:rPr>
              <a:t>But we will see other classifiers that give better accuracy</a:t>
            </a:r>
          </a:p>
          <a:p>
            <a:pPr marL="228600" indent="-228600"/>
            <a:endParaRPr lang="en-US" dirty="0">
              <a:latin typeface="Calibri" charset="0"/>
            </a:endParaRPr>
          </a:p>
        </p:txBody>
      </p:sp>
    </p:spTree>
    <p:extLst>
      <p:ext uri="{BB962C8B-B14F-4D97-AF65-F5344CB8AC3E}">
        <p14:creationId xmlns:p14="http://schemas.microsoft.com/office/powerpoint/2010/main" val="804126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373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73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73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7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a:latin typeface="Calibri (Headings)"/>
                <a:cs typeface="Calibri (Headings)"/>
              </a:rPr>
              <a:t>Text Classification and Na</a:t>
            </a:r>
            <a:r>
              <a:rPr lang="fr-FR" sz="4000">
                <a:latin typeface="Calibri (Headings)"/>
                <a:cs typeface="Calibri (Headings)"/>
              </a:rPr>
              <a:t>ï</a:t>
            </a:r>
            <a:r>
              <a:rPr lang="en-US" sz="400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Multinomial Na</a:t>
            </a:r>
            <a:r>
              <a:rPr lang="fr-FR" sz="3600" dirty="0" err="1">
                <a:solidFill>
                  <a:srgbClr val="A4001D"/>
                </a:solidFill>
                <a:latin typeface="Calibri"/>
                <a:ea typeface="ＭＳ Ｐゴシック" charset="0"/>
                <a:cs typeface="Calibri"/>
              </a:rPr>
              <a:t>ï</a:t>
            </a:r>
            <a:r>
              <a:rPr lang="en-US" sz="3600" dirty="0" err="1">
                <a:solidFill>
                  <a:srgbClr val="A4001D"/>
                </a:solidFill>
                <a:latin typeface="Calibri"/>
                <a:ea typeface="ＭＳ Ｐゴシック" charset="0"/>
                <a:cs typeface="Calibri"/>
              </a:rPr>
              <a:t>ve</a:t>
            </a:r>
            <a:r>
              <a:rPr lang="en-US" sz="3600" dirty="0">
                <a:solidFill>
                  <a:srgbClr val="A4001D"/>
                </a:solidFill>
                <a:latin typeface="Calibri"/>
                <a:ea typeface="ＭＳ Ｐゴシック" charset="0"/>
                <a:cs typeface="Calibri"/>
              </a:rPr>
              <a:t> Bayes: A Worked Example</a:t>
            </a:r>
          </a:p>
        </p:txBody>
      </p:sp>
    </p:spTree>
    <p:extLst>
      <p:ext uri="{BB962C8B-B14F-4D97-AF65-F5344CB8AC3E}">
        <p14:creationId xmlns:p14="http://schemas.microsoft.com/office/powerpoint/2010/main" val="85261647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995936" y="438150"/>
            <a:ext cx="4680520" cy="1371600"/>
          </a:xfrm>
        </p:spPr>
        <p:txBody>
          <a:bodyPr/>
          <a:lstStyle/>
          <a:p>
            <a:r>
              <a:rPr lang="en-US" sz="4000" dirty="0">
                <a:latin typeface="Calibri (Headings)"/>
                <a:cs typeface="Calibri (Headings)"/>
              </a:rPr>
              <a:t>Text Classification and Na</a:t>
            </a:r>
            <a:r>
              <a:rPr lang="fr-FR" sz="4000" dirty="0" err="1">
                <a:latin typeface="Calibri (Headings)"/>
                <a:cs typeface="Calibri (Headings)"/>
              </a:rPr>
              <a:t>ï</a:t>
            </a:r>
            <a:r>
              <a:rPr lang="en-US" sz="4000" dirty="0" err="1">
                <a:latin typeface="Calibri (Headings)"/>
                <a:cs typeface="Calibri (Headings)"/>
              </a:rPr>
              <a:t>ve</a:t>
            </a:r>
            <a:r>
              <a:rPr lang="en-US" sz="4000" dirty="0">
                <a:latin typeface="Calibri (Headings)"/>
                <a:cs typeface="Calibri (Headings)"/>
              </a:rPr>
              <a:t> Bayes</a:t>
            </a:r>
            <a:endParaRPr lang="en-US" sz="4000" dirty="0"/>
          </a:p>
        </p:txBody>
      </p:sp>
      <p:sp>
        <p:nvSpPr>
          <p:cNvPr id="6" name="Subtitle 5"/>
          <p:cNvSpPr>
            <a:spLocks noGrp="1"/>
          </p:cNvSpPr>
          <p:nvPr>
            <p:ph type="subTitle" idx="1"/>
          </p:nvPr>
        </p:nvSpPr>
        <p:spPr/>
        <p:txBody>
          <a:bodyPr/>
          <a:lstStyle/>
          <a:p>
            <a:r>
              <a:rPr lang="en-US" sz="3200" dirty="0">
                <a:solidFill>
                  <a:srgbClr val="A4001D"/>
                </a:solidFill>
                <a:ea typeface="ＭＳ Ｐゴシック" charset="0"/>
                <a:cs typeface="Calibri"/>
              </a:rPr>
              <a:t>Precision, Recall, and the F measure</a:t>
            </a:r>
          </a:p>
        </p:txBody>
      </p:sp>
    </p:spTree>
    <p:extLst>
      <p:ext uri="{BB962C8B-B14F-4D97-AF65-F5344CB8AC3E}">
        <p14:creationId xmlns:p14="http://schemas.microsoft.com/office/powerpoint/2010/main" val="33668092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pPr eaLnBrk="1" hangingPunct="1"/>
            <a:r>
              <a:rPr lang="en-US" dirty="0">
                <a:ea typeface="ＭＳ Ｐゴシック" charset="0"/>
                <a:cs typeface="ＭＳ Ｐゴシック" charset="0"/>
              </a:rPr>
              <a:t>The 2-by-2 contingency table</a:t>
            </a:r>
          </a:p>
        </p:txBody>
      </p:sp>
      <p:graphicFrame>
        <p:nvGraphicFramePr>
          <p:cNvPr id="188420" name="Group 4"/>
          <p:cNvGraphicFramePr>
            <a:graphicFrameLocks noGrp="1"/>
          </p:cNvGraphicFramePr>
          <p:nvPr>
            <p:extLst>
              <p:ext uri="{D42A27DB-BD31-4B8C-83A1-F6EECF244321}">
                <p14:modId xmlns:p14="http://schemas.microsoft.com/office/powerpoint/2010/main" val="1175069005"/>
              </p:ext>
            </p:extLst>
          </p:nvPr>
        </p:nvGraphicFramePr>
        <p:xfrm>
          <a:off x="1447800" y="1504950"/>
          <a:ext cx="6172200" cy="130302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mn-lt"/>
                        <a:ea typeface="ＭＳ Ｐゴシック" charset="0"/>
                        <a:cs typeface="ＭＳ Ｐゴシック" charset="0"/>
                      </a:endParaRP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n-lt"/>
                          <a:ea typeface="ＭＳ Ｐゴシック" charset="0"/>
                          <a:cs typeface="ＭＳ Ｐゴシック" charset="0"/>
                        </a:rPr>
                        <a:t>correct</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not correct</a:t>
                      </a: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n-lt"/>
                          <a:ea typeface="ＭＳ Ｐゴシック" charset="0"/>
                          <a:cs typeface="ＭＳ Ｐゴシック" charset="0"/>
                        </a:rPr>
                        <a:t>selected</a:t>
                      </a: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tp</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fp</a:t>
                      </a: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not selected</a:t>
                      </a: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fn</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mn-lt"/>
                          <a:ea typeface="ＭＳ Ｐゴシック" charset="0"/>
                          <a:cs typeface="ＭＳ Ｐゴシック" charset="0"/>
                        </a:rPr>
                        <a:t>tn</a:t>
                      </a:r>
                      <a:endParaRPr kumimoji="0" lang="en-US" sz="2400" b="0" i="0" u="none" strike="noStrike" cap="none" normalizeH="0" baseline="0" dirty="0">
                        <a:ln>
                          <a:noFill/>
                        </a:ln>
                        <a:solidFill>
                          <a:schemeClr val="tx1"/>
                        </a:solidFill>
                        <a:effectLst/>
                        <a:latin typeface="+mn-lt"/>
                        <a:ea typeface="ＭＳ Ｐゴシック" charset="0"/>
                        <a:cs typeface="ＭＳ Ｐゴシック" charset="0"/>
                      </a:endParaRP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27794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pPr eaLnBrk="1" hangingPunct="1"/>
            <a:r>
              <a:rPr lang="en-US" dirty="0">
                <a:ea typeface="ＭＳ Ｐゴシック" charset="0"/>
                <a:cs typeface="ＭＳ Ｐゴシック" charset="0"/>
              </a:rPr>
              <a:t>Precision and recall</a:t>
            </a:r>
          </a:p>
        </p:txBody>
      </p:sp>
      <p:sp>
        <p:nvSpPr>
          <p:cNvPr id="65538" name="Rectangle 3"/>
          <p:cNvSpPr>
            <a:spLocks noGrp="1" noChangeArrowheads="1"/>
          </p:cNvSpPr>
          <p:nvPr>
            <p:ph type="body" idx="1"/>
          </p:nvPr>
        </p:nvSpPr>
        <p:spPr/>
        <p:txBody>
          <a:bodyPr/>
          <a:lstStyle/>
          <a:p>
            <a:pPr eaLnBrk="1" hangingPunct="1"/>
            <a:r>
              <a:rPr lang="en-US" b="1" dirty="0">
                <a:ea typeface="ＭＳ Ｐゴシック" charset="0"/>
                <a:cs typeface="ＭＳ Ｐゴシック" charset="0"/>
              </a:rPr>
              <a:t>Precision</a:t>
            </a:r>
            <a:r>
              <a:rPr lang="en-US" dirty="0">
                <a:ea typeface="ＭＳ Ｐゴシック" charset="0"/>
                <a:cs typeface="ＭＳ Ｐゴシック" charset="0"/>
              </a:rPr>
              <a:t>: % of selected items that are correct</a:t>
            </a:r>
            <a:br>
              <a:rPr lang="en-US" dirty="0">
                <a:ea typeface="ＭＳ Ｐゴシック" charset="0"/>
                <a:cs typeface="ＭＳ Ｐゴシック" charset="0"/>
              </a:rPr>
            </a:br>
            <a:r>
              <a:rPr lang="en-US" b="1" dirty="0">
                <a:ea typeface="ＭＳ Ｐゴシック" charset="0"/>
                <a:cs typeface="ＭＳ Ｐゴシック" charset="0"/>
              </a:rPr>
              <a:t>Recall</a:t>
            </a:r>
            <a:r>
              <a:rPr lang="en-US" dirty="0">
                <a:ea typeface="ＭＳ Ｐゴシック" charset="0"/>
                <a:cs typeface="ＭＳ Ｐゴシック" charset="0"/>
              </a:rPr>
              <a:t>: % of correct items that are selected</a:t>
            </a:r>
          </a:p>
          <a:p>
            <a:pPr eaLnBrk="1" hangingPunct="1"/>
            <a:endParaRPr lang="en-US" dirty="0">
              <a:ea typeface="ＭＳ Ｐゴシック" charset="0"/>
              <a:cs typeface="ＭＳ Ｐゴシック" charset="0"/>
            </a:endParaRPr>
          </a:p>
        </p:txBody>
      </p:sp>
      <p:graphicFrame>
        <p:nvGraphicFramePr>
          <p:cNvPr id="188420" name="Group 4"/>
          <p:cNvGraphicFramePr>
            <a:graphicFrameLocks noGrp="1"/>
          </p:cNvGraphicFramePr>
          <p:nvPr>
            <p:extLst>
              <p:ext uri="{D42A27DB-BD31-4B8C-83A1-F6EECF244321}">
                <p14:modId xmlns:p14="http://schemas.microsoft.com/office/powerpoint/2010/main" val="3801760762"/>
              </p:ext>
            </p:extLst>
          </p:nvPr>
        </p:nvGraphicFramePr>
        <p:xfrm>
          <a:off x="1447800" y="3695700"/>
          <a:ext cx="6172200" cy="112014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mn-lt"/>
                        <a:ea typeface="ＭＳ Ｐゴシック" charset="0"/>
                        <a:cs typeface="ＭＳ Ｐゴシック" charset="0"/>
                      </a:endParaRP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ea typeface="ＭＳ Ｐゴシック" charset="0"/>
                          <a:cs typeface="ＭＳ Ｐゴシック" charset="0"/>
                        </a:rPr>
                        <a:t>correct</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n-lt"/>
                          <a:ea typeface="ＭＳ Ｐゴシック" charset="0"/>
                          <a:cs typeface="ＭＳ Ｐゴシック" charset="0"/>
                        </a:rPr>
                        <a:t>not correct</a:t>
                      </a: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ea typeface="ＭＳ Ｐゴシック" charset="0"/>
                          <a:cs typeface="ＭＳ Ｐゴシック" charset="0"/>
                        </a:rPr>
                        <a:t>selected</a:t>
                      </a: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err="1">
                          <a:ln>
                            <a:noFill/>
                          </a:ln>
                          <a:solidFill>
                            <a:schemeClr val="tx1"/>
                          </a:solidFill>
                          <a:effectLst/>
                          <a:latin typeface="+mn-lt"/>
                          <a:ea typeface="ＭＳ Ｐゴシック" charset="0"/>
                          <a:cs typeface="ＭＳ Ｐゴシック" charset="0"/>
                        </a:rPr>
                        <a:t>tp</a:t>
                      </a:r>
                      <a:endParaRPr kumimoji="0" lang="en-US" sz="2000" b="0" i="0" u="none" strike="noStrike" cap="none" normalizeH="0" baseline="0" dirty="0">
                        <a:ln>
                          <a:noFill/>
                        </a:ln>
                        <a:solidFill>
                          <a:schemeClr val="tx1"/>
                        </a:solidFill>
                        <a:effectLst/>
                        <a:latin typeface="+mn-lt"/>
                        <a:ea typeface="ＭＳ Ｐゴシック" charset="0"/>
                        <a:cs typeface="ＭＳ Ｐゴシック" charset="0"/>
                      </a:endParaRP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n-lt"/>
                          <a:ea typeface="ＭＳ Ｐゴシック" charset="0"/>
                          <a:cs typeface="ＭＳ Ｐゴシック" charset="0"/>
                        </a:rPr>
                        <a:t>fp</a:t>
                      </a: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n-lt"/>
                          <a:ea typeface="ＭＳ Ｐゴシック" charset="0"/>
                          <a:cs typeface="ＭＳ Ｐゴシック" charset="0"/>
                        </a:rPr>
                        <a:t>not selected</a:t>
                      </a: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n-lt"/>
                          <a:ea typeface="ＭＳ Ｐゴシック" charset="0"/>
                          <a:cs typeface="ＭＳ Ｐゴシック" charset="0"/>
                        </a:rPr>
                        <a:t>fn</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err="1">
                          <a:ln>
                            <a:noFill/>
                          </a:ln>
                          <a:solidFill>
                            <a:schemeClr val="tx1"/>
                          </a:solidFill>
                          <a:effectLst/>
                          <a:latin typeface="+mn-lt"/>
                          <a:ea typeface="ＭＳ Ｐゴシック" charset="0"/>
                          <a:cs typeface="ＭＳ Ｐゴシック" charset="0"/>
                        </a:rPr>
                        <a:t>tn</a:t>
                      </a:r>
                      <a:endParaRPr kumimoji="0" lang="en-US" sz="2000" b="0" i="0" u="none" strike="noStrike" cap="none" normalizeH="0" baseline="0" dirty="0">
                        <a:ln>
                          <a:noFill/>
                        </a:ln>
                        <a:solidFill>
                          <a:schemeClr val="tx1"/>
                        </a:solidFill>
                        <a:effectLst/>
                        <a:latin typeface="+mn-lt"/>
                        <a:ea typeface="ＭＳ Ｐゴシック" charset="0"/>
                        <a:cs typeface="ＭＳ Ｐゴシック" charset="0"/>
                      </a:endParaRP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46803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lstStyle/>
          <a:p>
            <a:r>
              <a:rPr lang="en-US" dirty="0"/>
              <a:t>A combined measure: F</a:t>
            </a:r>
          </a:p>
        </p:txBody>
      </p:sp>
      <p:sp>
        <p:nvSpPr>
          <p:cNvPr id="67586" name="Rectangle 3"/>
          <p:cNvSpPr>
            <a:spLocks noGrp="1" noChangeArrowheads="1"/>
          </p:cNvSpPr>
          <p:nvPr>
            <p:ph type="body" idx="1"/>
          </p:nvPr>
        </p:nvSpPr>
        <p:spPr/>
        <p:txBody>
          <a:bodyPr/>
          <a:lstStyle/>
          <a:p>
            <a:r>
              <a:rPr lang="en-US" dirty="0"/>
              <a:t>A combined measure that assesses the P/R tradeoff is F measure (weighted harmonic mean):</a:t>
            </a:r>
          </a:p>
          <a:p>
            <a:endParaRPr lang="en-US" dirty="0"/>
          </a:p>
          <a:p>
            <a:endParaRPr lang="en-US" dirty="0"/>
          </a:p>
          <a:p>
            <a:endParaRPr lang="en-US" dirty="0"/>
          </a:p>
          <a:p>
            <a:r>
              <a:rPr lang="en-US" dirty="0"/>
              <a:t>The harmonic mean is a very conservative average</a:t>
            </a:r>
          </a:p>
          <a:p>
            <a:r>
              <a:rPr lang="en-US" dirty="0"/>
              <a:t>People usually use balanced F1 measure</a:t>
            </a:r>
          </a:p>
          <a:p>
            <a:pPr lvl="1"/>
            <a:r>
              <a:rPr lang="en-US" dirty="0"/>
              <a:t>  i.e., with </a:t>
            </a:r>
            <a:r>
              <a:rPr lang="en-US" dirty="0">
                <a:sym typeface="Symbol" charset="0"/>
              </a:rPr>
              <a:t></a:t>
            </a:r>
            <a:r>
              <a:rPr lang="en-US" dirty="0"/>
              <a:t> = 1 (that is, </a:t>
            </a:r>
            <a:r>
              <a:rPr lang="en-US" dirty="0">
                <a:sym typeface="Symbol" charset="0"/>
              </a:rPr>
              <a:t> = ½):   		     </a:t>
            </a:r>
            <a:r>
              <a:rPr lang="en-US" i="1" dirty="0">
                <a:sym typeface="Symbol" charset="0"/>
              </a:rPr>
              <a:t>F</a:t>
            </a:r>
            <a:r>
              <a:rPr lang="en-US" dirty="0">
                <a:sym typeface="Symbol" charset="0"/>
              </a:rPr>
              <a:t> = 2</a:t>
            </a:r>
            <a:r>
              <a:rPr lang="en-US" i="1" dirty="0">
                <a:sym typeface="Symbol" charset="0"/>
              </a:rPr>
              <a:t>PR</a:t>
            </a:r>
            <a:r>
              <a:rPr lang="en-US" dirty="0">
                <a:sym typeface="Symbol" charset="0"/>
              </a:rPr>
              <a:t>/(</a:t>
            </a:r>
            <a:r>
              <a:rPr lang="en-US" i="1" dirty="0">
                <a:sym typeface="Symbol" charset="0"/>
              </a:rPr>
              <a:t>P</a:t>
            </a:r>
            <a:r>
              <a:rPr lang="en-US" dirty="0">
                <a:sym typeface="Symbol" charset="0"/>
              </a:rPr>
              <a:t>+</a:t>
            </a:r>
            <a:r>
              <a:rPr lang="en-US" i="1" dirty="0">
                <a:sym typeface="Symbol" charset="0"/>
              </a:rPr>
              <a:t>R</a:t>
            </a:r>
            <a:r>
              <a:rPr lang="en-US" dirty="0">
                <a:sym typeface="Symbol" charset="0"/>
              </a:rPr>
              <a:t>)</a:t>
            </a:r>
            <a:endParaRPr lang="en-US" dirty="0"/>
          </a:p>
        </p:txBody>
      </p:sp>
      <p:graphicFrame>
        <p:nvGraphicFramePr>
          <p:cNvPr id="67587" name="Object 2"/>
          <p:cNvGraphicFramePr>
            <a:graphicFrameLocks noChangeAspect="1"/>
          </p:cNvGraphicFramePr>
          <p:nvPr>
            <p:extLst>
              <p:ext uri="{D42A27DB-BD31-4B8C-83A1-F6EECF244321}">
                <p14:modId xmlns:p14="http://schemas.microsoft.com/office/powerpoint/2010/main" val="1204514945"/>
              </p:ext>
            </p:extLst>
          </p:nvPr>
        </p:nvGraphicFramePr>
        <p:xfrm>
          <a:off x="2057400" y="2190750"/>
          <a:ext cx="4191000" cy="1219200"/>
        </p:xfrm>
        <a:graphic>
          <a:graphicData uri="http://schemas.openxmlformats.org/presentationml/2006/ole">
            <mc:AlternateContent xmlns:mc="http://schemas.openxmlformats.org/markup-compatibility/2006">
              <mc:Choice xmlns:v="urn:schemas-microsoft-com:vml" Requires="v">
                <p:oleObj name="Equation" r:id="rId3" imgW="2084400" imgH="594000" progId="Equation.3">
                  <p:embed/>
                </p:oleObj>
              </mc:Choice>
              <mc:Fallback>
                <p:oleObj name="Equation" r:id="rId3" imgW="2084400" imgH="594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190750"/>
                        <a:ext cx="4191000" cy="1219200"/>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7"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90278966"/>
      </p:ext>
    </p:extLst>
  </p:cSld>
  <p:clrMapOvr>
    <a:masterClrMapping/>
  </p:clrMapOvr>
</p:sld>
</file>

<file path=ppt/theme/theme1.xml><?xml version="1.0" encoding="utf-8"?>
<a:theme xmlns:a="http://schemas.openxmlformats.org/drawingml/2006/main" name="NLP-jurafsky">
  <a:themeElements>
    <a:clrScheme name="NLP Class">
      <a:dk1>
        <a:sysClr val="windowText" lastClr="000000"/>
      </a:dk1>
      <a:lt1>
        <a:sysClr val="window" lastClr="FFFFFF"/>
      </a:lt1>
      <a:dk2>
        <a:srgbClr val="605435"/>
      </a:dk2>
      <a:lt2>
        <a:srgbClr val="E7D19A"/>
      </a:lt2>
      <a:accent1>
        <a:srgbClr val="A4001D"/>
      </a:accent1>
      <a:accent2>
        <a:srgbClr val="2584BB"/>
      </a:accent2>
      <a:accent3>
        <a:srgbClr val="BB57BE"/>
      </a:accent3>
      <a:accent4>
        <a:srgbClr val="177245"/>
      </a:accent4>
      <a:accent5>
        <a:srgbClr val="35ACA2"/>
      </a:accent5>
      <a:accent6>
        <a:srgbClr val="FF8700"/>
      </a:accent6>
      <a:hlink>
        <a:srgbClr val="EF8E1C"/>
      </a:hlink>
      <a:folHlink>
        <a:srgbClr val="FEC60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40000"/>
            <a:lumOff val="60000"/>
          </a:schemeClr>
        </a:solidFill>
        <a:ln w="9525" cap="flat" cmpd="sng" algn="ctr">
          <a:noFill/>
          <a:prstDash val="solid"/>
          <a:miter lim="800000"/>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2400" b="0" i="0" u="none" strike="noStrike" cap="none" normalizeH="0" baseline="0">
            <a:ln>
              <a:noFill/>
            </a:ln>
            <a:solidFill>
              <a:schemeClr val="tx1"/>
            </a:solidFill>
            <a:effectLst/>
            <a:latin typeface="Lucida Sans" pitchFamily="-65" charset="0"/>
          </a:defRPr>
        </a:defPPr>
      </a:lstStyle>
    </a:spDef>
    <a:lnDef>
      <a:spPr bwMode="auto">
        <a:xfrm>
          <a:off x="0" y="0"/>
          <a:ext cx="1" cy="1"/>
        </a:xfrm>
        <a:custGeom>
          <a:avLst/>
          <a:gdLst/>
          <a:ahLst/>
          <a:cxnLst/>
          <a:rect l="0" t="0" r="0" b="0"/>
          <a:pathLst/>
        </a:cu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Lucida Sans" pitchFamily="-65" charset="0"/>
          </a:defRPr>
        </a:defPPr>
      </a:lstStyle>
    </a:lnDef>
    <a:txDef>
      <a:spPr>
        <a:noFill/>
      </a:spPr>
      <a:bodyPr wrap="square" rtlCol="0">
        <a:spAutoFit/>
      </a:bodyPr>
      <a:lstStyle>
        <a:defPPr>
          <a:defRPr sz="1800" dirty="0">
            <a:latin typeface="+mn-lt"/>
          </a:defRPr>
        </a:defPPr>
      </a:lstStyle>
    </a:txDef>
  </a:objectDefaults>
  <a:extraClrSchemeLst>
    <a:extraClrScheme>
      <a:clrScheme name="nlp-lucida-schem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nlp-lucida-schem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nlp-lucida-scheme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nlp-lucida-scheme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nlp-lucida-schem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nlp-lucida-schem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nlp-lucida-scheme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NLP-jurafsky.potx</Template>
  <TotalTime>11404</TotalTime>
  <Words>2513</Words>
  <Application>Microsoft Office PowerPoint</Application>
  <PresentationFormat>On-screen Show (16:9)</PresentationFormat>
  <Paragraphs>431</Paragraphs>
  <Slides>52</Slides>
  <Notes>19</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5" baseType="lpstr">
      <vt:lpstr>Arial</vt:lpstr>
      <vt:lpstr>Calibri</vt:lpstr>
      <vt:lpstr>Calibri (Headings)</vt:lpstr>
      <vt:lpstr>Courier</vt:lpstr>
      <vt:lpstr>Lucida Grande</vt:lpstr>
      <vt:lpstr>Lucida Sans</vt:lpstr>
      <vt:lpstr>Symbol</vt:lpstr>
      <vt:lpstr>Tahoma</vt:lpstr>
      <vt:lpstr>Times</vt:lpstr>
      <vt:lpstr>Times New Roman</vt:lpstr>
      <vt:lpstr>Wingdings</vt:lpstr>
      <vt:lpstr>NLP-jurafsky</vt:lpstr>
      <vt:lpstr>Equation</vt:lpstr>
      <vt:lpstr>Text Classification and Naïve Bayes</vt:lpstr>
      <vt:lpstr>Is this spam?</vt:lpstr>
      <vt:lpstr>Who wrote which Federalist papers?</vt:lpstr>
      <vt:lpstr>Male or female author?</vt:lpstr>
      <vt:lpstr>Positive or negative movie review?</vt:lpstr>
      <vt:lpstr>What is the subject of this article?</vt:lpstr>
      <vt:lpstr>Text Classification</vt:lpstr>
      <vt:lpstr>Text Classification: definition</vt:lpstr>
      <vt:lpstr>Classification Methods:  Hand-coded rules</vt:lpstr>
      <vt:lpstr>Classification Methods: Supervised Machine Learning</vt:lpstr>
      <vt:lpstr>Classification Methods: Supervised Machine Learning</vt:lpstr>
      <vt:lpstr>Text Classification and Naïve Bayes</vt:lpstr>
      <vt:lpstr>Text Classification and Naïve Bayes</vt:lpstr>
      <vt:lpstr>Naïve Bayes Intuition</vt:lpstr>
      <vt:lpstr>The Bag of Words Representation</vt:lpstr>
      <vt:lpstr>The bag of words representation</vt:lpstr>
      <vt:lpstr>Text Classification and Naïve Bayes</vt:lpstr>
      <vt:lpstr>Text Classification and Naïve Bayes</vt:lpstr>
      <vt:lpstr>Bayes’ Rule Applied to Documents and Classes</vt:lpstr>
      <vt:lpstr>Naïve Bayes Classifier (I)</vt:lpstr>
      <vt:lpstr>Naïve Bayes Classifier (II)</vt:lpstr>
      <vt:lpstr>Naïve Bayes Classifier (IV)</vt:lpstr>
      <vt:lpstr>Multinomial Naïve Bayes Independence Assumptions</vt:lpstr>
      <vt:lpstr>Multinomial Naïve Bayes Classifier</vt:lpstr>
      <vt:lpstr>Applying Multinomial Naive Bayes Classifiers to Text Classification</vt:lpstr>
      <vt:lpstr>Problems with multiplying lots of probs</vt:lpstr>
      <vt:lpstr>We actually do everything in log space</vt:lpstr>
      <vt:lpstr>Text Classification and Naïve Bayes</vt:lpstr>
      <vt:lpstr>Text Classification and Naïve Bayes</vt:lpstr>
      <vt:lpstr>Learning the Multinomial Naïve Bayes Model</vt:lpstr>
      <vt:lpstr>Parameter estimation</vt:lpstr>
      <vt:lpstr>Problem with Maximum Likelihood</vt:lpstr>
      <vt:lpstr>Laplace (add-1) smoothing for Naïve Bayes</vt:lpstr>
      <vt:lpstr>Multinomial Naïve Bayes: Learning</vt:lpstr>
      <vt:lpstr>Unknown words</vt:lpstr>
      <vt:lpstr>Stop words</vt:lpstr>
      <vt:lpstr>Text Classification and Naïve Bayes</vt:lpstr>
      <vt:lpstr>Text Classification and Naïve Bayes</vt:lpstr>
      <vt:lpstr>Generative Model for Multinomial Naïve Bayes</vt:lpstr>
      <vt:lpstr>Naïve Bayes and Language Modeling</vt:lpstr>
      <vt:lpstr>Each class = a unigram language model</vt:lpstr>
      <vt:lpstr>Naïve Bayes as a Language Model</vt:lpstr>
      <vt:lpstr>Text Classification and Naïve Bayes</vt:lpstr>
      <vt:lpstr>Text Classification and Naïve Bayes</vt:lpstr>
      <vt:lpstr>PowerPoint Presentation</vt:lpstr>
      <vt:lpstr>Naïve Bayes in Spam Filtering</vt:lpstr>
      <vt:lpstr>Summary: Naive Bayes is Not So Naive</vt:lpstr>
      <vt:lpstr>Text Classification and Naïve Bayes</vt:lpstr>
      <vt:lpstr>Text Classification and Naïve Bayes</vt:lpstr>
      <vt:lpstr>The 2-by-2 contingency table</vt:lpstr>
      <vt:lpstr>Precision and recall</vt:lpstr>
      <vt:lpstr>A combined measure: F</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Dr. Usman Ghani</cp:lastModifiedBy>
  <cp:revision>225</cp:revision>
  <cp:lastPrinted>2012-03-27T19:39:52Z</cp:lastPrinted>
  <dcterms:created xsi:type="dcterms:W3CDTF">2010-04-19T15:31:24Z</dcterms:created>
  <dcterms:modified xsi:type="dcterms:W3CDTF">2023-10-11T18:06:22Z</dcterms:modified>
</cp:coreProperties>
</file>